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14" r:id="rId2"/>
    <p:sldId id="384" r:id="rId3"/>
    <p:sldId id="396" r:id="rId4"/>
    <p:sldId id="395" r:id="rId5"/>
    <p:sldId id="397" r:id="rId6"/>
    <p:sldId id="403" r:id="rId7"/>
    <p:sldId id="404" r:id="rId8"/>
    <p:sldId id="402" r:id="rId9"/>
    <p:sldId id="398" r:id="rId10"/>
    <p:sldId id="399" r:id="rId11"/>
    <p:sldId id="400" r:id="rId12"/>
    <p:sldId id="405" r:id="rId13"/>
    <p:sldId id="413" r:id="rId14"/>
    <p:sldId id="406" r:id="rId15"/>
    <p:sldId id="407" r:id="rId16"/>
    <p:sldId id="408" r:id="rId17"/>
    <p:sldId id="409" r:id="rId18"/>
    <p:sldId id="410" r:id="rId19"/>
    <p:sldId id="411" r:id="rId20"/>
    <p:sldId id="412" r:id="rId21"/>
    <p:sldId id="30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4" autoAdjust="0"/>
    <p:restoredTop sz="94660"/>
  </p:normalViewPr>
  <p:slideViewPr>
    <p:cSldViewPr snapToGrid="0">
      <p:cViewPr varScale="1">
        <p:scale>
          <a:sx n="73" d="100"/>
          <a:sy n="73" d="100"/>
        </p:scale>
        <p:origin x="6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8C529-43AD-492C-BD00-7663F000CDBF}" type="datetimeFigureOut">
              <a:rPr lang="en-US" smtClean="0"/>
              <a:t>5/25/2022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CC1E-72FA-4E57-BA7F-FC1221F7791F}" type="slidenum">
              <a:rPr lang="en-US" smtClean="0"/>
              <a:t>‹#›</a:t>
            </a:fld>
            <a:endParaRPr lang="en-US"/>
          </a:p>
        </p:txBody>
      </p:sp>
    </p:spTree>
    <p:extLst>
      <p:ext uri="{BB962C8B-B14F-4D97-AF65-F5344CB8AC3E}">
        <p14:creationId xmlns:p14="http://schemas.microsoft.com/office/powerpoint/2010/main" val="412555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83ABFB-0481-4CC5-ABF9-2C4CE9D12409}" type="datetime1">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1DBEC-91FA-447A-8AB9-A8DB16DAAB17}" type="datetime1">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8C943D-2555-4A57-B8EB-75C7F91B71C6}" type="datetime1">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B08C4-1FBA-4FE5-8D28-8C27B7466E79}" type="datetime1">
              <a:rPr lang="en-US" smtClean="0"/>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E682A9-2A64-4335-8BB6-EA1B5FE288A5}" type="datetime1">
              <a:rPr lang="en-US" smtClean="0"/>
              <a:t>5/25/2022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C89B2-6DED-445A-9AF5-74F690F84E78}" type="datetime1">
              <a:rPr lang="en-US" smtClean="0"/>
              <a:t>5/25/2022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E7014-808B-4A34-9722-060A0C8B943A}" type="datetime1">
              <a:rPr lang="en-US" smtClean="0"/>
              <a:t>5/25/2022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58D58-A862-414E-9423-46150B41CA14}" type="datetime1">
              <a:rPr lang="en-US" smtClean="0"/>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776D00-FA0D-4D29-83D4-DD5A6DDF16E7}" type="datetime1">
              <a:rPr lang="en-US" smtClean="0"/>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7A5918-257A-4095-BDEB-73BDDEB4A29E}" type="datetime1">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10D01-121F-4BE4-9A0D-9D74E07BA582}" type="datetime1">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012F9-413F-48FB-8539-50B5C9E7D155}" type="datetime1">
              <a:rPr lang="en-US" smtClean="0"/>
              <a:t>5/25/2022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downloads/junit-team/junit/junit-4.10.ja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388" y="2913651"/>
            <a:ext cx="9144000" cy="962706"/>
          </a:xfrm>
        </p:spPr>
        <p:txBody>
          <a:bodyPr>
            <a:normAutofit/>
          </a:bodyPr>
          <a:lstStyle/>
          <a:p>
            <a:r>
              <a:rPr lang="en-US" dirty="0" smtClean="0"/>
              <a:t>Lecture-14</a:t>
            </a:r>
            <a:endParaRPr lang="en-US" dirty="0"/>
          </a:p>
        </p:txBody>
      </p:sp>
      <p:sp>
        <p:nvSpPr>
          <p:cNvPr id="3" name="Subtitle 2"/>
          <p:cNvSpPr>
            <a:spLocks noGrp="1"/>
          </p:cNvSpPr>
          <p:nvPr>
            <p:ph type="subTitle" idx="1"/>
          </p:nvPr>
        </p:nvSpPr>
        <p:spPr>
          <a:xfrm>
            <a:off x="1876697" y="3876357"/>
            <a:ext cx="9144000" cy="1655762"/>
          </a:xfrm>
        </p:spPr>
        <p:txBody>
          <a:bodyPr/>
          <a:lstStyle/>
          <a:p>
            <a:r>
              <a:rPr lang="en-US" i="1" dirty="0" smtClean="0"/>
              <a:t> </a:t>
            </a:r>
          </a:p>
        </p:txBody>
      </p:sp>
      <p:sp>
        <p:nvSpPr>
          <p:cNvPr id="4" name="Slide Number Placeholder 3"/>
          <p:cNvSpPr>
            <a:spLocks noGrp="1"/>
          </p:cNvSpPr>
          <p:nvPr>
            <p:ph type="sldNum" sz="quarter" idx="12"/>
          </p:nvPr>
        </p:nvSpPr>
        <p:spPr>
          <a:xfrm>
            <a:off x="8987971" y="6153150"/>
            <a:ext cx="2743200" cy="365125"/>
          </a:xfrm>
        </p:spPr>
        <p:txBody>
          <a:bodyPr/>
          <a:lstStyle/>
          <a:p>
            <a:fld id="{18925C6B-C1FE-4297-863E-68E85899D6B2}" type="slidenum">
              <a:rPr lang="en-US" sz="1600" smtClean="0"/>
              <a:t>1</a:t>
            </a:fld>
            <a:endParaRPr lang="en-US" sz="1600" dirty="0"/>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314" y="403907"/>
            <a:ext cx="10787742" cy="719500"/>
          </a:xfrm>
        </p:spPr>
        <p:txBody>
          <a:bodyPr>
            <a:normAutofit/>
          </a:bodyPr>
          <a:lstStyle/>
          <a:p>
            <a:pPr algn="l"/>
            <a:r>
              <a:rPr lang="en-US" sz="4000" b="1" i="1" dirty="0" smtClean="0"/>
              <a:t>Contents</a:t>
            </a:r>
            <a:endParaRPr lang="en-US" sz="4000" b="1" i="1" dirty="0"/>
          </a:p>
        </p:txBody>
      </p:sp>
      <p:sp>
        <p:nvSpPr>
          <p:cNvPr id="3" name="Subtitle 2"/>
          <p:cNvSpPr>
            <a:spLocks noGrp="1"/>
          </p:cNvSpPr>
          <p:nvPr>
            <p:ph type="subTitle" idx="1"/>
          </p:nvPr>
        </p:nvSpPr>
        <p:spPr>
          <a:xfrm>
            <a:off x="827314" y="1435415"/>
            <a:ext cx="10787741" cy="5017317"/>
          </a:xfrm>
        </p:spPr>
        <p:txBody>
          <a:bodyPr>
            <a:noAutofit/>
          </a:bodyPr>
          <a:lstStyle/>
          <a:p>
            <a:pPr marL="342900" indent="-342900" algn="l">
              <a:lnSpc>
                <a:spcPct val="150000"/>
              </a:lnSpc>
              <a:buFont typeface="Arial" panose="020B0604020202020204" pitchFamily="34" charset="0"/>
              <a:buChar char="•"/>
            </a:pPr>
            <a:r>
              <a:rPr lang="en-US" dirty="0"/>
              <a:t>Testing</a:t>
            </a:r>
          </a:p>
          <a:p>
            <a:pPr marL="342900" indent="-342900" algn="l">
              <a:lnSpc>
                <a:spcPct val="150000"/>
              </a:lnSpc>
              <a:buFont typeface="Arial" panose="020B0604020202020204" pitchFamily="34" charset="0"/>
              <a:buChar char="•"/>
            </a:pPr>
            <a:r>
              <a:rPr lang="en-US" dirty="0"/>
              <a:t>Testing in DevOps</a:t>
            </a:r>
          </a:p>
          <a:p>
            <a:pPr marL="342900" indent="-342900" algn="l">
              <a:lnSpc>
                <a:spcPct val="150000"/>
              </a:lnSpc>
              <a:buFont typeface="Arial" panose="020B0604020202020204" pitchFamily="34" charset="0"/>
              <a:buChar char="•"/>
            </a:pPr>
            <a:r>
              <a:rPr lang="en-US" dirty="0"/>
              <a:t>Testing Tools</a:t>
            </a:r>
          </a:p>
          <a:p>
            <a:pPr marL="342900" indent="-342900" algn="l">
              <a:lnSpc>
                <a:spcPct val="150000"/>
              </a:lnSpc>
              <a:buFont typeface="Arial" panose="020B0604020202020204" pitchFamily="34" charset="0"/>
              <a:buChar char="•"/>
            </a:pPr>
            <a:r>
              <a:rPr lang="en-US" dirty="0"/>
              <a:t>JUnit</a:t>
            </a:r>
          </a:p>
        </p:txBody>
      </p:sp>
      <p:sp>
        <p:nvSpPr>
          <p:cNvPr id="4" name="Slide Number Placeholder 3"/>
          <p:cNvSpPr>
            <a:spLocks noGrp="1"/>
          </p:cNvSpPr>
          <p:nvPr>
            <p:ph type="sldNum" sz="quarter" idx="12"/>
          </p:nvPr>
        </p:nvSpPr>
        <p:spPr>
          <a:xfrm>
            <a:off x="8871855" y="6087608"/>
            <a:ext cx="2743200" cy="365125"/>
          </a:xfrm>
        </p:spPr>
        <p:txBody>
          <a:bodyPr/>
          <a:lstStyle/>
          <a:p>
            <a:fld id="{18925C6B-C1FE-4297-863E-68E85899D6B2}" type="slidenum">
              <a:rPr lang="en-US" smtClean="0"/>
              <a:t>2</a:t>
            </a:fld>
            <a:endParaRPr lang="en-US" dirty="0"/>
          </a:p>
        </p:txBody>
      </p:sp>
    </p:spTree>
    <p:extLst>
      <p:ext uri="{BB962C8B-B14F-4D97-AF65-F5344CB8AC3E}">
        <p14:creationId xmlns:p14="http://schemas.microsoft.com/office/powerpoint/2010/main" val="23437160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Testing</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dirty="0" smtClean="0"/>
              <a:t>Software </a:t>
            </a:r>
            <a:r>
              <a:rPr lang="en-US" sz="2600" dirty="0"/>
              <a:t>Testing is evaluation of the software against requirements gathered from users and system specifications. Testing is conducted at the phase level in software development life cycle or at module level in program code. Software testing comprises of Validation and </a:t>
            </a:r>
            <a:r>
              <a:rPr lang="en-US" sz="2600" dirty="0" smtClean="0"/>
              <a:t>Verification.</a:t>
            </a:r>
          </a:p>
          <a:p>
            <a:pPr lvl="1">
              <a:lnSpc>
                <a:spcPct val="150000"/>
              </a:lnSpc>
              <a:buFont typeface="Wingdings" panose="05000000000000000000" pitchFamily="2" charset="2"/>
              <a:buChar char="Ø"/>
            </a:pPr>
            <a:r>
              <a:rPr lang="en-US" sz="2600" b="1" i="1" dirty="0">
                <a:solidFill>
                  <a:srgbClr val="FF0000"/>
                </a:solidFill>
              </a:rPr>
              <a:t>Software </a:t>
            </a:r>
            <a:r>
              <a:rPr lang="en-US" sz="2600" b="1" i="1" dirty="0" smtClean="0">
                <a:solidFill>
                  <a:srgbClr val="FF0000"/>
                </a:solidFill>
              </a:rPr>
              <a:t>Validation</a:t>
            </a:r>
          </a:p>
          <a:p>
            <a:pPr lvl="2">
              <a:lnSpc>
                <a:spcPct val="150000"/>
              </a:lnSpc>
            </a:pPr>
            <a:r>
              <a:rPr lang="en-US" sz="2600" dirty="0" smtClean="0"/>
              <a:t>Validation </a:t>
            </a:r>
            <a:r>
              <a:rPr lang="en-US" sz="2600" dirty="0"/>
              <a:t>emphasizes on user </a:t>
            </a:r>
            <a:r>
              <a:rPr lang="en-US" sz="2600" dirty="0" smtClean="0"/>
              <a:t>requirements.</a:t>
            </a:r>
          </a:p>
          <a:p>
            <a:pPr lvl="1">
              <a:lnSpc>
                <a:spcPct val="150000"/>
              </a:lnSpc>
              <a:buFont typeface="Wingdings" panose="05000000000000000000" pitchFamily="2" charset="2"/>
              <a:buChar char="Ø"/>
            </a:pPr>
            <a:r>
              <a:rPr lang="en-US" sz="2600" b="1" i="1" dirty="0">
                <a:solidFill>
                  <a:srgbClr val="FF0000"/>
                </a:solidFill>
              </a:rPr>
              <a:t>Software </a:t>
            </a:r>
            <a:r>
              <a:rPr lang="en-US" sz="2600" b="1" i="1" dirty="0" smtClean="0">
                <a:solidFill>
                  <a:srgbClr val="FF0000"/>
                </a:solidFill>
              </a:rPr>
              <a:t>Verification</a:t>
            </a:r>
          </a:p>
          <a:p>
            <a:pPr lvl="2">
              <a:lnSpc>
                <a:spcPct val="150000"/>
              </a:lnSpc>
            </a:pPr>
            <a:r>
              <a:rPr lang="en-US" sz="2600" dirty="0"/>
              <a:t>Verifications concentrates on the design and system specifications</a:t>
            </a:r>
            <a:r>
              <a:rPr lang="en-US" sz="2600" dirty="0" smtClean="0"/>
              <a:t>.</a:t>
            </a:r>
            <a:endParaRPr lang="en-US" sz="2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a:t>
            </a:fld>
            <a:endParaRPr lang="en-US" dirty="0"/>
          </a:p>
        </p:txBody>
      </p:sp>
    </p:spTree>
    <p:extLst>
      <p:ext uri="{BB962C8B-B14F-4D97-AF65-F5344CB8AC3E}">
        <p14:creationId xmlns:p14="http://schemas.microsoft.com/office/powerpoint/2010/main" val="35403722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Testing (Cont.)</a:t>
            </a:r>
          </a:p>
        </p:txBody>
      </p:sp>
      <p:sp>
        <p:nvSpPr>
          <p:cNvPr id="3" name="Content Placeholder 2"/>
          <p:cNvSpPr>
            <a:spLocks noGrp="1"/>
          </p:cNvSpPr>
          <p:nvPr>
            <p:ph idx="1"/>
          </p:nvPr>
        </p:nvSpPr>
        <p:spPr>
          <a:xfrm>
            <a:off x="574766" y="1425620"/>
            <a:ext cx="11025049" cy="5103282"/>
          </a:xfrm>
        </p:spPr>
        <p:txBody>
          <a:bodyPr>
            <a:normAutofit fontScale="92500"/>
          </a:bodyPr>
          <a:lstStyle/>
          <a:p>
            <a:pPr>
              <a:lnSpc>
                <a:spcPct val="120000"/>
              </a:lnSpc>
            </a:pPr>
            <a:r>
              <a:rPr lang="en-US" sz="2400" b="1" dirty="0" smtClean="0"/>
              <a:t>Testing Approaches</a:t>
            </a:r>
          </a:p>
          <a:p>
            <a:pPr lvl="1">
              <a:lnSpc>
                <a:spcPct val="120000"/>
              </a:lnSpc>
              <a:buFont typeface="Wingdings" panose="05000000000000000000" pitchFamily="2" charset="2"/>
              <a:buChar char="Ø"/>
            </a:pPr>
            <a:r>
              <a:rPr lang="en-US" b="1" i="1" dirty="0" smtClean="0">
                <a:solidFill>
                  <a:srgbClr val="FF0000"/>
                </a:solidFill>
              </a:rPr>
              <a:t>Functional testing </a:t>
            </a:r>
            <a:r>
              <a:rPr lang="en-US" dirty="0"/>
              <a:t>involves testing the application against the business requirements.</a:t>
            </a:r>
          </a:p>
          <a:p>
            <a:pPr lvl="2">
              <a:lnSpc>
                <a:spcPct val="120000"/>
              </a:lnSpc>
            </a:pPr>
            <a:r>
              <a:rPr lang="en-US" sz="1800" dirty="0" smtClean="0"/>
              <a:t>Unit testing</a:t>
            </a:r>
          </a:p>
          <a:p>
            <a:pPr lvl="2">
              <a:lnSpc>
                <a:spcPct val="120000"/>
              </a:lnSpc>
            </a:pPr>
            <a:r>
              <a:rPr lang="en-US" sz="1800" dirty="0" smtClean="0"/>
              <a:t>Integration testing</a:t>
            </a:r>
          </a:p>
          <a:p>
            <a:pPr lvl="2">
              <a:lnSpc>
                <a:spcPct val="120000"/>
              </a:lnSpc>
            </a:pPr>
            <a:r>
              <a:rPr lang="en-US" sz="1800" dirty="0" smtClean="0"/>
              <a:t>System testing</a:t>
            </a:r>
          </a:p>
          <a:p>
            <a:pPr lvl="2">
              <a:lnSpc>
                <a:spcPct val="120000"/>
              </a:lnSpc>
            </a:pPr>
            <a:r>
              <a:rPr lang="en-US" sz="1800" dirty="0" smtClean="0"/>
              <a:t>Acceptance testing</a:t>
            </a:r>
          </a:p>
          <a:p>
            <a:pPr lvl="1">
              <a:lnSpc>
                <a:spcPct val="120000"/>
              </a:lnSpc>
              <a:buFont typeface="Wingdings" panose="05000000000000000000" pitchFamily="2" charset="2"/>
              <a:buChar char="Ø"/>
            </a:pPr>
            <a:r>
              <a:rPr lang="en-US" sz="2000" b="1" i="1" dirty="0">
                <a:solidFill>
                  <a:srgbClr val="FF0000"/>
                </a:solidFill>
              </a:rPr>
              <a:t>Non-functional testing </a:t>
            </a:r>
            <a:r>
              <a:rPr lang="en-US" dirty="0"/>
              <a:t>methods incorporate all test types focused on the operational aspects of a piece of </a:t>
            </a:r>
            <a:r>
              <a:rPr lang="en-US" dirty="0" smtClean="0"/>
              <a:t>software.</a:t>
            </a:r>
          </a:p>
          <a:p>
            <a:pPr lvl="2">
              <a:lnSpc>
                <a:spcPct val="120000"/>
              </a:lnSpc>
            </a:pPr>
            <a:r>
              <a:rPr lang="en-US" sz="1800" dirty="0"/>
              <a:t>Performance testing</a:t>
            </a:r>
          </a:p>
          <a:p>
            <a:pPr lvl="2">
              <a:lnSpc>
                <a:spcPct val="120000"/>
              </a:lnSpc>
            </a:pPr>
            <a:r>
              <a:rPr lang="en-US" sz="1800" dirty="0"/>
              <a:t>Security testing</a:t>
            </a:r>
          </a:p>
          <a:p>
            <a:pPr lvl="2">
              <a:lnSpc>
                <a:spcPct val="120000"/>
              </a:lnSpc>
            </a:pPr>
            <a:r>
              <a:rPr lang="en-US" sz="1800" dirty="0"/>
              <a:t>Usability testing</a:t>
            </a:r>
          </a:p>
          <a:p>
            <a:pPr lvl="2">
              <a:lnSpc>
                <a:spcPct val="120000"/>
              </a:lnSpc>
            </a:pPr>
            <a:r>
              <a:rPr lang="en-US" sz="1800" dirty="0"/>
              <a:t>Compatibility testing</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a:t>
            </a:fld>
            <a:endParaRPr lang="en-US" dirty="0"/>
          </a:p>
        </p:txBody>
      </p:sp>
    </p:spTree>
    <p:extLst>
      <p:ext uri="{BB962C8B-B14F-4D97-AF65-F5344CB8AC3E}">
        <p14:creationId xmlns:p14="http://schemas.microsoft.com/office/powerpoint/2010/main" val="1863489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Unit </a:t>
            </a:r>
            <a:r>
              <a:rPr lang="en-US" sz="4000" b="1" i="1" dirty="0"/>
              <a:t>Testing</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i="1" dirty="0" smtClean="0">
                <a:solidFill>
                  <a:srgbClr val="FF0000"/>
                </a:solidFill>
              </a:rPr>
              <a:t>Unit Testing </a:t>
            </a:r>
            <a:r>
              <a:rPr lang="en-US" i="1" dirty="0" smtClean="0">
                <a:solidFill>
                  <a:srgbClr val="FF0000"/>
                </a:solidFill>
              </a:rPr>
              <a:t>–</a:t>
            </a:r>
            <a:r>
              <a:rPr lang="en-US" b="1" i="1" dirty="0" smtClean="0">
                <a:solidFill>
                  <a:srgbClr val="FF0000"/>
                </a:solidFill>
              </a:rPr>
              <a:t>  </a:t>
            </a:r>
            <a:r>
              <a:rPr lang="en-US" dirty="0" smtClean="0"/>
              <a:t>is </a:t>
            </a:r>
            <a:r>
              <a:rPr lang="en-US" dirty="0"/>
              <a:t>a type of software testing which is done on an individual unit or component to test its corrections. Typically, Unit testing is done by the developer at the application development phase. Each unit in unit testing can be viewed as a method, function, procedure, or object. Developers often use test automation tools such as </a:t>
            </a:r>
            <a:r>
              <a:rPr lang="en-US" dirty="0" err="1"/>
              <a:t>NUnit</a:t>
            </a:r>
            <a:r>
              <a:rPr lang="en-US" dirty="0"/>
              <a:t>, </a:t>
            </a:r>
            <a:r>
              <a:rPr lang="en-US" dirty="0" err="1"/>
              <a:t>Xunit</a:t>
            </a:r>
            <a:r>
              <a:rPr lang="en-US" dirty="0"/>
              <a:t>, JUnit for the test execution.</a:t>
            </a:r>
            <a:endParaRPr lang="en-US" b="1" i="1" dirty="0">
              <a:solidFill>
                <a:srgbClr val="FF0000"/>
              </a:solidFill>
            </a:endParaRPr>
          </a:p>
          <a:p>
            <a:pPr>
              <a:lnSpc>
                <a:spcPct val="150000"/>
              </a:lnSpc>
            </a:pP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a:t>
            </a:fld>
            <a:endParaRPr lang="en-US" dirty="0"/>
          </a:p>
        </p:txBody>
      </p:sp>
    </p:spTree>
    <p:extLst>
      <p:ext uri="{BB962C8B-B14F-4D97-AF65-F5344CB8AC3E}">
        <p14:creationId xmlns:p14="http://schemas.microsoft.com/office/powerpoint/2010/main" val="31754662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Integration Testing</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i="1" dirty="0" smtClean="0">
                <a:solidFill>
                  <a:srgbClr val="FF0000"/>
                </a:solidFill>
              </a:rPr>
              <a:t>Integration testing</a:t>
            </a:r>
            <a:r>
              <a:rPr lang="en-US" b="1" i="1" dirty="0">
                <a:solidFill>
                  <a:srgbClr val="FF0000"/>
                </a:solidFill>
              </a:rPr>
              <a:t> </a:t>
            </a:r>
            <a:r>
              <a:rPr lang="en-US" i="1" dirty="0" smtClean="0">
                <a:solidFill>
                  <a:srgbClr val="FF0000"/>
                </a:solidFill>
              </a:rPr>
              <a:t>- </a:t>
            </a:r>
            <a:r>
              <a:rPr lang="en-US" dirty="0" smtClean="0"/>
              <a:t>is </a:t>
            </a:r>
            <a:r>
              <a:rPr lang="en-US" dirty="0"/>
              <a:t>a type of software testing where two or more modules of an application are logically grouped together and tested as a whole. The focus of this type of testing is to find the defect on interface, communication, and data flow among modules. Top-down or Bottom-up approach is used while integrating modules into the whole system.</a:t>
            </a:r>
            <a:endParaRPr lang="en-US" b="1" i="1" dirty="0">
              <a:solidFill>
                <a:srgbClr val="FF0000"/>
              </a:solidFill>
            </a:endParaRPr>
          </a:p>
          <a:p>
            <a:pPr>
              <a:lnSpc>
                <a:spcPct val="150000"/>
              </a:lnSpc>
            </a:pP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a:t>
            </a:fld>
            <a:endParaRPr lang="en-US" dirty="0"/>
          </a:p>
        </p:txBody>
      </p:sp>
    </p:spTree>
    <p:extLst>
      <p:ext uri="{BB962C8B-B14F-4D97-AF65-F5344CB8AC3E}">
        <p14:creationId xmlns:p14="http://schemas.microsoft.com/office/powerpoint/2010/main" val="9176454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System </a:t>
            </a:r>
            <a:r>
              <a:rPr lang="en-US" sz="4000" b="1" i="1" dirty="0"/>
              <a:t>Testing</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i="1" dirty="0" smtClean="0">
                <a:solidFill>
                  <a:srgbClr val="FF0000"/>
                </a:solidFill>
              </a:rPr>
              <a:t>System</a:t>
            </a:r>
            <a:r>
              <a:rPr lang="en-US" dirty="0" smtClean="0"/>
              <a:t> </a:t>
            </a:r>
            <a:r>
              <a:rPr lang="en-US" b="1" i="1" dirty="0" smtClean="0">
                <a:solidFill>
                  <a:srgbClr val="FF0000"/>
                </a:solidFill>
              </a:rPr>
              <a:t>testing </a:t>
            </a:r>
            <a:r>
              <a:rPr lang="en-US" i="1" dirty="0" smtClean="0">
                <a:solidFill>
                  <a:srgbClr val="FF0000"/>
                </a:solidFill>
              </a:rPr>
              <a:t>-</a:t>
            </a:r>
            <a:r>
              <a:rPr lang="en-US" dirty="0" smtClean="0"/>
              <a:t> is </a:t>
            </a:r>
            <a:r>
              <a:rPr lang="en-US" dirty="0"/>
              <a:t>types of testing where tester evaluates the whole system against the specified requirements.</a:t>
            </a:r>
            <a:endParaRPr lang="en-US" b="1" i="1" dirty="0">
              <a:solidFill>
                <a:srgbClr val="FF0000"/>
              </a:solidFill>
            </a:endParaRPr>
          </a:p>
          <a:p>
            <a:pPr>
              <a:lnSpc>
                <a:spcPct val="150000"/>
              </a:lnSpc>
            </a:pP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7</a:t>
            </a:fld>
            <a:endParaRPr lang="en-US" dirty="0"/>
          </a:p>
        </p:txBody>
      </p:sp>
    </p:spTree>
    <p:extLst>
      <p:ext uri="{BB962C8B-B14F-4D97-AF65-F5344CB8AC3E}">
        <p14:creationId xmlns:p14="http://schemas.microsoft.com/office/powerpoint/2010/main" val="23731342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Manual and </a:t>
            </a:r>
            <a:r>
              <a:rPr lang="en-US" sz="4000" b="1" i="1" dirty="0"/>
              <a:t>Automated Testing</a:t>
            </a:r>
          </a:p>
        </p:txBody>
      </p:sp>
      <p:sp>
        <p:nvSpPr>
          <p:cNvPr id="3" name="Content Placeholder 2"/>
          <p:cNvSpPr>
            <a:spLocks noGrp="1"/>
          </p:cNvSpPr>
          <p:nvPr>
            <p:ph idx="1"/>
          </p:nvPr>
        </p:nvSpPr>
        <p:spPr>
          <a:xfrm>
            <a:off x="574766" y="1425620"/>
            <a:ext cx="11025049" cy="5103282"/>
          </a:xfrm>
        </p:spPr>
        <p:txBody>
          <a:bodyPr>
            <a:normAutofit lnSpcReduction="10000"/>
          </a:bodyPr>
          <a:lstStyle/>
          <a:p>
            <a:pPr>
              <a:lnSpc>
                <a:spcPct val="150000"/>
              </a:lnSpc>
            </a:pPr>
            <a:r>
              <a:rPr lang="en-US" dirty="0" smtClean="0"/>
              <a:t>Testing </a:t>
            </a:r>
            <a:r>
              <a:rPr lang="en-US" dirty="0"/>
              <a:t>can either be done manually or using an automated testing tool:</a:t>
            </a:r>
          </a:p>
          <a:p>
            <a:pPr lvl="1">
              <a:lnSpc>
                <a:spcPct val="150000"/>
              </a:lnSpc>
            </a:pPr>
            <a:r>
              <a:rPr lang="en-US" b="1" i="1" dirty="0">
                <a:solidFill>
                  <a:srgbClr val="FF0000"/>
                </a:solidFill>
              </a:rPr>
              <a:t>Manual</a:t>
            </a:r>
            <a:r>
              <a:rPr lang="en-US" i="1" dirty="0">
                <a:solidFill>
                  <a:srgbClr val="FF0000"/>
                </a:solidFill>
              </a:rPr>
              <a:t> - </a:t>
            </a:r>
            <a:r>
              <a:rPr lang="en-US" dirty="0" smtClean="0"/>
              <a:t>is </a:t>
            </a:r>
            <a:r>
              <a:rPr lang="en-US" dirty="0"/>
              <a:t>performed without taking help of automated testing tools. The software tester prepares test cases for different sections and levels of the code, executes the tests and reports the result to the </a:t>
            </a:r>
            <a:r>
              <a:rPr lang="en-US" dirty="0" smtClean="0"/>
              <a:t>manager.</a:t>
            </a:r>
          </a:p>
          <a:p>
            <a:pPr lvl="1">
              <a:lnSpc>
                <a:spcPct val="150000"/>
              </a:lnSpc>
            </a:pPr>
            <a:r>
              <a:rPr lang="en-US" dirty="0" smtClean="0"/>
              <a:t>Manual </a:t>
            </a:r>
            <a:r>
              <a:rPr lang="en-US" dirty="0"/>
              <a:t>testing is time and resource consuming. The tester needs to confirm whether or not right test cases are used</a:t>
            </a:r>
            <a:r>
              <a:rPr lang="en-US" dirty="0" smtClean="0"/>
              <a:t>.</a:t>
            </a:r>
            <a:endParaRPr lang="en-US" dirty="0"/>
          </a:p>
          <a:p>
            <a:pPr lvl="1">
              <a:lnSpc>
                <a:spcPct val="150000"/>
              </a:lnSpc>
            </a:pPr>
            <a:r>
              <a:rPr lang="en-US" b="1" i="1" dirty="0" smtClean="0">
                <a:solidFill>
                  <a:srgbClr val="FF0000"/>
                </a:solidFill>
              </a:rPr>
              <a:t>Automated</a:t>
            </a:r>
            <a:r>
              <a:rPr lang="en-US" dirty="0" smtClean="0"/>
              <a:t>- testing </a:t>
            </a:r>
            <a:r>
              <a:rPr lang="en-US" dirty="0"/>
              <a:t>is a testing procedure done with aid of automated testing tools. The limitations with manual testing can be overcome using automated test tools.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8</a:t>
            </a:fld>
            <a:endParaRPr lang="en-US" dirty="0"/>
          </a:p>
        </p:txBody>
      </p:sp>
    </p:spTree>
    <p:extLst>
      <p:ext uri="{BB962C8B-B14F-4D97-AF65-F5344CB8AC3E}">
        <p14:creationId xmlns:p14="http://schemas.microsoft.com/office/powerpoint/2010/main" val="18986286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Testing in DevOps</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dirty="0"/>
              <a:t>DevOps </a:t>
            </a:r>
            <a:r>
              <a:rPr lang="en-US" dirty="0" smtClean="0"/>
              <a:t>testing phase</a:t>
            </a:r>
            <a:r>
              <a:rPr lang="en-US" dirty="0"/>
              <a:t>, where the developed software is continuously testing for </a:t>
            </a:r>
            <a:r>
              <a:rPr lang="en-US" dirty="0" smtClean="0"/>
              <a:t>bugs. For </a:t>
            </a:r>
            <a:r>
              <a:rPr lang="en-US" dirty="0"/>
              <a:t>constant testing, </a:t>
            </a:r>
            <a:r>
              <a:rPr lang="en-US" dirty="0" smtClean="0"/>
              <a:t>different automation </a:t>
            </a:r>
            <a:r>
              <a:rPr lang="en-US" dirty="0"/>
              <a:t>testing </a:t>
            </a:r>
            <a:r>
              <a:rPr lang="en-US" dirty="0" smtClean="0"/>
              <a:t>tools are </a:t>
            </a:r>
            <a:r>
              <a:rPr lang="en-US" dirty="0"/>
              <a:t>used. These tools allow QAs to test multiple code-bases thoroughly in parallel to ensure that there is no flaw in the functionality.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9</a:t>
            </a:fld>
            <a:endParaRPr lang="en-US" dirty="0"/>
          </a:p>
        </p:txBody>
      </p:sp>
    </p:spTree>
    <p:extLst>
      <p:ext uri="{BB962C8B-B14F-4D97-AF65-F5344CB8AC3E}">
        <p14:creationId xmlns:p14="http://schemas.microsoft.com/office/powerpoint/2010/main" val="4869948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t>
            </a:r>
            <a:r>
              <a:rPr lang="en-US" sz="4000" b="1" i="1" dirty="0"/>
              <a:t>Testing </a:t>
            </a:r>
            <a:r>
              <a:rPr lang="en-US" sz="4000" b="1" i="1" dirty="0" smtClean="0"/>
              <a:t>Tools</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dirty="0"/>
              <a:t> </a:t>
            </a:r>
            <a:r>
              <a:rPr lang="en-US" b="1" dirty="0" smtClean="0"/>
              <a:t>Junit</a:t>
            </a:r>
          </a:p>
          <a:p>
            <a:pPr>
              <a:lnSpc>
                <a:spcPct val="150000"/>
              </a:lnSpc>
            </a:pPr>
            <a:r>
              <a:rPr lang="en-US" b="1" dirty="0"/>
              <a:t>Selenium</a:t>
            </a:r>
            <a:endParaRPr lang="en-US" b="1" dirty="0" smtClean="0"/>
          </a:p>
          <a:p>
            <a:pPr>
              <a:lnSpc>
                <a:spcPct val="150000"/>
              </a:lnSpc>
            </a:pPr>
            <a:r>
              <a:rPr lang="en-US" b="1" dirty="0" err="1" smtClean="0"/>
              <a:t>TestNG</a:t>
            </a:r>
            <a:endParaRPr lang="en-US" dirty="0"/>
          </a:p>
          <a:p>
            <a:pPr>
              <a:lnSpc>
                <a:spcPct val="150000"/>
              </a:lnSpc>
            </a:pPr>
            <a:r>
              <a:rPr lang="en-US" dirty="0" err="1" smtClean="0"/>
              <a:t>etc</a:t>
            </a:r>
            <a:r>
              <a:rPr lang="en-US" dirty="0" smtClean="0"/>
              <a:t> </a:t>
            </a:r>
            <a:r>
              <a:rPr lang="en-US" dirty="0"/>
              <a:t>are used.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10</a:t>
            </a:fld>
            <a:endParaRPr lang="en-US" dirty="0"/>
          </a:p>
        </p:txBody>
      </p:sp>
    </p:spTree>
    <p:extLst>
      <p:ext uri="{BB962C8B-B14F-4D97-AF65-F5344CB8AC3E}">
        <p14:creationId xmlns:p14="http://schemas.microsoft.com/office/powerpoint/2010/main" val="6175320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JUnit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b="1" i="1" dirty="0" smtClean="0">
                <a:solidFill>
                  <a:srgbClr val="FF0000"/>
                </a:solidFill>
              </a:rPr>
              <a:t>JUnit</a:t>
            </a:r>
            <a:r>
              <a:rPr lang="en-US" dirty="0" smtClean="0"/>
              <a:t> </a:t>
            </a:r>
            <a:r>
              <a:rPr lang="en-US" dirty="0"/>
              <a:t>is a unit testing </a:t>
            </a:r>
            <a:r>
              <a:rPr lang="en-US" b="1" i="1" dirty="0">
                <a:solidFill>
                  <a:srgbClr val="FF0000"/>
                </a:solidFill>
              </a:rPr>
              <a:t>framework</a:t>
            </a:r>
            <a:r>
              <a:rPr lang="en-US" dirty="0"/>
              <a:t> for Java programming language.</a:t>
            </a:r>
          </a:p>
          <a:p>
            <a:pPr>
              <a:lnSpc>
                <a:spcPct val="150000"/>
              </a:lnSpc>
            </a:pPr>
            <a:r>
              <a:rPr lang="en-US" dirty="0"/>
              <a:t>It plays a crucial role test-driven development, and is a family of unit testing frameworks collectively known as </a:t>
            </a:r>
            <a:r>
              <a:rPr lang="en-US" dirty="0" err="1"/>
              <a:t>xUnit</a:t>
            </a:r>
            <a:r>
              <a:rPr lang="en-US" dirty="0"/>
              <a:t>.</a:t>
            </a:r>
          </a:p>
          <a:p>
            <a:pPr>
              <a:lnSpc>
                <a:spcPct val="150000"/>
              </a:lnSpc>
            </a:pPr>
            <a:r>
              <a:rPr lang="en-US" dirty="0"/>
              <a:t>JUnit promotes the idea of "first testing then coding", which emphasizes on setting up the test data for a piece of code that can be tested first and then implemented.</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11</a:t>
            </a:fld>
            <a:endParaRPr lang="en-US" dirty="0"/>
          </a:p>
        </p:txBody>
      </p:sp>
    </p:spTree>
    <p:extLst>
      <p:ext uri="{BB962C8B-B14F-4D97-AF65-F5344CB8AC3E}">
        <p14:creationId xmlns:p14="http://schemas.microsoft.com/office/powerpoint/2010/main" val="3187262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JUnit </a:t>
            </a:r>
            <a:r>
              <a:rPr lang="en-US" sz="4000" b="1" i="1" dirty="0"/>
              <a:t>Features</a:t>
            </a:r>
          </a:p>
        </p:txBody>
      </p:sp>
      <p:sp>
        <p:nvSpPr>
          <p:cNvPr id="3" name="Content Placeholder 2"/>
          <p:cNvSpPr>
            <a:spLocks noGrp="1"/>
          </p:cNvSpPr>
          <p:nvPr>
            <p:ph idx="1"/>
          </p:nvPr>
        </p:nvSpPr>
        <p:spPr>
          <a:xfrm>
            <a:off x="574766" y="1229675"/>
            <a:ext cx="11025049" cy="5507596"/>
          </a:xfrm>
        </p:spPr>
        <p:txBody>
          <a:bodyPr>
            <a:normAutofit/>
          </a:bodyPr>
          <a:lstStyle/>
          <a:p>
            <a:pPr>
              <a:lnSpc>
                <a:spcPct val="170000"/>
              </a:lnSpc>
            </a:pPr>
            <a:r>
              <a:rPr lang="en-US" dirty="0" smtClean="0"/>
              <a:t>JUnit </a:t>
            </a:r>
            <a:r>
              <a:rPr lang="en-US" dirty="0"/>
              <a:t>is an open source framework, </a:t>
            </a:r>
            <a:r>
              <a:rPr lang="en-US" dirty="0" smtClean="0"/>
              <a:t>is used </a:t>
            </a:r>
            <a:r>
              <a:rPr lang="en-US" dirty="0"/>
              <a:t>for writing and running tests.</a:t>
            </a:r>
          </a:p>
          <a:p>
            <a:pPr>
              <a:lnSpc>
                <a:spcPct val="170000"/>
              </a:lnSpc>
            </a:pPr>
            <a:r>
              <a:rPr lang="en-US" dirty="0"/>
              <a:t>Provides annotations to identify test methods.</a:t>
            </a:r>
          </a:p>
          <a:p>
            <a:pPr>
              <a:lnSpc>
                <a:spcPct val="170000"/>
              </a:lnSpc>
            </a:pPr>
            <a:r>
              <a:rPr lang="en-US" dirty="0"/>
              <a:t>Provides assertions for testing expected results.</a:t>
            </a:r>
          </a:p>
          <a:p>
            <a:pPr>
              <a:lnSpc>
                <a:spcPct val="170000"/>
              </a:lnSpc>
            </a:pPr>
            <a:r>
              <a:rPr lang="en-US" dirty="0"/>
              <a:t>Provides test runners for running tests</a:t>
            </a:r>
            <a:r>
              <a:rPr lang="en-US" dirty="0" smtClean="0"/>
              <a:t>.</a:t>
            </a:r>
          </a:p>
          <a:p>
            <a:pPr>
              <a:lnSpc>
                <a:spcPct val="170000"/>
              </a:lnSpc>
            </a:pPr>
            <a:r>
              <a:rPr lang="en-US" dirty="0"/>
              <a:t>JUnit is elegantly simple. It is less complex and takes less time</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12</a:t>
            </a:fld>
            <a:endParaRPr lang="en-US" dirty="0"/>
          </a:p>
        </p:txBody>
      </p:sp>
    </p:spTree>
    <p:extLst>
      <p:ext uri="{BB962C8B-B14F-4D97-AF65-F5344CB8AC3E}">
        <p14:creationId xmlns:p14="http://schemas.microsoft.com/office/powerpoint/2010/main" val="35702115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JUnit Features (Cont.)</a:t>
            </a:r>
            <a:endParaRPr lang="en-US" sz="4000" b="1" i="1" dirty="0"/>
          </a:p>
        </p:txBody>
      </p:sp>
      <p:sp>
        <p:nvSpPr>
          <p:cNvPr id="3" name="Content Placeholder 2"/>
          <p:cNvSpPr>
            <a:spLocks noGrp="1"/>
          </p:cNvSpPr>
          <p:nvPr>
            <p:ph idx="1"/>
          </p:nvPr>
        </p:nvSpPr>
        <p:spPr>
          <a:xfrm>
            <a:off x="574766" y="1229675"/>
            <a:ext cx="11025049" cy="5507596"/>
          </a:xfrm>
        </p:spPr>
        <p:txBody>
          <a:bodyPr>
            <a:normAutofit/>
          </a:bodyPr>
          <a:lstStyle/>
          <a:p>
            <a:pPr>
              <a:lnSpc>
                <a:spcPct val="170000"/>
              </a:lnSpc>
            </a:pPr>
            <a:r>
              <a:rPr lang="en-US" dirty="0" smtClean="0"/>
              <a:t>JUnit </a:t>
            </a:r>
            <a:r>
              <a:rPr lang="en-US" dirty="0"/>
              <a:t>tests can be run automatically and they check their own results and provide immediate feedback. There's no need to manually comb through a report of test results.</a:t>
            </a:r>
          </a:p>
          <a:p>
            <a:pPr>
              <a:lnSpc>
                <a:spcPct val="170000"/>
              </a:lnSpc>
            </a:pPr>
            <a:r>
              <a:rPr lang="en-US" dirty="0"/>
              <a:t>JUnit tests can be organized into test suites containing test cases and even other test suites.</a:t>
            </a:r>
          </a:p>
          <a:p>
            <a:pPr>
              <a:lnSpc>
                <a:spcPct val="170000"/>
              </a:lnSpc>
            </a:pPr>
            <a:r>
              <a:rPr lang="en-US" dirty="0"/>
              <a:t>JUnit shows test progress in a bar that is green if the test is running smoothly, and it turns red when a test fails</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13</a:t>
            </a:fld>
            <a:endParaRPr lang="en-US" dirty="0"/>
          </a:p>
        </p:txBody>
      </p:sp>
    </p:spTree>
    <p:extLst>
      <p:ext uri="{BB962C8B-B14F-4D97-AF65-F5344CB8AC3E}">
        <p14:creationId xmlns:p14="http://schemas.microsoft.com/office/powerpoint/2010/main" val="12415226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Local </a:t>
            </a:r>
            <a:r>
              <a:rPr lang="en-US" sz="4000" b="1" i="1" dirty="0"/>
              <a:t>Environment Setup</a:t>
            </a:r>
          </a:p>
        </p:txBody>
      </p:sp>
      <p:sp>
        <p:nvSpPr>
          <p:cNvPr id="3" name="Content Placeholder 2"/>
          <p:cNvSpPr>
            <a:spLocks noGrp="1"/>
          </p:cNvSpPr>
          <p:nvPr>
            <p:ph idx="1"/>
          </p:nvPr>
        </p:nvSpPr>
        <p:spPr>
          <a:xfrm>
            <a:off x="574766" y="1229675"/>
            <a:ext cx="11025049" cy="5507596"/>
          </a:xfrm>
        </p:spPr>
        <p:txBody>
          <a:bodyPr>
            <a:normAutofit/>
          </a:bodyPr>
          <a:lstStyle/>
          <a:p>
            <a:pPr>
              <a:lnSpc>
                <a:spcPct val="170000"/>
              </a:lnSpc>
            </a:pPr>
            <a:r>
              <a:rPr lang="en-US" dirty="0" smtClean="0"/>
              <a:t>JUnit </a:t>
            </a:r>
            <a:r>
              <a:rPr lang="en-US" dirty="0"/>
              <a:t>is a framework for Java, so the very first requirement is to have JDK installed in your machine</a:t>
            </a:r>
            <a:r>
              <a:rPr lang="en-US" dirty="0" smtClean="0"/>
              <a:t>.</a:t>
            </a:r>
          </a:p>
          <a:p>
            <a:pPr>
              <a:lnSpc>
                <a:spcPct val="170000"/>
              </a:lnSpc>
            </a:pPr>
            <a:r>
              <a:rPr lang="en-US" b="1" i="1" dirty="0">
                <a:solidFill>
                  <a:schemeClr val="accent3"/>
                </a:solidFill>
              </a:rPr>
              <a:t>System </a:t>
            </a:r>
            <a:r>
              <a:rPr lang="en-US" b="1" i="1" dirty="0" smtClean="0">
                <a:solidFill>
                  <a:schemeClr val="accent3"/>
                </a:solidFill>
              </a:rPr>
              <a:t>Requirement</a:t>
            </a:r>
            <a:endParaRPr lang="en-US" b="1" i="1" dirty="0">
              <a:solidFill>
                <a:schemeClr val="accent3"/>
              </a:solidFill>
            </a:endParaRPr>
          </a:p>
          <a:p>
            <a:pPr>
              <a:lnSpc>
                <a:spcPct val="170000"/>
              </a:lnSpc>
            </a:pP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14</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119549375"/>
              </p:ext>
            </p:extLst>
          </p:nvPr>
        </p:nvGraphicFramePr>
        <p:xfrm>
          <a:off x="2286000" y="3787934"/>
          <a:ext cx="7249886" cy="2584212"/>
        </p:xfrm>
        <a:graphic>
          <a:graphicData uri="http://schemas.openxmlformats.org/drawingml/2006/table">
            <a:tbl>
              <a:tblPr/>
              <a:tblGrid>
                <a:gridCol w="3624943">
                  <a:extLst>
                    <a:ext uri="{9D8B030D-6E8A-4147-A177-3AD203B41FA5}">
                      <a16:colId xmlns:a16="http://schemas.microsoft.com/office/drawing/2014/main" val="895710704"/>
                    </a:ext>
                  </a:extLst>
                </a:gridCol>
                <a:gridCol w="3624943">
                  <a:extLst>
                    <a:ext uri="{9D8B030D-6E8A-4147-A177-3AD203B41FA5}">
                      <a16:colId xmlns:a16="http://schemas.microsoft.com/office/drawing/2014/main" val="296790118"/>
                    </a:ext>
                  </a:extLst>
                </a:gridCol>
              </a:tblGrid>
              <a:tr h="646053">
                <a:tc>
                  <a:txBody>
                    <a:bodyPr/>
                    <a:lstStyle/>
                    <a:p>
                      <a:pPr algn="l" fontAlgn="t"/>
                      <a:r>
                        <a:rPr lang="en-US" dirty="0">
                          <a:effectLst/>
                        </a:rPr>
                        <a:t>JDK</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1.5 or above.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1915375"/>
                  </a:ext>
                </a:extLst>
              </a:tr>
              <a:tr h="646053">
                <a:tc>
                  <a:txBody>
                    <a:bodyPr/>
                    <a:lstStyle/>
                    <a:p>
                      <a:pPr algn="l" fontAlgn="t"/>
                      <a:r>
                        <a:rPr lang="en-US">
                          <a:effectLst/>
                        </a:rPr>
                        <a:t>Memory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No minimum requirement.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86092700"/>
                  </a:ext>
                </a:extLst>
              </a:tr>
              <a:tr h="646053">
                <a:tc>
                  <a:txBody>
                    <a:bodyPr/>
                    <a:lstStyle/>
                    <a:p>
                      <a:pPr algn="l" fontAlgn="t"/>
                      <a:r>
                        <a:rPr lang="en-US" dirty="0">
                          <a:effectLst/>
                        </a:rPr>
                        <a:t>Disk Space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No minimum requirement.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73625851"/>
                  </a:ext>
                </a:extLst>
              </a:tr>
              <a:tr h="646053">
                <a:tc>
                  <a:txBody>
                    <a:bodyPr/>
                    <a:lstStyle/>
                    <a:p>
                      <a:pPr algn="l" fontAlgn="t"/>
                      <a:r>
                        <a:rPr lang="en-US">
                          <a:effectLst/>
                        </a:rPr>
                        <a:t>Operating System</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dirty="0">
                          <a:effectLst/>
                        </a:rPr>
                        <a:t>No minimum requirement.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048639595"/>
                  </a:ext>
                </a:extLst>
              </a:tr>
            </a:tbl>
          </a:graphicData>
        </a:graphic>
      </p:graphicFrame>
    </p:spTree>
    <p:extLst>
      <p:ext uri="{BB962C8B-B14F-4D97-AF65-F5344CB8AC3E}">
        <p14:creationId xmlns:p14="http://schemas.microsoft.com/office/powerpoint/2010/main" val="31940364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Local </a:t>
            </a:r>
            <a:r>
              <a:rPr lang="en-US" sz="4000" b="1" i="1" dirty="0"/>
              <a:t>Environment </a:t>
            </a:r>
            <a:r>
              <a:rPr lang="en-US" sz="4000" b="1" i="1" dirty="0" smtClean="0"/>
              <a:t>Setup (Cont.)</a:t>
            </a:r>
            <a:endParaRPr lang="en-US" sz="4000" b="1" i="1" dirty="0"/>
          </a:p>
        </p:txBody>
      </p:sp>
      <p:sp>
        <p:nvSpPr>
          <p:cNvPr id="3" name="Content Placeholder 2"/>
          <p:cNvSpPr>
            <a:spLocks noGrp="1"/>
          </p:cNvSpPr>
          <p:nvPr>
            <p:ph idx="1"/>
          </p:nvPr>
        </p:nvSpPr>
        <p:spPr>
          <a:xfrm>
            <a:off x="574766" y="1229675"/>
            <a:ext cx="11025049" cy="5507596"/>
          </a:xfrm>
        </p:spPr>
        <p:txBody>
          <a:bodyPr>
            <a:normAutofit/>
          </a:bodyPr>
          <a:lstStyle/>
          <a:p>
            <a:pPr>
              <a:lnSpc>
                <a:spcPct val="170000"/>
              </a:lnSpc>
            </a:pPr>
            <a:r>
              <a:rPr lang="en-US" dirty="0" smtClean="0"/>
              <a:t>Step </a:t>
            </a:r>
            <a:r>
              <a:rPr lang="en-US" dirty="0"/>
              <a:t>1: Verify Java Installation in Your Machine</a:t>
            </a:r>
          </a:p>
          <a:p>
            <a:pPr lvl="1">
              <a:lnSpc>
                <a:spcPct val="170000"/>
              </a:lnSpc>
            </a:pPr>
            <a:r>
              <a:rPr lang="en-US" dirty="0" smtClean="0"/>
              <a:t>First </a:t>
            </a:r>
            <a:r>
              <a:rPr lang="en-US" dirty="0"/>
              <a:t>of all, open the console and execute a java command based on the operating system you are working on</a:t>
            </a:r>
            <a:r>
              <a:rPr lang="en-US" dirty="0" smtClean="0"/>
              <a:t>.</a:t>
            </a:r>
          </a:p>
          <a:p>
            <a:pPr lvl="1">
              <a:lnSpc>
                <a:spcPct val="170000"/>
              </a:lnSpc>
            </a:pP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15</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271024680"/>
              </p:ext>
            </p:extLst>
          </p:nvPr>
        </p:nvGraphicFramePr>
        <p:xfrm>
          <a:off x="1913707" y="3651694"/>
          <a:ext cx="8347165" cy="1706880"/>
        </p:xfrm>
        <a:graphic>
          <a:graphicData uri="http://schemas.openxmlformats.org/drawingml/2006/table">
            <a:tbl>
              <a:tblPr/>
              <a:tblGrid>
                <a:gridCol w="1666709">
                  <a:extLst>
                    <a:ext uri="{9D8B030D-6E8A-4147-A177-3AD203B41FA5}">
                      <a16:colId xmlns:a16="http://schemas.microsoft.com/office/drawing/2014/main" val="4282003643"/>
                    </a:ext>
                  </a:extLst>
                </a:gridCol>
                <a:gridCol w="3340228">
                  <a:extLst>
                    <a:ext uri="{9D8B030D-6E8A-4147-A177-3AD203B41FA5}">
                      <a16:colId xmlns:a16="http://schemas.microsoft.com/office/drawing/2014/main" val="166281152"/>
                    </a:ext>
                  </a:extLst>
                </a:gridCol>
                <a:gridCol w="3340228">
                  <a:extLst>
                    <a:ext uri="{9D8B030D-6E8A-4147-A177-3AD203B41FA5}">
                      <a16:colId xmlns:a16="http://schemas.microsoft.com/office/drawing/2014/main" val="3519474180"/>
                    </a:ext>
                  </a:extLst>
                </a:gridCol>
              </a:tblGrid>
              <a:tr h="0">
                <a:tc>
                  <a:txBody>
                    <a:bodyPr/>
                    <a:lstStyle/>
                    <a:p>
                      <a:pPr algn="ctr" fontAlgn="t"/>
                      <a:r>
                        <a:rPr lang="en-US">
                          <a:effectLst/>
                        </a:rPr>
                        <a:t>OS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dirty="0">
                          <a:effectLst/>
                        </a:rPr>
                        <a:t>Task</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Command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973151159"/>
                  </a:ext>
                </a:extLst>
              </a:tr>
              <a:tr h="0">
                <a:tc>
                  <a:txBody>
                    <a:bodyPr/>
                    <a:lstStyle/>
                    <a:p>
                      <a:pPr fontAlgn="t"/>
                      <a:r>
                        <a:rPr lang="en-US">
                          <a:effectLst/>
                        </a:rPr>
                        <a:t>Windows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Open Command Console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c:\&gt; java -version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59189386"/>
                  </a:ext>
                </a:extLst>
              </a:tr>
              <a:tr h="0">
                <a:tc>
                  <a:txBody>
                    <a:bodyPr/>
                    <a:lstStyle/>
                    <a:p>
                      <a:pPr fontAlgn="t"/>
                      <a:r>
                        <a:rPr lang="en-US">
                          <a:effectLst/>
                        </a:rPr>
                        <a:t>Linux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Open Command Terminal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 java -version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47639362"/>
                  </a:ext>
                </a:extLst>
              </a:tr>
              <a:tr h="0">
                <a:tc>
                  <a:txBody>
                    <a:bodyPr/>
                    <a:lstStyle/>
                    <a:p>
                      <a:pPr fontAlgn="t"/>
                      <a:r>
                        <a:rPr lang="en-US">
                          <a:effectLst/>
                        </a:rPr>
                        <a:t>Mac</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Open Terminal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machine:~ joseph$ java -version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02088887"/>
                  </a:ext>
                </a:extLst>
              </a:tr>
            </a:tbl>
          </a:graphicData>
        </a:graphic>
      </p:graphicFrame>
    </p:spTree>
    <p:extLst>
      <p:ext uri="{BB962C8B-B14F-4D97-AF65-F5344CB8AC3E}">
        <p14:creationId xmlns:p14="http://schemas.microsoft.com/office/powerpoint/2010/main" val="9915067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Local </a:t>
            </a:r>
            <a:r>
              <a:rPr lang="en-US" sz="4000" b="1" i="1" dirty="0"/>
              <a:t>Environment </a:t>
            </a:r>
            <a:r>
              <a:rPr lang="en-US" sz="4000" b="1" i="1" dirty="0" smtClean="0"/>
              <a:t>Setup (Cont.)</a:t>
            </a:r>
            <a:endParaRPr lang="en-US" sz="4000" b="1" i="1" dirty="0"/>
          </a:p>
        </p:txBody>
      </p:sp>
      <p:sp>
        <p:nvSpPr>
          <p:cNvPr id="3" name="Content Placeholder 2"/>
          <p:cNvSpPr>
            <a:spLocks noGrp="1"/>
          </p:cNvSpPr>
          <p:nvPr>
            <p:ph idx="1"/>
          </p:nvPr>
        </p:nvSpPr>
        <p:spPr>
          <a:xfrm>
            <a:off x="574766" y="1229675"/>
            <a:ext cx="11025049" cy="5507596"/>
          </a:xfrm>
        </p:spPr>
        <p:txBody>
          <a:bodyPr>
            <a:normAutofit/>
          </a:bodyPr>
          <a:lstStyle/>
          <a:p>
            <a:pPr>
              <a:lnSpc>
                <a:spcPct val="150000"/>
              </a:lnSpc>
            </a:pPr>
            <a:r>
              <a:rPr lang="en-US" dirty="0" smtClean="0"/>
              <a:t>Step </a:t>
            </a:r>
            <a:r>
              <a:rPr lang="en-US" dirty="0"/>
              <a:t>2: Set JAVA </a:t>
            </a:r>
            <a:r>
              <a:rPr lang="en-US" dirty="0" smtClean="0"/>
              <a:t>Environment</a:t>
            </a:r>
          </a:p>
          <a:p>
            <a:pPr>
              <a:lnSpc>
                <a:spcPct val="150000"/>
              </a:lnSpc>
            </a:pPr>
            <a:r>
              <a:rPr lang="en-US" dirty="0"/>
              <a:t>Step 3: Download </a:t>
            </a:r>
            <a:r>
              <a:rPr lang="en-US" dirty="0" smtClean="0"/>
              <a:t>latest version of JUnit Archive</a:t>
            </a:r>
            <a:endParaRPr lang="en-US" dirty="0"/>
          </a:p>
          <a:p>
            <a:pPr lvl="1">
              <a:lnSpc>
                <a:spcPct val="150000"/>
              </a:lnSpc>
            </a:pPr>
            <a:r>
              <a:rPr lang="en-US" dirty="0"/>
              <a:t>Download the latest version of JUnit jar file from </a:t>
            </a:r>
            <a:r>
              <a:rPr lang="en-US" dirty="0">
                <a:hlinkClick r:id="rId2"/>
              </a:rPr>
              <a:t>http://</a:t>
            </a:r>
            <a:r>
              <a:rPr lang="en-US" dirty="0" smtClean="0">
                <a:hlinkClick r:id="rId2"/>
              </a:rPr>
              <a:t>www.junit.org</a:t>
            </a:r>
            <a:r>
              <a:rPr lang="en-US" dirty="0" smtClean="0"/>
              <a:t>, copied it into C:\&gt;JUnit folder.</a:t>
            </a:r>
          </a:p>
          <a:p>
            <a:pPr>
              <a:lnSpc>
                <a:spcPct val="150000"/>
              </a:lnSpc>
            </a:pPr>
            <a:r>
              <a:rPr lang="en-US" dirty="0"/>
              <a:t>Step 4: Set JUnit Environment</a:t>
            </a:r>
          </a:p>
          <a:p>
            <a:pPr lvl="1">
              <a:lnSpc>
                <a:spcPct val="150000"/>
              </a:lnSpc>
            </a:pPr>
            <a:r>
              <a:rPr lang="en-US" dirty="0"/>
              <a:t>Set the </a:t>
            </a:r>
            <a:r>
              <a:rPr lang="en-US" b="1" dirty="0"/>
              <a:t>JUNIT_HOME</a:t>
            </a:r>
            <a:r>
              <a:rPr lang="en-US" dirty="0"/>
              <a:t> environment variable to point to the base directory location where JUNIT jar is stored on your machine. Let’s assuming we've stored junit4.12.jar in the JUNIT folder</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16</a:t>
            </a:fld>
            <a:endParaRPr lang="en-US" dirty="0"/>
          </a:p>
        </p:txBody>
      </p:sp>
    </p:spTree>
    <p:extLst>
      <p:ext uri="{BB962C8B-B14F-4D97-AF65-F5344CB8AC3E}">
        <p14:creationId xmlns:p14="http://schemas.microsoft.com/office/powerpoint/2010/main" val="16354890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Local </a:t>
            </a:r>
            <a:r>
              <a:rPr lang="en-US" sz="4000" b="1" i="1" dirty="0"/>
              <a:t>Environment </a:t>
            </a:r>
            <a:r>
              <a:rPr lang="en-US" sz="4000" b="1" i="1" dirty="0" smtClean="0"/>
              <a:t>Setup (Cont.)</a:t>
            </a:r>
            <a:endParaRPr lang="en-US" sz="4000" b="1" i="1" dirty="0"/>
          </a:p>
        </p:txBody>
      </p:sp>
      <p:sp>
        <p:nvSpPr>
          <p:cNvPr id="3" name="Content Placeholder 2"/>
          <p:cNvSpPr>
            <a:spLocks noGrp="1"/>
          </p:cNvSpPr>
          <p:nvPr>
            <p:ph idx="1"/>
          </p:nvPr>
        </p:nvSpPr>
        <p:spPr>
          <a:xfrm>
            <a:off x="574766" y="1229675"/>
            <a:ext cx="11025049" cy="5142471"/>
          </a:xfrm>
        </p:spPr>
        <p:txBody>
          <a:bodyPr>
            <a:normAutofit/>
          </a:bodyPr>
          <a:lstStyle/>
          <a:p>
            <a:pPr>
              <a:lnSpc>
                <a:spcPct val="150000"/>
              </a:lnSpc>
            </a:pPr>
            <a:r>
              <a:rPr lang="en-US" dirty="0" smtClean="0"/>
              <a:t>Step </a:t>
            </a:r>
            <a:r>
              <a:rPr lang="en-US" dirty="0"/>
              <a:t>5: Set </a:t>
            </a:r>
            <a:r>
              <a:rPr lang="en-US" b="1" i="1" dirty="0"/>
              <a:t>CLASSPATH</a:t>
            </a:r>
            <a:r>
              <a:rPr lang="en-US" dirty="0"/>
              <a:t> Variable</a:t>
            </a:r>
          </a:p>
          <a:p>
            <a:pPr lvl="1">
              <a:lnSpc>
                <a:spcPct val="150000"/>
              </a:lnSpc>
            </a:pPr>
            <a:r>
              <a:rPr lang="en-US" dirty="0"/>
              <a:t>Set the </a:t>
            </a:r>
            <a:r>
              <a:rPr lang="en-US" b="1" dirty="0"/>
              <a:t>CLASSPATH</a:t>
            </a:r>
            <a:r>
              <a:rPr lang="en-US" dirty="0"/>
              <a:t> environment variable to point to the JUNIT jar location</a:t>
            </a:r>
            <a:r>
              <a:rPr lang="en-US" dirty="0" smtClean="0"/>
              <a:t>.</a:t>
            </a:r>
          </a:p>
          <a:p>
            <a:pPr>
              <a:lnSpc>
                <a:spcPct val="150000"/>
              </a:lnSpc>
            </a:pPr>
            <a:r>
              <a:rPr lang="en-US" dirty="0"/>
              <a:t>Step 6: Test JUnit </a:t>
            </a:r>
            <a:r>
              <a:rPr lang="en-US" dirty="0" smtClean="0"/>
              <a:t>Setup</a:t>
            </a:r>
          </a:p>
          <a:p>
            <a:pPr lvl="1">
              <a:lnSpc>
                <a:spcPct val="150000"/>
              </a:lnSpc>
            </a:pPr>
            <a:r>
              <a:rPr lang="en-US" dirty="0" smtClean="0"/>
              <a:t>Create </a:t>
            </a:r>
            <a:r>
              <a:rPr lang="en-US" dirty="0"/>
              <a:t>a java class file name </a:t>
            </a:r>
            <a:r>
              <a:rPr lang="en-US" dirty="0" err="1"/>
              <a:t>TestJunit</a:t>
            </a:r>
            <a:r>
              <a:rPr lang="en-US" dirty="0"/>
              <a:t> in </a:t>
            </a:r>
            <a:r>
              <a:rPr lang="en-US" b="1" dirty="0"/>
              <a:t>C:\&gt;</a:t>
            </a:r>
            <a:r>
              <a:rPr lang="en-US" b="1" dirty="0" smtClean="0"/>
              <a:t>JUNIT_WORKSPACE</a:t>
            </a:r>
            <a:endParaRPr lang="en-US" dirty="0"/>
          </a:p>
          <a:p>
            <a:pPr marL="0" indent="0">
              <a:lnSpc>
                <a:spcPct val="150000"/>
              </a:lnSpc>
              <a:buNone/>
            </a:pPr>
            <a:endParaRPr lang="en-US"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17</a:t>
            </a:fld>
            <a:endParaRPr lang="en-US" dirty="0"/>
          </a:p>
        </p:txBody>
      </p:sp>
      <p:sp>
        <p:nvSpPr>
          <p:cNvPr id="5" name="Rectangle 1"/>
          <p:cNvSpPr>
            <a:spLocks noChangeArrowheads="1"/>
          </p:cNvSpPr>
          <p:nvPr/>
        </p:nvSpPr>
        <p:spPr bwMode="auto">
          <a:xfrm>
            <a:off x="1371600" y="3276889"/>
            <a:ext cx="8203474" cy="327782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88"/>
                </a:solidFill>
                <a:effectLst/>
                <a:latin typeface="var(--bs-font-monospace)"/>
              </a:rPr>
              <a:t>import</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err="1" smtClean="0">
                <a:ln>
                  <a:noFill/>
                </a:ln>
                <a:solidFill>
                  <a:srgbClr val="000000"/>
                </a:solidFill>
                <a:effectLst/>
                <a:latin typeface="var(--bs-font-monospace)"/>
              </a:rPr>
              <a:t>org</a:t>
            </a:r>
            <a:r>
              <a:rPr kumimoji="0" lang="en-US" altLang="en-US" sz="1400" b="0" i="0" u="none" strike="noStrike" cap="none" normalizeH="0" baseline="0" dirty="0" err="1" smtClean="0">
                <a:ln>
                  <a:noFill/>
                </a:ln>
                <a:solidFill>
                  <a:srgbClr val="666600"/>
                </a:solidFill>
                <a:effectLst/>
                <a:latin typeface="var(--bs-font-monospace)"/>
              </a:rPr>
              <a:t>.</a:t>
            </a:r>
            <a:r>
              <a:rPr kumimoji="0" lang="en-US" altLang="en-US" sz="1400" b="0" i="0" u="none" strike="noStrike" cap="none" normalizeH="0" baseline="0" dirty="0" err="1" smtClean="0">
                <a:ln>
                  <a:noFill/>
                </a:ln>
                <a:solidFill>
                  <a:srgbClr val="000000"/>
                </a:solidFill>
                <a:effectLst/>
                <a:latin typeface="var(--bs-font-monospace)"/>
              </a:rPr>
              <a:t>junit</a:t>
            </a:r>
            <a:r>
              <a:rPr kumimoji="0" lang="en-US" altLang="en-US" sz="1400" b="0" i="0" u="none" strike="noStrike" cap="none" normalizeH="0" baseline="0" dirty="0" err="1" smtClean="0">
                <a:ln>
                  <a:noFill/>
                </a:ln>
                <a:solidFill>
                  <a:srgbClr val="666600"/>
                </a:solidFill>
                <a:effectLst/>
                <a:latin typeface="var(--bs-font-monospace)"/>
              </a:rPr>
              <a:t>.</a:t>
            </a:r>
            <a:r>
              <a:rPr kumimoji="0" lang="en-US" altLang="en-US" sz="1400" b="0" i="0" u="none" strike="noStrike" cap="none" normalizeH="0" baseline="0" dirty="0" err="1" smtClean="0">
                <a:ln>
                  <a:noFill/>
                </a:ln>
                <a:solidFill>
                  <a:srgbClr val="660066"/>
                </a:solidFill>
                <a:effectLst/>
                <a:latin typeface="var(--bs-font-monospace)"/>
              </a:rPr>
              <a:t>Test</a:t>
            </a:r>
            <a:r>
              <a:rPr kumimoji="0" lang="en-US" altLang="en-US" sz="1400" b="0" i="0" u="none" strike="noStrike" cap="none" normalizeH="0" baseline="0" dirty="0" smtClean="0">
                <a:ln>
                  <a:noFill/>
                </a:ln>
                <a:solidFill>
                  <a:srgbClr val="666600"/>
                </a:solidFill>
                <a:effectLst/>
                <a:latin typeface="var(--bs-font-monospace)"/>
              </a:rPr>
              <a:t>;</a:t>
            </a:r>
            <a:endParaRPr lang="en-US" altLang="en-US" sz="1400" dirty="0">
              <a:solidFill>
                <a:srgbClr val="000000"/>
              </a:solidFill>
              <a:latin typeface="var(--bs-font-monospace)"/>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88"/>
                </a:solidFill>
                <a:effectLst/>
                <a:latin typeface="var(--bs-font-monospace)"/>
              </a:rPr>
              <a:t>import</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smtClean="0">
                <a:ln>
                  <a:noFill/>
                </a:ln>
                <a:solidFill>
                  <a:srgbClr val="000088"/>
                </a:solidFill>
                <a:effectLst/>
                <a:latin typeface="var(--bs-font-monospace)"/>
              </a:rPr>
              <a:t>static</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err="1" smtClean="0">
                <a:ln>
                  <a:noFill/>
                </a:ln>
                <a:solidFill>
                  <a:srgbClr val="000000"/>
                </a:solidFill>
                <a:effectLst/>
                <a:latin typeface="var(--bs-font-monospace)"/>
              </a:rPr>
              <a:t>org</a:t>
            </a:r>
            <a:r>
              <a:rPr kumimoji="0" lang="en-US" altLang="en-US" sz="1400" b="0" i="0" u="none" strike="noStrike" cap="none" normalizeH="0" baseline="0" dirty="0" err="1" smtClean="0">
                <a:ln>
                  <a:noFill/>
                </a:ln>
                <a:solidFill>
                  <a:srgbClr val="666600"/>
                </a:solidFill>
                <a:effectLst/>
                <a:latin typeface="var(--bs-font-monospace)"/>
              </a:rPr>
              <a:t>.</a:t>
            </a:r>
            <a:r>
              <a:rPr kumimoji="0" lang="en-US" altLang="en-US" sz="1400" b="0" i="0" u="none" strike="noStrike" cap="none" normalizeH="0" baseline="0" dirty="0" err="1" smtClean="0">
                <a:ln>
                  <a:noFill/>
                </a:ln>
                <a:solidFill>
                  <a:srgbClr val="000000"/>
                </a:solidFill>
                <a:effectLst/>
                <a:latin typeface="var(--bs-font-monospace)"/>
              </a:rPr>
              <a:t>junit</a:t>
            </a:r>
            <a:r>
              <a:rPr kumimoji="0" lang="en-US" altLang="en-US" sz="1400" b="0" i="0" u="none" strike="noStrike" cap="none" normalizeH="0" baseline="0" dirty="0" err="1" smtClean="0">
                <a:ln>
                  <a:noFill/>
                </a:ln>
                <a:solidFill>
                  <a:srgbClr val="666600"/>
                </a:solidFill>
                <a:effectLst/>
                <a:latin typeface="var(--bs-font-monospace)"/>
              </a:rPr>
              <a:t>.</a:t>
            </a:r>
            <a:r>
              <a:rPr kumimoji="0" lang="en-US" altLang="en-US" sz="1400" b="0" i="0" u="none" strike="noStrike" cap="none" normalizeH="0" baseline="0" dirty="0" err="1" smtClean="0">
                <a:ln>
                  <a:noFill/>
                </a:ln>
                <a:solidFill>
                  <a:srgbClr val="660066"/>
                </a:solidFill>
                <a:effectLst/>
                <a:latin typeface="var(--bs-font-monospace)"/>
              </a:rPr>
              <a:t>Assert</a:t>
            </a:r>
            <a:r>
              <a:rPr kumimoji="0" lang="en-US" altLang="en-US" sz="1400" b="0" i="0" u="none" strike="noStrike" cap="none" normalizeH="0" baseline="0" dirty="0" err="1" smtClean="0">
                <a:ln>
                  <a:noFill/>
                </a:ln>
                <a:solidFill>
                  <a:srgbClr val="666600"/>
                </a:solidFill>
                <a:effectLst/>
                <a:latin typeface="var(--bs-font-monospace)"/>
              </a:rPr>
              <a:t>.</a:t>
            </a:r>
            <a:r>
              <a:rPr kumimoji="0" lang="en-US" altLang="en-US" sz="1400" b="0" i="0" u="none" strike="noStrike" cap="none" normalizeH="0" baseline="0" dirty="0" err="1" smtClean="0">
                <a:ln>
                  <a:noFill/>
                </a:ln>
                <a:solidFill>
                  <a:srgbClr val="000000"/>
                </a:solidFill>
                <a:effectLst/>
                <a:latin typeface="var(--bs-font-monospace)"/>
              </a:rPr>
              <a:t>assertEquals</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rgbClr val="000000"/>
                </a:solidFill>
                <a:effectLst/>
                <a:latin typeface="var(--bs-font-monospace)"/>
              </a:rPr>
              <a:t> </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000000"/>
              </a:solidFill>
              <a:effectLst/>
              <a:latin typeface="var(--bs-font-monospace)"/>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88"/>
                </a:solidFill>
                <a:effectLst/>
                <a:latin typeface="var(--bs-font-monospace)"/>
              </a:rPr>
              <a:t>public</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smtClean="0">
                <a:ln>
                  <a:noFill/>
                </a:ln>
                <a:solidFill>
                  <a:srgbClr val="000088"/>
                </a:solidFill>
                <a:effectLst/>
                <a:latin typeface="var(--bs-font-monospace)"/>
              </a:rPr>
              <a:t>class</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err="1" smtClean="0">
                <a:ln>
                  <a:noFill/>
                </a:ln>
                <a:solidFill>
                  <a:srgbClr val="660066"/>
                </a:solidFill>
                <a:effectLst/>
                <a:latin typeface="var(--bs-font-monospace)"/>
              </a:rPr>
              <a:t>TestJunit</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rgbClr val="000000"/>
                </a:solidFill>
                <a:effectLst/>
                <a:latin typeface="var(--bs-font-monospace)"/>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006666"/>
                </a:solidFill>
                <a:effectLst/>
                <a:latin typeface="var(--bs-font-monospace)"/>
              </a:rPr>
              <a:t>	@Test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88"/>
                </a:solidFill>
                <a:effectLst/>
                <a:latin typeface="var(--bs-font-monospace)"/>
              </a:rPr>
              <a:t>	public</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smtClean="0">
                <a:ln>
                  <a:noFill/>
                </a:ln>
                <a:solidFill>
                  <a:srgbClr val="000088"/>
                </a:solidFill>
                <a:effectLst/>
                <a:latin typeface="var(--bs-font-monospace)"/>
              </a:rPr>
              <a:t>void</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err="1" smtClean="0">
                <a:ln>
                  <a:noFill/>
                </a:ln>
                <a:solidFill>
                  <a:srgbClr val="000000"/>
                </a:solidFill>
                <a:effectLst/>
                <a:latin typeface="var(--bs-font-monospace)"/>
              </a:rPr>
              <a:t>testAdd</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rgbClr val="000000"/>
                </a:solidFill>
                <a:effectLst/>
                <a:latin typeface="var(--bs-font-monospace)"/>
              </a:rPr>
              <a:t> </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1400" dirty="0">
                <a:solidFill>
                  <a:srgbClr val="000000"/>
                </a:solidFill>
                <a:latin typeface="var(--bs-font-monospace)"/>
              </a:rPr>
              <a:t>	</a:t>
            </a:r>
            <a:r>
              <a:rPr lang="en-US" altLang="en-US" sz="1400" dirty="0" smtClean="0">
                <a:solidFill>
                  <a:srgbClr val="000000"/>
                </a:solidFill>
                <a:latin typeface="var(--bs-font-monospace)"/>
              </a:rPr>
              <a:t>	</a:t>
            </a:r>
            <a:r>
              <a:rPr kumimoji="0" lang="en-US" altLang="en-US" sz="1400" b="0" i="0" u="none" strike="noStrike" cap="none" normalizeH="0" baseline="0" dirty="0" smtClean="0">
                <a:ln>
                  <a:noFill/>
                </a:ln>
                <a:solidFill>
                  <a:srgbClr val="660066"/>
                </a:solidFill>
                <a:effectLst/>
                <a:latin typeface="var(--bs-font-monospace)"/>
              </a:rPr>
              <a:t>String</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err="1" smtClean="0">
                <a:ln>
                  <a:noFill/>
                </a:ln>
                <a:solidFill>
                  <a:srgbClr val="000000"/>
                </a:solidFill>
                <a:effectLst/>
                <a:latin typeface="var(--bs-font-monospace)"/>
              </a:rPr>
              <a:t>str</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smtClean="0">
                <a:ln>
                  <a:noFill/>
                </a:ln>
                <a:solidFill>
                  <a:srgbClr val="008800"/>
                </a:solidFill>
                <a:effectLst/>
                <a:latin typeface="var(--bs-font-monospace)"/>
              </a:rPr>
              <a:t>"Junit is working fine"</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rgbClr val="000000"/>
                </a:solidFill>
                <a:effectLst/>
                <a:latin typeface="var(--bs-font-monospace)"/>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err="1" smtClean="0">
                <a:ln>
                  <a:noFill/>
                </a:ln>
                <a:solidFill>
                  <a:srgbClr val="000000"/>
                </a:solidFill>
                <a:effectLst/>
                <a:latin typeface="var(--bs-font-monospace)"/>
              </a:rPr>
              <a:t>assertEquals</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rgbClr val="008800"/>
                </a:solidFill>
                <a:effectLst/>
                <a:latin typeface="var(--bs-font-monospace)"/>
              </a:rPr>
              <a:t>"Junit is working fine"</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err="1" smtClean="0">
                <a:ln>
                  <a:noFill/>
                </a:ln>
                <a:solidFill>
                  <a:srgbClr val="000000"/>
                </a:solidFill>
                <a:effectLst/>
                <a:latin typeface="var(--bs-font-monospace)"/>
              </a:rPr>
              <a:t>str</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rgbClr val="000000"/>
                </a:solidFill>
                <a:effectLst/>
                <a:latin typeface="var(--bs-font-monospace)"/>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666600"/>
                </a:solidFill>
                <a:effectLst/>
                <a:latin typeface="var(--bs-font-monospace)"/>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00"/>
                </a:solidFill>
                <a:effectLst/>
                <a:latin typeface="var(--bs-font-monospace)"/>
              </a:rPr>
              <a:t> </a:t>
            </a:r>
            <a:r>
              <a:rPr kumimoji="0" lang="en-US" altLang="en-US" sz="1400" b="0" i="0" u="none" strike="noStrike" cap="none" normalizeH="0" baseline="0" dirty="0" smtClean="0">
                <a:ln>
                  <a:noFill/>
                </a:ln>
                <a:solidFill>
                  <a:srgbClr val="666600"/>
                </a:solidFill>
                <a:effectLst/>
                <a:latin typeface="var(--bs-font-monospace)"/>
              </a:rPr>
              <a:t>}</a:t>
            </a:r>
            <a:r>
              <a:rPr kumimoji="0" lang="en-US" altLang="en-US" sz="1400" b="0" i="0" u="none" strike="noStrike" cap="none" normalizeH="0" baseline="0" dirty="0" smtClean="0">
                <a:ln>
                  <a:noFill/>
                </a:ln>
                <a:solidFill>
                  <a:schemeClr val="tx1"/>
                </a:solidFill>
                <a:effectLst/>
              </a:rPr>
              <a:t> </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63995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Local </a:t>
            </a:r>
            <a:r>
              <a:rPr lang="en-US" sz="4000" b="1" i="1" dirty="0"/>
              <a:t>Environment </a:t>
            </a:r>
            <a:r>
              <a:rPr lang="en-US" sz="4000" b="1" i="1" dirty="0" smtClean="0"/>
              <a:t>Setup (Cont.)</a:t>
            </a:r>
            <a:endParaRPr lang="en-US" sz="4000" b="1" i="1" dirty="0"/>
          </a:p>
        </p:txBody>
      </p:sp>
      <p:sp>
        <p:nvSpPr>
          <p:cNvPr id="3" name="Content Placeholder 2"/>
          <p:cNvSpPr>
            <a:spLocks noGrp="1"/>
          </p:cNvSpPr>
          <p:nvPr>
            <p:ph idx="1"/>
          </p:nvPr>
        </p:nvSpPr>
        <p:spPr>
          <a:xfrm>
            <a:off x="574766" y="1229675"/>
            <a:ext cx="11025049" cy="5142471"/>
          </a:xfrm>
        </p:spPr>
        <p:txBody>
          <a:bodyPr>
            <a:normAutofit/>
          </a:bodyPr>
          <a:lstStyle/>
          <a:p>
            <a:pPr>
              <a:lnSpc>
                <a:spcPct val="150000"/>
              </a:lnSpc>
            </a:pPr>
            <a:r>
              <a:rPr lang="en-US" dirty="0" smtClean="0"/>
              <a:t>Create </a:t>
            </a:r>
            <a:r>
              <a:rPr lang="en-US" dirty="0"/>
              <a:t>a java class file name </a:t>
            </a:r>
            <a:r>
              <a:rPr lang="en-US" dirty="0" err="1"/>
              <a:t>TestRunner</a:t>
            </a:r>
            <a:r>
              <a:rPr lang="en-US" dirty="0"/>
              <a:t> in </a:t>
            </a:r>
            <a:r>
              <a:rPr lang="en-US" b="1" dirty="0"/>
              <a:t>C:\&gt;JUNIT_WORKSPACE</a:t>
            </a:r>
            <a:r>
              <a:rPr lang="en-US" dirty="0"/>
              <a:t> to execute test case(s).</a:t>
            </a:r>
            <a:endParaRPr lang="en-US" dirty="0" smtClean="0"/>
          </a:p>
          <a:p>
            <a:pPr marL="0" indent="0">
              <a:lnSpc>
                <a:spcPct val="150000"/>
              </a:lnSpc>
              <a:buNone/>
            </a:pPr>
            <a:endParaRPr lang="en-US"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18</a:t>
            </a:fld>
            <a:endParaRPr lang="en-US" dirty="0"/>
          </a:p>
        </p:txBody>
      </p:sp>
      <p:sp>
        <p:nvSpPr>
          <p:cNvPr id="5" name="Rectangle 1"/>
          <p:cNvSpPr>
            <a:spLocks noChangeArrowheads="1"/>
          </p:cNvSpPr>
          <p:nvPr/>
        </p:nvSpPr>
        <p:spPr bwMode="auto">
          <a:xfrm>
            <a:off x="1554480" y="2813120"/>
            <a:ext cx="8203474" cy="392415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400" dirty="0" smtClean="0">
                <a:solidFill>
                  <a:srgbClr val="000088"/>
                </a:solidFill>
                <a:latin typeface="var(--bs-font-monospace)"/>
              </a:rPr>
              <a:t>import</a:t>
            </a:r>
            <a:r>
              <a:rPr lang="en-US" altLang="en-US" sz="1400" dirty="0" smtClean="0">
                <a:solidFill>
                  <a:srgbClr val="000000"/>
                </a:solidFill>
                <a:latin typeface="var(--bs-font-monospace)"/>
              </a:rPr>
              <a:t> </a:t>
            </a:r>
            <a:r>
              <a:rPr lang="en-US" altLang="en-US" sz="1400" dirty="0" err="1" smtClean="0">
                <a:solidFill>
                  <a:srgbClr val="000000"/>
                </a:solidFill>
                <a:latin typeface="var(--bs-font-monospace)"/>
              </a:rPr>
              <a:t>org</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junit</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runner</a:t>
            </a:r>
            <a:r>
              <a:rPr lang="en-US" altLang="en-US" sz="1400" dirty="0" err="1" smtClean="0">
                <a:solidFill>
                  <a:srgbClr val="666600"/>
                </a:solidFill>
                <a:latin typeface="var(--bs-font-monospace)"/>
              </a:rPr>
              <a:t>.</a:t>
            </a:r>
            <a:r>
              <a:rPr lang="en-US" altLang="en-US" sz="1400" dirty="0" err="1" smtClean="0">
                <a:solidFill>
                  <a:srgbClr val="660066"/>
                </a:solidFill>
                <a:latin typeface="var(--bs-font-monospace)"/>
              </a:rPr>
              <a:t>JUnitCore</a:t>
            </a:r>
            <a:r>
              <a:rPr lang="en-US" altLang="en-US" sz="1400" dirty="0" smtClean="0">
                <a:solidFill>
                  <a:srgbClr val="666600"/>
                </a:solidFill>
                <a:latin typeface="var(--bs-font-monospace)"/>
              </a:rPr>
              <a:t>;</a:t>
            </a:r>
          </a:p>
          <a:p>
            <a:pPr eaLnBrk="0" fontAlgn="base" hangingPunct="0">
              <a:lnSpc>
                <a:spcPct val="150000"/>
              </a:lnSpc>
              <a:spcBef>
                <a:spcPct val="0"/>
              </a:spcBef>
              <a:spcAft>
                <a:spcPct val="0"/>
              </a:spcAft>
            </a:pPr>
            <a:r>
              <a:rPr lang="en-US" altLang="en-US" sz="1400" dirty="0" smtClean="0">
                <a:solidFill>
                  <a:srgbClr val="000088"/>
                </a:solidFill>
                <a:latin typeface="var(--bs-font-monospace)"/>
              </a:rPr>
              <a:t>import</a:t>
            </a:r>
            <a:r>
              <a:rPr lang="en-US" altLang="en-US" sz="1400" dirty="0" smtClean="0">
                <a:solidFill>
                  <a:srgbClr val="000000"/>
                </a:solidFill>
                <a:latin typeface="var(--bs-font-monospace)"/>
              </a:rPr>
              <a:t> </a:t>
            </a:r>
            <a:r>
              <a:rPr lang="en-US" altLang="en-US" sz="1400" dirty="0" err="1">
                <a:solidFill>
                  <a:srgbClr val="000000"/>
                </a:solidFill>
                <a:latin typeface="var(--bs-font-monospace)"/>
              </a:rPr>
              <a:t>org</a:t>
            </a:r>
            <a:r>
              <a:rPr lang="en-US" altLang="en-US" sz="1400" dirty="0" err="1">
                <a:solidFill>
                  <a:srgbClr val="666600"/>
                </a:solidFill>
                <a:latin typeface="var(--bs-font-monospace)"/>
              </a:rPr>
              <a:t>.</a:t>
            </a:r>
            <a:r>
              <a:rPr lang="en-US" altLang="en-US" sz="1400" dirty="0" err="1">
                <a:solidFill>
                  <a:srgbClr val="000000"/>
                </a:solidFill>
                <a:latin typeface="var(--bs-font-monospace)"/>
              </a:rPr>
              <a:t>junit</a:t>
            </a:r>
            <a:r>
              <a:rPr lang="en-US" altLang="en-US" sz="1400" dirty="0" err="1">
                <a:solidFill>
                  <a:srgbClr val="666600"/>
                </a:solidFill>
                <a:latin typeface="var(--bs-font-monospace)"/>
              </a:rPr>
              <a:t>.</a:t>
            </a:r>
            <a:r>
              <a:rPr lang="en-US" altLang="en-US" sz="1400" dirty="0" err="1">
                <a:solidFill>
                  <a:srgbClr val="000000"/>
                </a:solidFill>
                <a:latin typeface="var(--bs-font-monospace)"/>
              </a:rPr>
              <a:t>runner</a:t>
            </a:r>
            <a:r>
              <a:rPr lang="en-US" altLang="en-US" sz="1400" dirty="0" err="1">
                <a:solidFill>
                  <a:srgbClr val="666600"/>
                </a:solidFill>
                <a:latin typeface="var(--bs-font-monospace)"/>
              </a:rPr>
              <a:t>.</a:t>
            </a:r>
            <a:r>
              <a:rPr lang="en-US" altLang="en-US" sz="1400" dirty="0" err="1">
                <a:solidFill>
                  <a:srgbClr val="660066"/>
                </a:solidFill>
                <a:latin typeface="var(--bs-font-monospace)"/>
              </a:rPr>
              <a:t>Result</a:t>
            </a:r>
            <a:r>
              <a:rPr lang="en-US" altLang="en-US" sz="1400" dirty="0">
                <a:solidFill>
                  <a:srgbClr val="666600"/>
                </a:solidFill>
                <a:latin typeface="var(--bs-font-monospace)"/>
              </a:rPr>
              <a:t>;</a:t>
            </a:r>
            <a:r>
              <a:rPr lang="en-US" altLang="en-US" sz="1400" dirty="0">
                <a:solidFill>
                  <a:srgbClr val="000000"/>
                </a:solidFill>
                <a:latin typeface="var(--bs-font-monospace)"/>
              </a:rPr>
              <a:t> </a:t>
            </a:r>
            <a:endParaRPr lang="en-US" altLang="en-US" sz="1400" dirty="0" smtClean="0">
              <a:solidFill>
                <a:srgbClr val="000000"/>
              </a:solidFill>
              <a:latin typeface="var(--bs-font-monospace)"/>
            </a:endParaRPr>
          </a:p>
          <a:p>
            <a:pPr eaLnBrk="0" fontAlgn="base" hangingPunct="0">
              <a:lnSpc>
                <a:spcPct val="150000"/>
              </a:lnSpc>
              <a:spcBef>
                <a:spcPct val="0"/>
              </a:spcBef>
              <a:spcAft>
                <a:spcPct val="0"/>
              </a:spcAft>
            </a:pPr>
            <a:r>
              <a:rPr lang="en-US" altLang="en-US" sz="1400" dirty="0" smtClean="0">
                <a:solidFill>
                  <a:srgbClr val="000088"/>
                </a:solidFill>
                <a:latin typeface="var(--bs-font-monospace)"/>
              </a:rPr>
              <a:t>import</a:t>
            </a:r>
            <a:r>
              <a:rPr lang="en-US" altLang="en-US" sz="1400" dirty="0" smtClean="0">
                <a:solidFill>
                  <a:srgbClr val="000000"/>
                </a:solidFill>
                <a:latin typeface="var(--bs-font-monospace)"/>
              </a:rPr>
              <a:t> </a:t>
            </a:r>
            <a:r>
              <a:rPr lang="en-US" altLang="en-US" sz="1400" dirty="0" err="1" smtClean="0">
                <a:solidFill>
                  <a:srgbClr val="000000"/>
                </a:solidFill>
                <a:latin typeface="var(--bs-font-monospace)"/>
              </a:rPr>
              <a:t>org</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junit</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runner</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notification</a:t>
            </a:r>
            <a:r>
              <a:rPr lang="en-US" altLang="en-US" sz="1400" dirty="0" err="1" smtClean="0">
                <a:solidFill>
                  <a:srgbClr val="666600"/>
                </a:solidFill>
                <a:latin typeface="var(--bs-font-monospace)"/>
              </a:rPr>
              <a:t>.</a:t>
            </a:r>
            <a:r>
              <a:rPr lang="en-US" altLang="en-US" sz="1400" dirty="0" err="1" smtClean="0">
                <a:solidFill>
                  <a:srgbClr val="660066"/>
                </a:solidFill>
                <a:latin typeface="var(--bs-font-monospace)"/>
              </a:rPr>
              <a:t>Failure</a:t>
            </a:r>
            <a:r>
              <a:rPr lang="en-US" altLang="en-US" sz="1400" dirty="0" smtClean="0">
                <a:solidFill>
                  <a:srgbClr val="666600"/>
                </a:solidFill>
                <a:latin typeface="var(--bs-font-monospace)"/>
              </a:rPr>
              <a:t>;</a:t>
            </a:r>
            <a:endParaRPr lang="en-US" altLang="en-US" sz="1400" dirty="0" smtClean="0">
              <a:solidFill>
                <a:srgbClr val="000000"/>
              </a:solidFill>
              <a:latin typeface="var(--bs-font-monospace)"/>
            </a:endParaRPr>
          </a:p>
          <a:p>
            <a:pPr eaLnBrk="0" fontAlgn="base" hangingPunct="0">
              <a:lnSpc>
                <a:spcPct val="150000"/>
              </a:lnSpc>
              <a:spcBef>
                <a:spcPct val="0"/>
              </a:spcBef>
              <a:spcAft>
                <a:spcPct val="0"/>
              </a:spcAft>
            </a:pPr>
            <a:r>
              <a:rPr lang="en-US" altLang="en-US" sz="1400" dirty="0" smtClean="0">
                <a:solidFill>
                  <a:srgbClr val="000000"/>
                </a:solidFill>
                <a:latin typeface="var(--bs-font-monospace)"/>
              </a:rPr>
              <a:t>	</a:t>
            </a:r>
            <a:r>
              <a:rPr lang="en-US" altLang="en-US" sz="1400" dirty="0" smtClean="0">
                <a:solidFill>
                  <a:srgbClr val="000088"/>
                </a:solidFill>
                <a:latin typeface="var(--bs-font-monospace)"/>
              </a:rPr>
              <a:t>public</a:t>
            </a:r>
            <a:r>
              <a:rPr lang="en-US" altLang="en-US" sz="1400" dirty="0" smtClean="0">
                <a:solidFill>
                  <a:srgbClr val="000000"/>
                </a:solidFill>
                <a:latin typeface="var(--bs-font-monospace)"/>
              </a:rPr>
              <a:t> </a:t>
            </a:r>
            <a:r>
              <a:rPr lang="en-US" altLang="en-US" sz="1400" dirty="0">
                <a:solidFill>
                  <a:srgbClr val="000088"/>
                </a:solidFill>
                <a:latin typeface="var(--bs-font-monospace)"/>
              </a:rPr>
              <a:t>class</a:t>
            </a:r>
            <a:r>
              <a:rPr lang="en-US" altLang="en-US" sz="1400" dirty="0">
                <a:solidFill>
                  <a:srgbClr val="000000"/>
                </a:solidFill>
                <a:latin typeface="var(--bs-font-monospace)"/>
              </a:rPr>
              <a:t> </a:t>
            </a:r>
            <a:r>
              <a:rPr lang="en-US" altLang="en-US" sz="1400" dirty="0" err="1">
                <a:solidFill>
                  <a:srgbClr val="660066"/>
                </a:solidFill>
                <a:latin typeface="var(--bs-font-monospace)"/>
              </a:rPr>
              <a:t>TestRunner</a:t>
            </a:r>
            <a:r>
              <a:rPr lang="en-US" altLang="en-US" sz="1400" dirty="0">
                <a:solidFill>
                  <a:srgbClr val="000000"/>
                </a:solidFill>
                <a:latin typeface="var(--bs-font-monospace)"/>
              </a:rPr>
              <a:t> </a:t>
            </a:r>
            <a:r>
              <a:rPr lang="en-US" altLang="en-US" sz="1400" dirty="0">
                <a:solidFill>
                  <a:srgbClr val="666600"/>
                </a:solidFill>
                <a:latin typeface="var(--bs-font-monospace)"/>
              </a:rPr>
              <a:t>{</a:t>
            </a:r>
            <a:r>
              <a:rPr lang="en-US" altLang="en-US" sz="1400" dirty="0">
                <a:solidFill>
                  <a:srgbClr val="000000"/>
                </a:solidFill>
                <a:latin typeface="var(--bs-font-monospace)"/>
              </a:rPr>
              <a:t> </a:t>
            </a:r>
            <a:endParaRPr lang="en-US" altLang="en-US" sz="1400" dirty="0" smtClean="0">
              <a:solidFill>
                <a:srgbClr val="000000"/>
              </a:solidFill>
              <a:latin typeface="var(--bs-font-monospace)"/>
            </a:endParaRPr>
          </a:p>
          <a:p>
            <a:pPr eaLnBrk="0" fontAlgn="base" hangingPunct="0">
              <a:lnSpc>
                <a:spcPct val="150000"/>
              </a:lnSpc>
              <a:spcBef>
                <a:spcPct val="0"/>
              </a:spcBef>
              <a:spcAft>
                <a:spcPct val="0"/>
              </a:spcAft>
            </a:pPr>
            <a:r>
              <a:rPr lang="en-US" altLang="en-US" sz="1400" dirty="0">
                <a:solidFill>
                  <a:srgbClr val="000000"/>
                </a:solidFill>
                <a:latin typeface="var(--bs-font-monospace)"/>
              </a:rPr>
              <a:t>	</a:t>
            </a:r>
            <a:r>
              <a:rPr lang="en-US" altLang="en-US" sz="1400" dirty="0" smtClean="0">
                <a:solidFill>
                  <a:srgbClr val="000000"/>
                </a:solidFill>
                <a:latin typeface="var(--bs-font-monospace)"/>
              </a:rPr>
              <a:t>	</a:t>
            </a:r>
            <a:r>
              <a:rPr lang="en-US" altLang="en-US" sz="1400" dirty="0" smtClean="0">
                <a:solidFill>
                  <a:srgbClr val="000088"/>
                </a:solidFill>
                <a:latin typeface="var(--bs-font-monospace)"/>
              </a:rPr>
              <a:t>public</a:t>
            </a:r>
            <a:r>
              <a:rPr lang="en-US" altLang="en-US" sz="1400" dirty="0" smtClean="0">
                <a:solidFill>
                  <a:srgbClr val="000000"/>
                </a:solidFill>
                <a:latin typeface="var(--bs-font-monospace)"/>
              </a:rPr>
              <a:t> </a:t>
            </a:r>
            <a:r>
              <a:rPr lang="en-US" altLang="en-US" sz="1400" dirty="0">
                <a:solidFill>
                  <a:srgbClr val="000088"/>
                </a:solidFill>
                <a:latin typeface="var(--bs-font-monospace)"/>
              </a:rPr>
              <a:t>static</a:t>
            </a:r>
            <a:r>
              <a:rPr lang="en-US" altLang="en-US" sz="1400" dirty="0">
                <a:solidFill>
                  <a:srgbClr val="000000"/>
                </a:solidFill>
                <a:latin typeface="var(--bs-font-monospace)"/>
              </a:rPr>
              <a:t> </a:t>
            </a:r>
            <a:r>
              <a:rPr lang="en-US" altLang="en-US" sz="1400" dirty="0">
                <a:solidFill>
                  <a:srgbClr val="000088"/>
                </a:solidFill>
                <a:latin typeface="var(--bs-font-monospace)"/>
              </a:rPr>
              <a:t>void</a:t>
            </a:r>
            <a:r>
              <a:rPr lang="en-US" altLang="en-US" sz="1400" dirty="0">
                <a:solidFill>
                  <a:srgbClr val="000000"/>
                </a:solidFill>
                <a:latin typeface="var(--bs-font-monospace)"/>
              </a:rPr>
              <a:t> main</a:t>
            </a:r>
            <a:r>
              <a:rPr lang="en-US" altLang="en-US" sz="1400" dirty="0">
                <a:solidFill>
                  <a:srgbClr val="666600"/>
                </a:solidFill>
                <a:latin typeface="var(--bs-font-monospace)"/>
              </a:rPr>
              <a:t>(</a:t>
            </a:r>
            <a:r>
              <a:rPr lang="en-US" altLang="en-US" sz="1400" dirty="0">
                <a:solidFill>
                  <a:srgbClr val="660066"/>
                </a:solidFill>
                <a:latin typeface="var(--bs-font-monospace)"/>
              </a:rPr>
              <a:t>String</a:t>
            </a:r>
            <a:r>
              <a:rPr lang="en-US" altLang="en-US" sz="1400" dirty="0">
                <a:solidFill>
                  <a:srgbClr val="666600"/>
                </a:solidFill>
                <a:latin typeface="var(--bs-font-monospace)"/>
              </a:rPr>
              <a:t>[]</a:t>
            </a:r>
            <a:r>
              <a:rPr lang="en-US" altLang="en-US" sz="1400" dirty="0">
                <a:solidFill>
                  <a:srgbClr val="000000"/>
                </a:solidFill>
                <a:latin typeface="var(--bs-font-monospace)"/>
              </a:rPr>
              <a:t> </a:t>
            </a:r>
            <a:r>
              <a:rPr lang="en-US" altLang="en-US" sz="1400" dirty="0" err="1">
                <a:solidFill>
                  <a:srgbClr val="000000"/>
                </a:solidFill>
                <a:latin typeface="var(--bs-font-monospace)"/>
              </a:rPr>
              <a:t>args</a:t>
            </a:r>
            <a:r>
              <a:rPr lang="en-US" altLang="en-US" sz="1400" dirty="0">
                <a:solidFill>
                  <a:srgbClr val="666600"/>
                </a:solidFill>
                <a:latin typeface="var(--bs-font-monospace)"/>
              </a:rPr>
              <a:t>)</a:t>
            </a:r>
            <a:r>
              <a:rPr lang="en-US" altLang="en-US" sz="1400" dirty="0">
                <a:solidFill>
                  <a:srgbClr val="000000"/>
                </a:solidFill>
                <a:latin typeface="var(--bs-font-monospace)"/>
              </a:rPr>
              <a:t> </a:t>
            </a:r>
            <a:r>
              <a:rPr lang="en-US" altLang="en-US" sz="1400" dirty="0">
                <a:solidFill>
                  <a:srgbClr val="666600"/>
                </a:solidFill>
                <a:latin typeface="var(--bs-font-monospace)"/>
              </a:rPr>
              <a:t>{</a:t>
            </a:r>
            <a:r>
              <a:rPr lang="en-US" altLang="en-US" sz="1400" dirty="0">
                <a:solidFill>
                  <a:srgbClr val="000000"/>
                </a:solidFill>
                <a:latin typeface="var(--bs-font-monospace)"/>
              </a:rPr>
              <a:t> </a:t>
            </a:r>
            <a:endParaRPr lang="en-US" altLang="en-US" sz="1400" dirty="0" smtClean="0">
              <a:solidFill>
                <a:srgbClr val="000000"/>
              </a:solidFill>
              <a:latin typeface="var(--bs-font-monospace)"/>
            </a:endParaRPr>
          </a:p>
          <a:p>
            <a:pPr eaLnBrk="0" fontAlgn="base" hangingPunct="0">
              <a:lnSpc>
                <a:spcPct val="150000"/>
              </a:lnSpc>
              <a:spcBef>
                <a:spcPct val="0"/>
              </a:spcBef>
              <a:spcAft>
                <a:spcPct val="0"/>
              </a:spcAft>
            </a:pPr>
            <a:r>
              <a:rPr lang="en-US" altLang="en-US" sz="1400" dirty="0">
                <a:solidFill>
                  <a:srgbClr val="000000"/>
                </a:solidFill>
                <a:latin typeface="var(--bs-font-monospace)"/>
              </a:rPr>
              <a:t>	</a:t>
            </a:r>
            <a:r>
              <a:rPr lang="en-US" altLang="en-US" sz="1400" dirty="0" smtClean="0">
                <a:solidFill>
                  <a:srgbClr val="000000"/>
                </a:solidFill>
                <a:latin typeface="var(--bs-font-monospace)"/>
              </a:rPr>
              <a:t>		</a:t>
            </a:r>
            <a:r>
              <a:rPr lang="en-US" altLang="en-US" sz="1400" dirty="0" smtClean="0">
                <a:solidFill>
                  <a:srgbClr val="660066"/>
                </a:solidFill>
                <a:latin typeface="var(--bs-font-monospace)"/>
              </a:rPr>
              <a:t>Result</a:t>
            </a:r>
            <a:r>
              <a:rPr lang="en-US" altLang="en-US" sz="1400" dirty="0" smtClean="0">
                <a:solidFill>
                  <a:srgbClr val="000000"/>
                </a:solidFill>
                <a:latin typeface="var(--bs-font-monospace)"/>
              </a:rPr>
              <a:t> </a:t>
            </a:r>
            <a:r>
              <a:rPr lang="en-US" altLang="en-US" sz="1400" dirty="0" err="1">
                <a:solidFill>
                  <a:srgbClr val="000000"/>
                </a:solidFill>
                <a:latin typeface="var(--bs-font-monospace)"/>
              </a:rPr>
              <a:t>result</a:t>
            </a:r>
            <a:r>
              <a:rPr lang="en-US" altLang="en-US" sz="1400" dirty="0">
                <a:solidFill>
                  <a:srgbClr val="000000"/>
                </a:solidFill>
                <a:latin typeface="var(--bs-font-monospace)"/>
              </a:rPr>
              <a:t> </a:t>
            </a:r>
            <a:r>
              <a:rPr lang="en-US" altLang="en-US" sz="1400" dirty="0">
                <a:solidFill>
                  <a:srgbClr val="666600"/>
                </a:solidFill>
                <a:latin typeface="var(--bs-font-monospace)"/>
              </a:rPr>
              <a:t>=</a:t>
            </a:r>
            <a:r>
              <a:rPr lang="en-US" altLang="en-US" sz="1400" dirty="0">
                <a:solidFill>
                  <a:srgbClr val="000000"/>
                </a:solidFill>
                <a:latin typeface="var(--bs-font-monospace)"/>
              </a:rPr>
              <a:t> </a:t>
            </a:r>
            <a:r>
              <a:rPr lang="en-US" altLang="en-US" sz="1400" dirty="0" err="1">
                <a:solidFill>
                  <a:srgbClr val="660066"/>
                </a:solidFill>
                <a:latin typeface="var(--bs-font-monospace)"/>
              </a:rPr>
              <a:t>JUnitCore</a:t>
            </a:r>
            <a:r>
              <a:rPr lang="en-US" altLang="en-US" sz="1400" dirty="0" err="1">
                <a:solidFill>
                  <a:srgbClr val="666600"/>
                </a:solidFill>
                <a:latin typeface="var(--bs-font-monospace)"/>
              </a:rPr>
              <a:t>.</a:t>
            </a:r>
            <a:r>
              <a:rPr lang="en-US" altLang="en-US" sz="1400" dirty="0" err="1">
                <a:solidFill>
                  <a:srgbClr val="000000"/>
                </a:solidFill>
                <a:latin typeface="var(--bs-font-monospace)"/>
              </a:rPr>
              <a:t>runClasses</a:t>
            </a:r>
            <a:r>
              <a:rPr lang="en-US" altLang="en-US" sz="1400" dirty="0">
                <a:solidFill>
                  <a:srgbClr val="666600"/>
                </a:solidFill>
                <a:latin typeface="var(--bs-font-monospace)"/>
              </a:rPr>
              <a:t>(</a:t>
            </a:r>
            <a:r>
              <a:rPr lang="en-US" altLang="en-US" sz="1400" dirty="0" err="1">
                <a:solidFill>
                  <a:srgbClr val="660066"/>
                </a:solidFill>
                <a:latin typeface="var(--bs-font-monospace)"/>
              </a:rPr>
              <a:t>TestJunit</a:t>
            </a:r>
            <a:r>
              <a:rPr lang="en-US" altLang="en-US" sz="1400" dirty="0" err="1">
                <a:solidFill>
                  <a:srgbClr val="666600"/>
                </a:solidFill>
                <a:latin typeface="var(--bs-font-monospace)"/>
              </a:rPr>
              <a:t>.</a:t>
            </a:r>
            <a:r>
              <a:rPr lang="en-US" altLang="en-US" sz="1400" dirty="0" err="1">
                <a:solidFill>
                  <a:srgbClr val="000088"/>
                </a:solidFill>
                <a:latin typeface="var(--bs-font-monospace)"/>
              </a:rPr>
              <a:t>class</a:t>
            </a:r>
            <a:r>
              <a:rPr lang="en-US" altLang="en-US" sz="1400" dirty="0" smtClean="0">
                <a:solidFill>
                  <a:srgbClr val="666600"/>
                </a:solidFill>
                <a:latin typeface="var(--bs-font-monospace)"/>
              </a:rPr>
              <a:t>);</a:t>
            </a:r>
            <a:endParaRPr lang="en-US" altLang="en-US" sz="1400" dirty="0" smtClean="0">
              <a:solidFill>
                <a:srgbClr val="000000"/>
              </a:solidFill>
              <a:latin typeface="var(--bs-font-monospace)"/>
            </a:endParaRPr>
          </a:p>
          <a:p>
            <a:pPr eaLnBrk="0" fontAlgn="base" hangingPunct="0">
              <a:lnSpc>
                <a:spcPct val="150000"/>
              </a:lnSpc>
              <a:spcBef>
                <a:spcPct val="0"/>
              </a:spcBef>
              <a:spcAft>
                <a:spcPct val="0"/>
              </a:spcAft>
            </a:pPr>
            <a:r>
              <a:rPr lang="en-US" altLang="en-US" sz="1400" dirty="0">
                <a:solidFill>
                  <a:srgbClr val="000000"/>
                </a:solidFill>
                <a:latin typeface="var(--bs-font-monospace)"/>
              </a:rPr>
              <a:t>	</a:t>
            </a:r>
            <a:r>
              <a:rPr lang="en-US" altLang="en-US" sz="1400" dirty="0" smtClean="0">
                <a:solidFill>
                  <a:srgbClr val="000000"/>
                </a:solidFill>
                <a:latin typeface="var(--bs-font-monospace)"/>
              </a:rPr>
              <a:t>			</a:t>
            </a:r>
            <a:r>
              <a:rPr lang="en-US" altLang="en-US" sz="1400" dirty="0" smtClean="0">
                <a:solidFill>
                  <a:srgbClr val="000088"/>
                </a:solidFill>
                <a:latin typeface="var(--bs-font-monospace)"/>
              </a:rPr>
              <a:t>for</a:t>
            </a:r>
            <a:r>
              <a:rPr lang="en-US" altLang="en-US" sz="1400" dirty="0" smtClean="0">
                <a:solidFill>
                  <a:srgbClr val="000000"/>
                </a:solidFill>
                <a:latin typeface="var(--bs-font-monospace)"/>
              </a:rPr>
              <a:t> </a:t>
            </a:r>
            <a:r>
              <a:rPr lang="en-US" altLang="en-US" sz="1400" dirty="0">
                <a:solidFill>
                  <a:srgbClr val="666600"/>
                </a:solidFill>
                <a:latin typeface="var(--bs-font-monospace)"/>
              </a:rPr>
              <a:t>(</a:t>
            </a:r>
            <a:r>
              <a:rPr lang="en-US" altLang="en-US" sz="1400" dirty="0">
                <a:solidFill>
                  <a:srgbClr val="660066"/>
                </a:solidFill>
                <a:latin typeface="var(--bs-font-monospace)"/>
              </a:rPr>
              <a:t>Failure</a:t>
            </a:r>
            <a:r>
              <a:rPr lang="en-US" altLang="en-US" sz="1400" dirty="0">
                <a:solidFill>
                  <a:srgbClr val="000000"/>
                </a:solidFill>
                <a:latin typeface="var(--bs-font-monospace)"/>
              </a:rPr>
              <a:t> </a:t>
            </a:r>
            <a:r>
              <a:rPr lang="en-US" altLang="en-US" sz="1400" dirty="0" err="1">
                <a:solidFill>
                  <a:srgbClr val="000000"/>
                </a:solidFill>
                <a:latin typeface="var(--bs-font-monospace)"/>
              </a:rPr>
              <a:t>failure</a:t>
            </a:r>
            <a:r>
              <a:rPr lang="en-US" altLang="en-US" sz="1400" dirty="0">
                <a:solidFill>
                  <a:srgbClr val="000000"/>
                </a:solidFill>
                <a:latin typeface="var(--bs-font-monospace)"/>
              </a:rPr>
              <a:t> </a:t>
            </a:r>
            <a:r>
              <a:rPr lang="en-US" altLang="en-US" sz="1400" dirty="0">
                <a:solidFill>
                  <a:srgbClr val="666600"/>
                </a:solidFill>
                <a:latin typeface="var(--bs-font-monospace)"/>
              </a:rPr>
              <a:t>:</a:t>
            </a:r>
            <a:r>
              <a:rPr lang="en-US" altLang="en-US" sz="1400" dirty="0">
                <a:solidFill>
                  <a:srgbClr val="000000"/>
                </a:solidFill>
                <a:latin typeface="var(--bs-font-monospace)"/>
              </a:rPr>
              <a:t> </a:t>
            </a:r>
            <a:r>
              <a:rPr lang="en-US" altLang="en-US" sz="1400" dirty="0" err="1">
                <a:solidFill>
                  <a:srgbClr val="000000"/>
                </a:solidFill>
                <a:latin typeface="var(--bs-font-monospace)"/>
              </a:rPr>
              <a:t>result</a:t>
            </a:r>
            <a:r>
              <a:rPr lang="en-US" altLang="en-US" sz="1400" dirty="0" err="1">
                <a:solidFill>
                  <a:srgbClr val="666600"/>
                </a:solidFill>
                <a:latin typeface="var(--bs-font-monospace)"/>
              </a:rPr>
              <a:t>.</a:t>
            </a:r>
            <a:r>
              <a:rPr lang="en-US" altLang="en-US" sz="1400" dirty="0" err="1">
                <a:solidFill>
                  <a:srgbClr val="000000"/>
                </a:solidFill>
                <a:latin typeface="var(--bs-font-monospace)"/>
              </a:rPr>
              <a:t>getFailures</a:t>
            </a:r>
            <a:r>
              <a:rPr lang="en-US" altLang="en-US" sz="1400" dirty="0" smtClean="0">
                <a:solidFill>
                  <a:srgbClr val="666600"/>
                </a:solidFill>
                <a:latin typeface="var(--bs-font-monospace)"/>
              </a:rPr>
              <a:t>())</a:t>
            </a:r>
            <a:r>
              <a:rPr lang="en-US" altLang="en-US" sz="1400" dirty="0" smtClean="0">
                <a:solidFill>
                  <a:srgbClr val="000000"/>
                </a:solidFill>
                <a:latin typeface="var(--bs-font-monospace)"/>
              </a:rPr>
              <a:t> </a:t>
            </a:r>
            <a:r>
              <a:rPr lang="en-US" altLang="en-US" sz="1400" dirty="0" smtClean="0">
                <a:solidFill>
                  <a:srgbClr val="666600"/>
                </a:solidFill>
                <a:latin typeface="var(--bs-font-monospace)"/>
              </a:rPr>
              <a:t>{</a:t>
            </a:r>
            <a:r>
              <a:rPr lang="en-US" altLang="en-US" sz="1400" dirty="0" smtClean="0">
                <a:solidFill>
                  <a:srgbClr val="000000"/>
                </a:solidFill>
                <a:latin typeface="var(--bs-font-monospace)"/>
              </a:rPr>
              <a:t> </a:t>
            </a:r>
          </a:p>
          <a:p>
            <a:pPr eaLnBrk="0" fontAlgn="base" hangingPunct="0">
              <a:lnSpc>
                <a:spcPct val="150000"/>
              </a:lnSpc>
              <a:spcBef>
                <a:spcPct val="0"/>
              </a:spcBef>
              <a:spcAft>
                <a:spcPct val="0"/>
              </a:spcAft>
            </a:pPr>
            <a:r>
              <a:rPr lang="en-US" altLang="en-US" sz="1400" dirty="0" smtClean="0">
                <a:solidFill>
                  <a:srgbClr val="000000"/>
                </a:solidFill>
                <a:latin typeface="var(--bs-font-monospace)"/>
              </a:rPr>
              <a:t>					</a:t>
            </a:r>
            <a:r>
              <a:rPr lang="en-US" altLang="en-US" sz="1400" dirty="0" err="1" smtClean="0">
                <a:solidFill>
                  <a:srgbClr val="660066"/>
                </a:solidFill>
                <a:latin typeface="var(--bs-font-monospace)"/>
              </a:rPr>
              <a:t>System</a:t>
            </a:r>
            <a:r>
              <a:rPr lang="en-US" altLang="en-US" sz="1400" dirty="0" err="1" smtClean="0">
                <a:solidFill>
                  <a:srgbClr val="666600"/>
                </a:solidFill>
                <a:latin typeface="var(--bs-font-monospace)"/>
              </a:rPr>
              <a:t>.</a:t>
            </a:r>
            <a:r>
              <a:rPr lang="en-US" altLang="en-US" sz="1400" dirty="0" err="1" smtClean="0">
                <a:solidFill>
                  <a:srgbClr val="000088"/>
                </a:solidFill>
                <a:latin typeface="var(--bs-font-monospace)"/>
              </a:rPr>
              <a:t>out</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println</a:t>
            </a:r>
            <a:r>
              <a:rPr lang="en-US" altLang="en-US" sz="1400" dirty="0" smtClean="0">
                <a:solidFill>
                  <a:srgbClr val="666600"/>
                </a:solidFill>
                <a:latin typeface="var(--bs-font-monospace)"/>
              </a:rPr>
              <a:t>(</a:t>
            </a:r>
            <a:r>
              <a:rPr lang="en-US" altLang="en-US" sz="1400" dirty="0" err="1" smtClean="0">
                <a:solidFill>
                  <a:srgbClr val="000000"/>
                </a:solidFill>
                <a:latin typeface="var(--bs-font-monospace)"/>
              </a:rPr>
              <a:t>failure</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toString</a:t>
            </a:r>
            <a:r>
              <a:rPr lang="en-US" altLang="en-US" sz="1400" dirty="0" smtClean="0">
                <a:solidFill>
                  <a:srgbClr val="666600"/>
                </a:solidFill>
                <a:latin typeface="var(--bs-font-monospace)"/>
              </a:rPr>
              <a:t>());</a:t>
            </a:r>
            <a:endParaRPr lang="en-US" altLang="en-US" sz="1400" dirty="0" smtClean="0">
              <a:solidFill>
                <a:srgbClr val="000000"/>
              </a:solidFill>
              <a:latin typeface="var(--bs-font-monospace)"/>
            </a:endParaRPr>
          </a:p>
          <a:p>
            <a:pPr eaLnBrk="0" fontAlgn="base" hangingPunct="0">
              <a:lnSpc>
                <a:spcPct val="150000"/>
              </a:lnSpc>
              <a:spcBef>
                <a:spcPct val="0"/>
              </a:spcBef>
              <a:spcAft>
                <a:spcPct val="0"/>
              </a:spcAft>
            </a:pPr>
            <a:r>
              <a:rPr lang="en-US" altLang="en-US" sz="1400" dirty="0">
                <a:solidFill>
                  <a:srgbClr val="000000"/>
                </a:solidFill>
                <a:latin typeface="var(--bs-font-monospace)"/>
              </a:rPr>
              <a:t>	</a:t>
            </a:r>
            <a:r>
              <a:rPr lang="en-US" altLang="en-US" sz="1400" dirty="0" smtClean="0">
                <a:solidFill>
                  <a:srgbClr val="000000"/>
                </a:solidFill>
                <a:latin typeface="var(--bs-font-monospace)"/>
              </a:rPr>
              <a:t>			</a:t>
            </a:r>
            <a:r>
              <a:rPr lang="en-US" altLang="en-US" sz="1400" dirty="0" smtClean="0">
                <a:solidFill>
                  <a:srgbClr val="666600"/>
                </a:solidFill>
                <a:latin typeface="var(--bs-font-monospace)"/>
              </a:rPr>
              <a:t>}</a:t>
            </a:r>
            <a:r>
              <a:rPr lang="en-US" altLang="en-US" sz="1400" dirty="0" smtClean="0">
                <a:solidFill>
                  <a:srgbClr val="000000"/>
                </a:solidFill>
                <a:latin typeface="var(--bs-font-monospace)"/>
              </a:rPr>
              <a:t> </a:t>
            </a:r>
          </a:p>
          <a:p>
            <a:pPr eaLnBrk="0" fontAlgn="base" hangingPunct="0">
              <a:lnSpc>
                <a:spcPct val="150000"/>
              </a:lnSpc>
              <a:spcBef>
                <a:spcPct val="0"/>
              </a:spcBef>
              <a:spcAft>
                <a:spcPct val="0"/>
              </a:spcAft>
            </a:pPr>
            <a:r>
              <a:rPr lang="en-US" altLang="en-US" sz="1400" dirty="0">
                <a:solidFill>
                  <a:srgbClr val="000000"/>
                </a:solidFill>
                <a:latin typeface="var(--bs-font-monospace)"/>
              </a:rPr>
              <a:t>	</a:t>
            </a:r>
            <a:r>
              <a:rPr lang="en-US" altLang="en-US" sz="1400" dirty="0" smtClean="0">
                <a:solidFill>
                  <a:srgbClr val="000000"/>
                </a:solidFill>
                <a:latin typeface="var(--bs-font-monospace)"/>
              </a:rPr>
              <a:t>		</a:t>
            </a:r>
            <a:r>
              <a:rPr lang="en-US" altLang="en-US" sz="1400" dirty="0" err="1" smtClean="0">
                <a:solidFill>
                  <a:srgbClr val="660066"/>
                </a:solidFill>
                <a:latin typeface="var(--bs-font-monospace)"/>
              </a:rPr>
              <a:t>System</a:t>
            </a:r>
            <a:r>
              <a:rPr lang="en-US" altLang="en-US" sz="1400" dirty="0" err="1" smtClean="0">
                <a:solidFill>
                  <a:srgbClr val="666600"/>
                </a:solidFill>
                <a:latin typeface="var(--bs-font-monospace)"/>
              </a:rPr>
              <a:t>.</a:t>
            </a:r>
            <a:r>
              <a:rPr lang="en-US" altLang="en-US" sz="1400" dirty="0" err="1" smtClean="0">
                <a:solidFill>
                  <a:srgbClr val="000088"/>
                </a:solidFill>
                <a:latin typeface="var(--bs-font-monospace)"/>
              </a:rPr>
              <a:t>out</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println</a:t>
            </a:r>
            <a:r>
              <a:rPr lang="en-US" altLang="en-US" sz="1400" dirty="0" smtClean="0">
                <a:solidFill>
                  <a:srgbClr val="666600"/>
                </a:solidFill>
                <a:latin typeface="var(--bs-font-monospace)"/>
              </a:rPr>
              <a:t>(</a:t>
            </a:r>
            <a:r>
              <a:rPr lang="en-US" altLang="en-US" sz="1400" dirty="0" err="1" smtClean="0">
                <a:solidFill>
                  <a:srgbClr val="000000"/>
                </a:solidFill>
                <a:latin typeface="var(--bs-font-monospace)"/>
              </a:rPr>
              <a:t>result</a:t>
            </a:r>
            <a:r>
              <a:rPr lang="en-US" altLang="en-US" sz="1400" dirty="0" err="1" smtClean="0">
                <a:solidFill>
                  <a:srgbClr val="666600"/>
                </a:solidFill>
                <a:latin typeface="var(--bs-font-monospace)"/>
              </a:rPr>
              <a:t>.</a:t>
            </a:r>
            <a:r>
              <a:rPr lang="en-US" altLang="en-US" sz="1400" dirty="0" err="1" smtClean="0">
                <a:solidFill>
                  <a:srgbClr val="000000"/>
                </a:solidFill>
                <a:latin typeface="var(--bs-font-monospace)"/>
              </a:rPr>
              <a:t>wasSuccessful</a:t>
            </a:r>
            <a:r>
              <a:rPr lang="en-US" altLang="en-US" sz="1400" dirty="0" smtClean="0">
                <a:solidFill>
                  <a:srgbClr val="666600"/>
                </a:solidFill>
                <a:latin typeface="var(--bs-font-monospace)"/>
              </a:rPr>
              <a:t>());</a:t>
            </a:r>
          </a:p>
          <a:p>
            <a:pPr eaLnBrk="0" fontAlgn="base" hangingPunct="0">
              <a:lnSpc>
                <a:spcPct val="150000"/>
              </a:lnSpc>
              <a:spcBef>
                <a:spcPct val="0"/>
              </a:spcBef>
              <a:spcAft>
                <a:spcPct val="0"/>
              </a:spcAft>
            </a:pPr>
            <a:r>
              <a:rPr lang="en-US" altLang="en-US" sz="1400" dirty="0">
                <a:solidFill>
                  <a:srgbClr val="666600"/>
                </a:solidFill>
                <a:latin typeface="var(--bs-font-monospace)"/>
              </a:rPr>
              <a:t>	</a:t>
            </a:r>
            <a:r>
              <a:rPr lang="en-US" altLang="en-US" sz="1400" dirty="0" smtClean="0">
                <a:solidFill>
                  <a:srgbClr val="666600"/>
                </a:solidFill>
                <a:latin typeface="var(--bs-font-monospace)"/>
              </a:rPr>
              <a:t>	}</a:t>
            </a:r>
          </a:p>
          <a:p>
            <a:pPr eaLnBrk="0" fontAlgn="base" hangingPunct="0">
              <a:lnSpc>
                <a:spcPct val="150000"/>
              </a:lnSpc>
              <a:spcBef>
                <a:spcPct val="0"/>
              </a:spcBef>
              <a:spcAft>
                <a:spcPct val="0"/>
              </a:spcAft>
            </a:pPr>
            <a:r>
              <a:rPr lang="en-US" altLang="en-US" sz="1400" dirty="0">
                <a:solidFill>
                  <a:srgbClr val="666600"/>
                </a:solidFill>
                <a:latin typeface="var(--bs-font-monospace)"/>
              </a:rPr>
              <a:t>	</a:t>
            </a:r>
            <a:r>
              <a:rPr lang="en-US" altLang="en-US" sz="1400" dirty="0" smtClean="0">
                <a:solidFill>
                  <a:srgbClr val="666600"/>
                </a:solidFill>
                <a:latin typeface="var(--bs-font-monospace)"/>
              </a:rPr>
              <a:t>}</a:t>
            </a:r>
            <a:r>
              <a:rPr lang="en-US" altLang="en-US" sz="1400" dirty="0" smtClean="0">
                <a:solidFill>
                  <a:srgbClr val="000000"/>
                </a:solidFill>
                <a:latin typeface="var(--bs-font-monospace)"/>
              </a:rPr>
              <a:t> </a:t>
            </a:r>
            <a:endParaRPr lang="en-US" altLang="en-US" sz="2400" dirty="0">
              <a:latin typeface="Arial" panose="020B0604020202020204" pitchFamily="34" charset="0"/>
            </a:endParaRPr>
          </a:p>
        </p:txBody>
      </p:sp>
    </p:spTree>
    <p:extLst>
      <p:ext uri="{BB962C8B-B14F-4D97-AF65-F5344CB8AC3E}">
        <p14:creationId xmlns:p14="http://schemas.microsoft.com/office/powerpoint/2010/main" val="42059703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smtClean="0"/>
              <a:t>Local </a:t>
            </a:r>
            <a:r>
              <a:rPr lang="en-US" sz="4000" b="1" i="1" dirty="0"/>
              <a:t>Environment </a:t>
            </a:r>
            <a:r>
              <a:rPr lang="en-US" sz="4000" b="1" i="1" dirty="0" smtClean="0"/>
              <a:t>Setup (Cont.)</a:t>
            </a:r>
            <a:endParaRPr lang="en-US" sz="4000" b="1" i="1" dirty="0"/>
          </a:p>
        </p:txBody>
      </p:sp>
      <p:sp>
        <p:nvSpPr>
          <p:cNvPr id="3" name="Content Placeholder 2"/>
          <p:cNvSpPr>
            <a:spLocks noGrp="1"/>
          </p:cNvSpPr>
          <p:nvPr>
            <p:ph idx="1"/>
          </p:nvPr>
        </p:nvSpPr>
        <p:spPr>
          <a:xfrm>
            <a:off x="574766" y="1229675"/>
            <a:ext cx="11025049" cy="5142471"/>
          </a:xfrm>
        </p:spPr>
        <p:txBody>
          <a:bodyPr>
            <a:normAutofit fontScale="92500" lnSpcReduction="20000"/>
          </a:bodyPr>
          <a:lstStyle/>
          <a:p>
            <a:pPr>
              <a:lnSpc>
                <a:spcPct val="150000"/>
              </a:lnSpc>
            </a:pPr>
            <a:r>
              <a:rPr lang="en-US" dirty="0" smtClean="0"/>
              <a:t>Step </a:t>
            </a:r>
            <a:r>
              <a:rPr lang="en-US" dirty="0"/>
              <a:t>7: Verify the </a:t>
            </a:r>
            <a:r>
              <a:rPr lang="en-US" dirty="0" smtClean="0"/>
              <a:t>Result</a:t>
            </a:r>
          </a:p>
          <a:p>
            <a:pPr>
              <a:lnSpc>
                <a:spcPct val="150000"/>
              </a:lnSpc>
            </a:pPr>
            <a:r>
              <a:rPr lang="en-US" dirty="0"/>
              <a:t>Compile the classes using </a:t>
            </a:r>
            <a:r>
              <a:rPr lang="en-US" b="1" dirty="0" err="1"/>
              <a:t>javac</a:t>
            </a:r>
            <a:r>
              <a:rPr lang="en-US" dirty="0"/>
              <a:t> compiler as follows −</a:t>
            </a:r>
          </a:p>
          <a:p>
            <a:pPr marL="0" indent="0">
              <a:lnSpc>
                <a:spcPct val="150000"/>
              </a:lnSpc>
              <a:buNone/>
            </a:pPr>
            <a:endParaRPr lang="en-US" dirty="0" smtClean="0"/>
          </a:p>
          <a:p>
            <a:pPr>
              <a:lnSpc>
                <a:spcPct val="150000"/>
              </a:lnSpc>
            </a:pPr>
            <a:r>
              <a:rPr lang="en-US" dirty="0" smtClean="0"/>
              <a:t>Now </a:t>
            </a:r>
            <a:r>
              <a:rPr lang="en-US" dirty="0"/>
              <a:t>run the Test Runner to see the result as follows </a:t>
            </a:r>
            <a:r>
              <a:rPr lang="en-US" dirty="0" smtClean="0"/>
              <a:t>−</a:t>
            </a:r>
            <a:r>
              <a:rPr lang="en-US" dirty="0"/>
              <a:t/>
            </a:r>
            <a:br>
              <a:rPr lang="en-US" dirty="0"/>
            </a:br>
            <a:endParaRPr lang="en-US" dirty="0" smtClean="0"/>
          </a:p>
          <a:p>
            <a:pPr>
              <a:lnSpc>
                <a:spcPct val="150000"/>
              </a:lnSpc>
            </a:pPr>
            <a:r>
              <a:rPr lang="en-US" dirty="0" smtClean="0"/>
              <a:t>Verify </a:t>
            </a:r>
            <a:r>
              <a:rPr lang="en-US" dirty="0"/>
              <a:t>the output.</a:t>
            </a:r>
          </a:p>
          <a:p>
            <a:pPr>
              <a:lnSpc>
                <a:spcPct val="150000"/>
              </a:lnSpc>
            </a:pPr>
            <a:r>
              <a:rPr lang="en-US" dirty="0"/>
              <a:t/>
            </a:r>
            <a:br>
              <a:rPr lang="en-US" dirty="0"/>
            </a:b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19</a:t>
            </a:fld>
            <a:endParaRPr lang="en-US" dirty="0"/>
          </a:p>
        </p:txBody>
      </p:sp>
      <p:sp>
        <p:nvSpPr>
          <p:cNvPr id="6" name="Rectangle 1"/>
          <p:cNvSpPr>
            <a:spLocks noChangeArrowheads="1"/>
          </p:cNvSpPr>
          <p:nvPr/>
        </p:nvSpPr>
        <p:spPr bwMode="auto">
          <a:xfrm>
            <a:off x="888274" y="2628797"/>
            <a:ext cx="7432765" cy="41549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var(--bs-font-monospace)"/>
              </a:rPr>
              <a:t>C:\JUNIT_WORKSPACE&gt;javac TestJunit.java TestRunner.java </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2"/>
          <p:cNvSpPr>
            <a:spLocks noChangeArrowheads="1"/>
          </p:cNvSpPr>
          <p:nvPr/>
        </p:nvSpPr>
        <p:spPr bwMode="auto">
          <a:xfrm>
            <a:off x="888274" y="3808416"/>
            <a:ext cx="7432765" cy="41549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var(--bs-font-monospace)"/>
              </a:rPr>
              <a:t>C:\JUNIT_WORKSPACE&gt;java </a:t>
            </a:r>
            <a:r>
              <a:rPr kumimoji="0" lang="en-US" altLang="en-US" sz="1600" b="0" i="0" u="none" strike="noStrike" cap="none" normalizeH="0" baseline="0" dirty="0" err="1" smtClean="0">
                <a:ln>
                  <a:noFill/>
                </a:ln>
                <a:solidFill>
                  <a:srgbClr val="000000"/>
                </a:solidFill>
                <a:effectLst/>
                <a:latin typeface="var(--bs-font-monospace)"/>
              </a:rPr>
              <a:t>TestRunner</a:t>
            </a:r>
            <a:r>
              <a:rPr kumimoji="0" lang="en-US" altLang="en-US" sz="1600" b="0" i="0" u="none" strike="noStrike" cap="none" normalizeH="0" baseline="0" dirty="0" smtClean="0">
                <a:ln>
                  <a:noFill/>
                </a:ln>
                <a:solidFill>
                  <a:srgbClr val="000000"/>
                </a:solidFill>
                <a:effectLst/>
                <a:latin typeface="var(--bs-font-monospace)"/>
              </a:rPr>
              <a:t> </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3"/>
          <p:cNvSpPr>
            <a:spLocks noChangeArrowheads="1"/>
          </p:cNvSpPr>
          <p:nvPr/>
        </p:nvSpPr>
        <p:spPr bwMode="auto">
          <a:xfrm>
            <a:off x="992776" y="5005543"/>
            <a:ext cx="3683726" cy="36984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var(--bs-font-monospace)"/>
              </a:rPr>
              <a:t>true </a:t>
            </a:r>
            <a:endParaRPr kumimoji="0" lang="en-US" altLang="en-US" sz="16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746647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16930"/>
            <a:ext cx="11025050" cy="1112745"/>
          </a:xfrm>
        </p:spPr>
        <p:txBody>
          <a:bodyPr>
            <a:noAutofit/>
          </a:bodyPr>
          <a:lstStyle/>
          <a:p>
            <a:r>
              <a:rPr lang="en-US" sz="4000" b="1" i="1" dirty="0"/>
              <a:t>JUnit integration</a:t>
            </a:r>
          </a:p>
        </p:txBody>
      </p:sp>
      <p:sp>
        <p:nvSpPr>
          <p:cNvPr id="3" name="Content Placeholder 2"/>
          <p:cNvSpPr>
            <a:spLocks noGrp="1"/>
          </p:cNvSpPr>
          <p:nvPr>
            <p:ph idx="1"/>
          </p:nvPr>
        </p:nvSpPr>
        <p:spPr>
          <a:xfrm>
            <a:off x="574766" y="1229675"/>
            <a:ext cx="11025049" cy="5142471"/>
          </a:xfrm>
        </p:spPr>
        <p:txBody>
          <a:bodyPr>
            <a:normAutofit lnSpcReduction="10000"/>
          </a:bodyPr>
          <a:lstStyle/>
          <a:p>
            <a:pPr>
              <a:lnSpc>
                <a:spcPct val="150000"/>
              </a:lnSpc>
            </a:pPr>
            <a:r>
              <a:rPr lang="en-US" dirty="0"/>
              <a:t>JUnit is a </a:t>
            </a:r>
            <a:r>
              <a:rPr lang="en-US" b="1" dirty="0"/>
              <a:t>Regression Testing Framework</a:t>
            </a:r>
            <a:r>
              <a:rPr lang="en-US" dirty="0"/>
              <a:t> used by developers to implement unit testing in Java, and accelerate programming speed and increase the quality of </a:t>
            </a:r>
            <a:r>
              <a:rPr lang="en-US" dirty="0" smtClean="0"/>
              <a:t>code.</a:t>
            </a:r>
          </a:p>
          <a:p>
            <a:pPr>
              <a:lnSpc>
                <a:spcPct val="150000"/>
              </a:lnSpc>
            </a:pPr>
            <a:r>
              <a:rPr lang="en-US" dirty="0" smtClean="0"/>
              <a:t>JUnit </a:t>
            </a:r>
            <a:r>
              <a:rPr lang="en-US" dirty="0"/>
              <a:t>Framework can be easily integrated with either of the following −</a:t>
            </a:r>
          </a:p>
          <a:p>
            <a:pPr lvl="1">
              <a:lnSpc>
                <a:spcPct val="150000"/>
              </a:lnSpc>
            </a:pPr>
            <a:r>
              <a:rPr lang="en-US" dirty="0" smtClean="0"/>
              <a:t>Eclipse /Git</a:t>
            </a:r>
            <a:endParaRPr lang="en-US" dirty="0"/>
          </a:p>
          <a:p>
            <a:pPr lvl="1">
              <a:lnSpc>
                <a:spcPct val="150000"/>
              </a:lnSpc>
            </a:pPr>
            <a:r>
              <a:rPr lang="en-US" dirty="0" smtClean="0"/>
              <a:t>Ant / Maven</a:t>
            </a:r>
          </a:p>
          <a:p>
            <a:pPr lvl="1">
              <a:lnSpc>
                <a:spcPct val="150000"/>
              </a:lnSpc>
            </a:pPr>
            <a:r>
              <a:rPr lang="en-US" smtClean="0"/>
              <a:t>Junit</a:t>
            </a:r>
            <a:endParaRPr lang="en-US" dirty="0" smtClean="0"/>
          </a:p>
          <a:p>
            <a:pPr lvl="1">
              <a:lnSpc>
                <a:spcPct val="150000"/>
              </a:lnSpc>
            </a:pPr>
            <a:r>
              <a:rPr lang="en-US" dirty="0" smtClean="0"/>
              <a:t>Jenkins</a:t>
            </a:r>
            <a:r>
              <a:rPr lang="en-US" dirty="0"/>
              <a:t> </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20</a:t>
            </a:fld>
            <a:endParaRPr lang="en-US" dirty="0"/>
          </a:p>
        </p:txBody>
      </p:sp>
    </p:spTree>
    <p:extLst>
      <p:ext uri="{BB962C8B-B14F-4D97-AF65-F5344CB8AC3E}">
        <p14:creationId xmlns:p14="http://schemas.microsoft.com/office/powerpoint/2010/main" val="35515915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p:txBody>
          <a:bodyPr>
            <a:noAutofit/>
          </a:bodyPr>
          <a:lstStyle/>
          <a:p>
            <a:pPr marL="0" indent="0" algn="ctr">
              <a:buNone/>
            </a:pPr>
            <a:r>
              <a:rPr lang="en-US" sz="23900" dirty="0" smtClean="0"/>
              <a:t>…?</a:t>
            </a:r>
            <a:endParaRPr lang="en-US" sz="23900" dirty="0"/>
          </a:p>
        </p:txBody>
      </p:sp>
      <p:sp>
        <p:nvSpPr>
          <p:cNvPr id="4" name="Slide Number Placeholder 3"/>
          <p:cNvSpPr>
            <a:spLocks noGrp="1"/>
          </p:cNvSpPr>
          <p:nvPr>
            <p:ph type="sldNum" sz="quarter" idx="12"/>
          </p:nvPr>
        </p:nvSpPr>
        <p:spPr/>
        <p:txBody>
          <a:bodyPr/>
          <a:lstStyle/>
          <a:p>
            <a:fld id="{18925C6B-C1FE-4297-863E-68E85899D6B2}" type="slidenum">
              <a:rPr lang="en-US" smtClean="0"/>
              <a:t>21</a:t>
            </a:fld>
            <a:endParaRPr lang="en-US"/>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10301</TotalTime>
  <Words>802</Words>
  <Application>Microsoft Office PowerPoint</Application>
  <PresentationFormat>Widescreen</PresentationFormat>
  <Paragraphs>158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var(--bs-font-monospace)</vt:lpstr>
      <vt:lpstr>Wingdings</vt:lpstr>
      <vt:lpstr>Office Theme</vt:lpstr>
      <vt:lpstr>Lecture-14</vt:lpstr>
      <vt:lpstr>Contents</vt:lpstr>
      <vt:lpstr>Testing</vt:lpstr>
      <vt:lpstr>Testing (Cont.)</vt:lpstr>
      <vt:lpstr>Unit Testing</vt:lpstr>
      <vt:lpstr>Integration Testing</vt:lpstr>
      <vt:lpstr>System Testing</vt:lpstr>
      <vt:lpstr>Manual and Automated Testing</vt:lpstr>
      <vt:lpstr>Testing in DevOps</vt:lpstr>
      <vt:lpstr>DevOps Testing Tools</vt:lpstr>
      <vt:lpstr>JUnit</vt:lpstr>
      <vt:lpstr>JUnit Features</vt:lpstr>
      <vt:lpstr>JUnit Features (Cont.)</vt:lpstr>
      <vt:lpstr>Local Environment Setup</vt:lpstr>
      <vt:lpstr>Local Environment Setup (Cont.)</vt:lpstr>
      <vt:lpstr>Local Environment Setup (Cont.)</vt:lpstr>
      <vt:lpstr>Local Environment Setup (Cont.)</vt:lpstr>
      <vt:lpstr>Local Environment Setup (Cont.)</vt:lpstr>
      <vt:lpstr>Local Environment Setup (Cont.)</vt:lpstr>
      <vt:lpstr>JUnit integration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Sharif Hussain</cp:lastModifiedBy>
  <cp:revision>1407</cp:revision>
  <dcterms:created xsi:type="dcterms:W3CDTF">2017-02-21T04:58:17Z</dcterms:created>
  <dcterms:modified xsi:type="dcterms:W3CDTF">2022-05-25T07:32:56Z</dcterms:modified>
</cp:coreProperties>
</file>