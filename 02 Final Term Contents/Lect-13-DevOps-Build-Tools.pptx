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314" r:id="rId2"/>
    <p:sldId id="384" r:id="rId3"/>
    <p:sldId id="388" r:id="rId4"/>
    <p:sldId id="387" r:id="rId5"/>
    <p:sldId id="389" r:id="rId6"/>
    <p:sldId id="390" r:id="rId7"/>
    <p:sldId id="393" r:id="rId8"/>
    <p:sldId id="392" r:id="rId9"/>
    <p:sldId id="394" r:id="rId10"/>
    <p:sldId id="396" r:id="rId11"/>
    <p:sldId id="417" r:id="rId12"/>
    <p:sldId id="418" r:id="rId13"/>
    <p:sldId id="419" r:id="rId14"/>
    <p:sldId id="395" r:id="rId15"/>
    <p:sldId id="397" r:id="rId16"/>
    <p:sldId id="398" r:id="rId17"/>
    <p:sldId id="399" r:id="rId18"/>
    <p:sldId id="400" r:id="rId19"/>
    <p:sldId id="402" r:id="rId20"/>
    <p:sldId id="403" r:id="rId21"/>
    <p:sldId id="404" r:id="rId22"/>
    <p:sldId id="405" r:id="rId23"/>
    <p:sldId id="406" r:id="rId24"/>
    <p:sldId id="407" r:id="rId25"/>
    <p:sldId id="410" r:id="rId26"/>
    <p:sldId id="409" r:id="rId27"/>
    <p:sldId id="411" r:id="rId28"/>
    <p:sldId id="412" r:id="rId29"/>
    <p:sldId id="413" r:id="rId30"/>
    <p:sldId id="414" r:id="rId31"/>
    <p:sldId id="415" r:id="rId32"/>
    <p:sldId id="416" r:id="rId33"/>
    <p:sldId id="304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94" autoAdjust="0"/>
    <p:restoredTop sz="94660"/>
  </p:normalViewPr>
  <p:slideViewPr>
    <p:cSldViewPr snapToGrid="0">
      <p:cViewPr varScale="1">
        <p:scale>
          <a:sx n="73" d="100"/>
          <a:sy n="73" d="100"/>
        </p:scale>
        <p:origin x="6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38C529-43AD-492C-BD00-7663F000CDBF}" type="datetimeFigureOut">
              <a:rPr lang="en-US" smtClean="0"/>
              <a:t>5/24/2022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45CC1E-72FA-4E57-BA7F-FC1221F77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550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3ABFB-0481-4CC5-ABF9-2C4CE9D12409}" type="datetime1">
              <a:rPr lang="en-US" smtClean="0"/>
              <a:t>5/24/2022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25C6B-C1FE-4297-863E-68E85899D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215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1DBEC-91FA-447A-8AB9-A8DB16DAAB17}" type="datetime1">
              <a:rPr lang="en-US" smtClean="0"/>
              <a:t>5/24/2022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25C6B-C1FE-4297-863E-68E85899D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744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C943D-2555-4A57-B8EB-75C7F91B71C6}" type="datetime1">
              <a:rPr lang="en-US" smtClean="0"/>
              <a:t>5/24/2022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25C6B-C1FE-4297-863E-68E85899D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521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B08C4-1FBA-4FE5-8D28-8C27B7466E79}" type="datetime1">
              <a:rPr lang="en-US" smtClean="0"/>
              <a:t>5/24/2022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25C6B-C1FE-4297-863E-68E85899D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750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682A9-2A64-4335-8BB6-EA1B5FE288A5}" type="datetime1">
              <a:rPr lang="en-US" smtClean="0"/>
              <a:t>5/24/2022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25C6B-C1FE-4297-863E-68E85899D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466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C89B2-6DED-445A-9AF5-74F690F84E78}" type="datetime1">
              <a:rPr lang="en-US" smtClean="0"/>
              <a:t>5/24/2022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25C6B-C1FE-4297-863E-68E85899D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225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E7014-808B-4A34-9722-060A0C8B943A}" type="datetime1">
              <a:rPr lang="en-US" smtClean="0"/>
              <a:t>5/24/2022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25C6B-C1FE-4297-863E-68E85899D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681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58D58-A862-414E-9423-46150B41CA14}" type="datetime1">
              <a:rPr lang="en-US" smtClean="0"/>
              <a:t>5/24/2022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25C6B-C1FE-4297-863E-68E85899D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109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76D00-FA0D-4D29-83D4-DD5A6DDF16E7}" type="datetime1">
              <a:rPr lang="en-US" smtClean="0"/>
              <a:t>5/24/2022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25C6B-C1FE-4297-863E-68E85899D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779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A5918-257A-4095-BDEB-73BDDEB4A29E}" type="datetime1">
              <a:rPr lang="en-US" smtClean="0"/>
              <a:t>5/24/2022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25C6B-C1FE-4297-863E-68E85899D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771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10D01-121F-4BE4-9A0D-9D74E07BA582}" type="datetime1">
              <a:rPr lang="en-US" smtClean="0"/>
              <a:t>5/24/2022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25C6B-C1FE-4297-863E-68E85899D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786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3012F9-413F-48FB-8539-50B5C9E7D155}" type="datetime1">
              <a:rPr lang="en-US" smtClean="0"/>
              <a:t>5/24/2022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925C6B-C1FE-4297-863E-68E85899D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021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trends.google.com/trends/explore?q=/m/04tj5z,/m/028m4s,/m/080c0g9,/g/11g6bg27fp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search.maven.org/#browse" TargetMode="External"/><Relationship Id="rId2" Type="http://schemas.openxmlformats.org/officeDocument/2006/relationships/hyperlink" Target="http://repo1.maven.org/maven2/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maven.apache.org/download.cgi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20388" y="2913651"/>
            <a:ext cx="9144000" cy="962706"/>
          </a:xfrm>
        </p:spPr>
        <p:txBody>
          <a:bodyPr>
            <a:normAutofit/>
          </a:bodyPr>
          <a:lstStyle/>
          <a:p>
            <a:r>
              <a:rPr lang="en-US" dirty="0" smtClean="0"/>
              <a:t>Lecture-13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697" y="3876357"/>
            <a:ext cx="9144000" cy="1655762"/>
          </a:xfrm>
        </p:spPr>
        <p:txBody>
          <a:bodyPr/>
          <a:lstStyle/>
          <a:p>
            <a:r>
              <a:rPr lang="en-US" i="1" dirty="0" smtClean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87971" y="6153150"/>
            <a:ext cx="2743200" cy="365125"/>
          </a:xfrm>
        </p:spPr>
        <p:txBody>
          <a:bodyPr/>
          <a:lstStyle/>
          <a:p>
            <a:fld id="{18925C6B-C1FE-4297-863E-68E85899D6B2}" type="slidenum">
              <a:rPr lang="en-US" sz="1600" smtClean="0"/>
              <a:t>1</a:t>
            </a:fld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434583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7314" y="403907"/>
            <a:ext cx="10787742" cy="719500"/>
          </a:xfrm>
        </p:spPr>
        <p:txBody>
          <a:bodyPr>
            <a:normAutofit/>
          </a:bodyPr>
          <a:lstStyle/>
          <a:p>
            <a:pPr algn="l"/>
            <a:r>
              <a:rPr lang="en-US" sz="4000" b="1" i="1" dirty="0" smtClean="0"/>
              <a:t>Contents</a:t>
            </a:r>
            <a:endParaRPr lang="en-US" sz="4000" b="1" i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7314" y="1435415"/>
            <a:ext cx="10787741" cy="5017317"/>
          </a:xfrm>
        </p:spPr>
        <p:txBody>
          <a:bodyPr>
            <a:no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Devops Build Stage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Build Tools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Build Tools List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Apache Maven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Maven Architecture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Project Object 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71855" y="6087608"/>
            <a:ext cx="2743200" cy="365125"/>
          </a:xfrm>
        </p:spPr>
        <p:txBody>
          <a:bodyPr/>
          <a:lstStyle/>
          <a:p>
            <a:fld id="{18925C6B-C1FE-4297-863E-68E85899D6B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3716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765" y="195308"/>
            <a:ext cx="11025050" cy="1112745"/>
          </a:xfrm>
        </p:spPr>
        <p:txBody>
          <a:bodyPr>
            <a:noAutofit/>
          </a:bodyPr>
          <a:lstStyle/>
          <a:p>
            <a:r>
              <a:rPr lang="en-US" sz="4000" b="1" i="1" dirty="0" smtClean="0"/>
              <a:t>Devops Build Stage</a:t>
            </a:r>
            <a:endParaRPr lang="en-US" sz="40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766" y="1425620"/>
            <a:ext cx="11025049" cy="510328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 smtClean="0"/>
              <a:t>The </a:t>
            </a:r>
            <a:r>
              <a:rPr lang="en-US" dirty="0"/>
              <a:t>Build stage is the point where we take the provided code and build it for testing purposes. The code gets built in a development environment to allow for testing and bug fixes.</a:t>
            </a:r>
            <a:endParaRPr lang="en-US" sz="2400" dirty="0" smtClean="0">
              <a:latin typeface="Calibri (Body)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400" dirty="0">
              <a:latin typeface="Calibri (Body)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ri (Body)"/>
              </a:rPr>
              <a:t>After the newly written code has been merged with the shared repository, developers run a series of automated tests. In a typical scenario, the pull request initiates an automated process that compiles the code into a build - a </a:t>
            </a:r>
            <a:r>
              <a:rPr lang="en-US" sz="2400" b="1" i="1" dirty="0">
                <a:latin typeface="Calibri (Body)"/>
              </a:rPr>
              <a:t>deployable package </a:t>
            </a:r>
            <a:r>
              <a:rPr lang="en-US" sz="2400" dirty="0">
                <a:latin typeface="Calibri (Body)"/>
              </a:rPr>
              <a:t>or an </a:t>
            </a:r>
            <a:r>
              <a:rPr lang="en-US" sz="2400" b="1" i="1" dirty="0">
                <a:latin typeface="Calibri (Body)"/>
              </a:rPr>
              <a:t>executable</a:t>
            </a:r>
            <a:r>
              <a:rPr lang="en-US" sz="2400" dirty="0">
                <a:latin typeface="Calibri (Body)"/>
              </a:rPr>
              <a:t>.</a:t>
            </a:r>
          </a:p>
          <a:p>
            <a:pPr>
              <a:lnSpc>
                <a:spcPct val="150000"/>
              </a:lnSpc>
            </a:pPr>
            <a:endParaRPr lang="en-US" dirty="0">
              <a:latin typeface="Calibri (Body)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56616" y="6372146"/>
            <a:ext cx="2743200" cy="365125"/>
          </a:xfrm>
        </p:spPr>
        <p:txBody>
          <a:bodyPr/>
          <a:lstStyle/>
          <a:p>
            <a:fld id="{18925C6B-C1FE-4297-863E-68E85899D6B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563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765" y="195308"/>
            <a:ext cx="11025050" cy="1112745"/>
          </a:xfrm>
        </p:spPr>
        <p:txBody>
          <a:bodyPr>
            <a:noAutofit/>
          </a:bodyPr>
          <a:lstStyle/>
          <a:p>
            <a:r>
              <a:rPr lang="en-US" sz="4000" b="1" i="1" dirty="0" smtClean="0"/>
              <a:t>DevOps Build Stage (Cont.)</a:t>
            </a:r>
            <a:endParaRPr lang="en-US" sz="40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766" y="1425620"/>
            <a:ext cx="11025049" cy="5103282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sz="2400" dirty="0" smtClean="0">
                <a:latin typeface="Calibri (Body)"/>
              </a:rPr>
              <a:t>Keep </a:t>
            </a:r>
            <a:r>
              <a:rPr lang="en-US" sz="2400" dirty="0">
                <a:latin typeface="Calibri (Body)"/>
              </a:rPr>
              <a:t>in mind that some programming languages don't need to be compiled. For example, applications written in </a:t>
            </a:r>
            <a:r>
              <a:rPr lang="en-US" sz="2400" b="1" i="1" dirty="0">
                <a:latin typeface="Calibri (Body)"/>
              </a:rPr>
              <a:t>Java</a:t>
            </a:r>
            <a:r>
              <a:rPr lang="en-US" sz="2400" dirty="0">
                <a:latin typeface="Calibri (Body)"/>
              </a:rPr>
              <a:t> and </a:t>
            </a:r>
            <a:r>
              <a:rPr lang="en-US" sz="2400" b="1" i="1" dirty="0" smtClean="0">
                <a:latin typeface="Calibri (Body)"/>
              </a:rPr>
              <a:t>C or C++</a:t>
            </a:r>
            <a:r>
              <a:rPr lang="en-US" sz="2400" dirty="0">
                <a:latin typeface="Calibri (Body)"/>
              </a:rPr>
              <a:t> need to be compiled to run, while those written in </a:t>
            </a:r>
            <a:r>
              <a:rPr lang="en-US" sz="2400" b="1" i="1" dirty="0">
                <a:latin typeface="Calibri (Body)"/>
              </a:rPr>
              <a:t>PHP</a:t>
            </a:r>
            <a:r>
              <a:rPr lang="en-US" sz="2400" dirty="0">
                <a:latin typeface="Calibri (Body)"/>
              </a:rPr>
              <a:t> and </a:t>
            </a:r>
            <a:r>
              <a:rPr lang="en-US" sz="2400" b="1" i="1" dirty="0">
                <a:latin typeface="Calibri (Body)"/>
              </a:rPr>
              <a:t>Python</a:t>
            </a:r>
            <a:r>
              <a:rPr lang="en-US" sz="2400" dirty="0">
                <a:latin typeface="Calibri (Body)"/>
              </a:rPr>
              <a:t> do not</a:t>
            </a:r>
            <a:r>
              <a:rPr lang="en-US" sz="2400" dirty="0" smtClean="0">
                <a:latin typeface="Calibri (Body)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dirty="0">
              <a:latin typeface="Calibri (Body)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ri (Body)"/>
              </a:rPr>
              <a:t>If there is a problem with the code, the build fails, and the developer is notified of the issues. If that happens, the initial pull request also fails</a:t>
            </a:r>
            <a:r>
              <a:rPr lang="en-US" sz="2400" dirty="0" smtClean="0">
                <a:latin typeface="Calibri (Body)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dirty="0" smtClean="0">
              <a:latin typeface="Calibri (Body)"/>
            </a:endParaRP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Calibri (Body)"/>
              </a:rPr>
              <a:t>Developers </a:t>
            </a:r>
            <a:r>
              <a:rPr lang="en-US" sz="2400" dirty="0">
                <a:latin typeface="Calibri (Body)"/>
              </a:rPr>
              <a:t>repeat this process every time they submit to the shared repository to ensure only error-free code continues down the pipeline</a:t>
            </a:r>
            <a:r>
              <a:rPr lang="en-US" sz="2400" dirty="0" smtClean="0">
                <a:latin typeface="Calibri (Body)"/>
              </a:rPr>
              <a:t>.</a:t>
            </a:r>
            <a:endParaRPr lang="en-US" sz="2400" dirty="0">
              <a:latin typeface="Calibri (Body)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56616" y="6372146"/>
            <a:ext cx="2743200" cy="365125"/>
          </a:xfrm>
        </p:spPr>
        <p:txBody>
          <a:bodyPr/>
          <a:lstStyle/>
          <a:p>
            <a:fld id="{18925C6B-C1FE-4297-863E-68E85899D6B2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263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765" y="195308"/>
            <a:ext cx="11025050" cy="1112745"/>
          </a:xfrm>
        </p:spPr>
        <p:txBody>
          <a:bodyPr>
            <a:noAutofit/>
          </a:bodyPr>
          <a:lstStyle/>
          <a:p>
            <a:r>
              <a:rPr lang="en-US" sz="4000" b="1" i="1" dirty="0" smtClean="0"/>
              <a:t>Build Tools</a:t>
            </a:r>
            <a:endParaRPr lang="en-US" sz="40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766" y="1425620"/>
            <a:ext cx="11025049" cy="510328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Build tools are commonly known as programs that automate the process of building an executable application from source </a:t>
            </a:r>
            <a:r>
              <a:rPr lang="en-US" dirty="0" smtClean="0"/>
              <a:t>code.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This </a:t>
            </a:r>
            <a:r>
              <a:rPr lang="en-US" dirty="0"/>
              <a:t>building process includes activities like compiling, linking and packaging the code into an executable form. </a:t>
            </a:r>
            <a:endParaRPr lang="en-US" dirty="0" smtClean="0"/>
          </a:p>
          <a:p>
            <a:pPr>
              <a:lnSpc>
                <a:spcPct val="150000"/>
              </a:lnSpc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56616" y="6372146"/>
            <a:ext cx="2743200" cy="365125"/>
          </a:xfrm>
        </p:spPr>
        <p:txBody>
          <a:bodyPr/>
          <a:lstStyle/>
          <a:p>
            <a:fld id="{18925C6B-C1FE-4297-863E-68E85899D6B2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7342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765" y="195308"/>
            <a:ext cx="11025050" cy="1112745"/>
          </a:xfrm>
        </p:spPr>
        <p:txBody>
          <a:bodyPr>
            <a:noAutofit/>
          </a:bodyPr>
          <a:lstStyle/>
          <a:p>
            <a:r>
              <a:rPr lang="en-US" sz="4000" b="1" i="1" dirty="0" smtClean="0"/>
              <a:t>Build Tools List</a:t>
            </a:r>
            <a:endParaRPr lang="en-US" sz="40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766" y="1425620"/>
            <a:ext cx="11025049" cy="5103282"/>
          </a:xfrm>
        </p:spPr>
        <p:txBody>
          <a:bodyPr>
            <a:normAutofit/>
          </a:bodyPr>
          <a:lstStyle/>
          <a:p>
            <a:pPr marL="571500" indent="-571500">
              <a:lnSpc>
                <a:spcPct val="150000"/>
              </a:lnSpc>
              <a:buFont typeface="+mj-lt"/>
              <a:buAutoNum type="romanLcPeriod"/>
            </a:pPr>
            <a:r>
              <a:rPr lang="en-US" dirty="0"/>
              <a:t>Apache Maven</a:t>
            </a:r>
          </a:p>
          <a:p>
            <a:pPr marL="571500" indent="-571500">
              <a:lnSpc>
                <a:spcPct val="150000"/>
              </a:lnSpc>
              <a:buFont typeface="+mj-lt"/>
              <a:buAutoNum type="romanLcPeriod"/>
            </a:pPr>
            <a:r>
              <a:rPr lang="en-US" dirty="0"/>
              <a:t>Apache Ant</a:t>
            </a:r>
          </a:p>
          <a:p>
            <a:pPr marL="571500" indent="-571500">
              <a:lnSpc>
                <a:spcPct val="150000"/>
              </a:lnSpc>
              <a:buFont typeface="+mj-lt"/>
              <a:buAutoNum type="romanLcPeriod"/>
            </a:pPr>
            <a:r>
              <a:rPr lang="en-US" dirty="0" err="1"/>
              <a:t>Gradle</a:t>
            </a:r>
            <a:endParaRPr lang="en-US" dirty="0"/>
          </a:p>
          <a:p>
            <a:pPr marL="571500" indent="-571500">
              <a:lnSpc>
                <a:spcPct val="150000"/>
              </a:lnSpc>
              <a:buFont typeface="+mj-lt"/>
              <a:buAutoNum type="romanLcPeriod"/>
            </a:pPr>
            <a:r>
              <a:rPr lang="en-US" dirty="0"/>
              <a:t>Terraform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 smtClean="0"/>
              <a:t>And many more…</a:t>
            </a:r>
            <a:endParaRPr lang="en-US" dirty="0"/>
          </a:p>
          <a:p>
            <a:pPr marL="0" indent="0">
              <a:lnSpc>
                <a:spcPct val="150000"/>
              </a:lnSpc>
              <a:buNone/>
            </a:pPr>
            <a:endParaRPr lang="en-US" dirty="0"/>
          </a:p>
          <a:p>
            <a:pPr>
              <a:lnSpc>
                <a:spcPct val="150000"/>
              </a:lnSpc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56616" y="6372146"/>
            <a:ext cx="2743200" cy="365125"/>
          </a:xfrm>
        </p:spPr>
        <p:txBody>
          <a:bodyPr/>
          <a:lstStyle/>
          <a:p>
            <a:fld id="{18925C6B-C1FE-4297-863E-68E85899D6B2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58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765" y="195308"/>
            <a:ext cx="11025050" cy="1112745"/>
          </a:xfrm>
        </p:spPr>
        <p:txBody>
          <a:bodyPr>
            <a:noAutofit/>
          </a:bodyPr>
          <a:lstStyle/>
          <a:p>
            <a:r>
              <a:rPr lang="en-US" sz="4000" b="1" i="1" dirty="0" smtClean="0"/>
              <a:t>What </a:t>
            </a:r>
            <a:r>
              <a:rPr lang="en-US" sz="4000" b="1" i="1" dirty="0"/>
              <a:t>do build tools do?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766" y="1425620"/>
            <a:ext cx="11025049" cy="5103282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dirty="0" smtClean="0"/>
              <a:t>Build </a:t>
            </a:r>
            <a:r>
              <a:rPr lang="en-US" dirty="0"/>
              <a:t>tools facilitate a wide variety of build automation tasks, including:</a:t>
            </a:r>
          </a:p>
          <a:p>
            <a:pPr lvl="1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rgbClr val="FF0000"/>
                </a:solidFill>
              </a:rPr>
              <a:t>Generates</a:t>
            </a:r>
            <a:r>
              <a:rPr lang="en-US" sz="2500" dirty="0" smtClean="0"/>
              <a:t> </a:t>
            </a:r>
            <a:r>
              <a:rPr lang="en-US" sz="2500" dirty="0"/>
              <a:t>source </a:t>
            </a:r>
            <a:r>
              <a:rPr lang="en-US" sz="2500" dirty="0" smtClean="0"/>
              <a:t>code</a:t>
            </a:r>
          </a:p>
          <a:p>
            <a:pPr lvl="1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rgbClr val="FF0000"/>
                </a:solidFill>
              </a:rPr>
              <a:t>Generates documentation </a:t>
            </a:r>
            <a:r>
              <a:rPr lang="en-US" sz="2500" dirty="0"/>
              <a:t>from the source </a:t>
            </a:r>
            <a:r>
              <a:rPr lang="en-US" sz="2500" dirty="0" smtClean="0"/>
              <a:t>code</a:t>
            </a:r>
          </a:p>
          <a:p>
            <a:pPr lvl="1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rgbClr val="FF0000"/>
                </a:solidFill>
              </a:rPr>
              <a:t>Compiling </a:t>
            </a:r>
            <a:r>
              <a:rPr lang="en-US" dirty="0">
                <a:solidFill>
                  <a:srgbClr val="FF0000"/>
                </a:solidFill>
              </a:rPr>
              <a:t>: </a:t>
            </a:r>
            <a:r>
              <a:rPr lang="en-US" dirty="0"/>
              <a:t>Compiling source code into machine code (0 1</a:t>
            </a:r>
            <a:r>
              <a:rPr lang="en-US" dirty="0" smtClean="0"/>
              <a:t>)</a:t>
            </a:r>
          </a:p>
          <a:p>
            <a:pPr lvl="1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b="1" dirty="0" smtClean="0">
                <a:solidFill>
                  <a:srgbClr val="FF0000"/>
                </a:solidFill>
              </a:rPr>
              <a:t>Dependency </a:t>
            </a:r>
            <a:r>
              <a:rPr lang="en-US" b="1" dirty="0">
                <a:solidFill>
                  <a:srgbClr val="FF0000"/>
                </a:solidFill>
              </a:rPr>
              <a:t>management</a:t>
            </a:r>
            <a:r>
              <a:rPr lang="en-US" dirty="0">
                <a:solidFill>
                  <a:srgbClr val="FF0000"/>
                </a:solidFill>
              </a:rPr>
              <a:t>: </a:t>
            </a:r>
            <a:r>
              <a:rPr lang="en-US" dirty="0"/>
              <a:t>Identifying and patching necessary third party </a:t>
            </a:r>
            <a:r>
              <a:rPr lang="en-US" dirty="0" smtClean="0"/>
              <a:t>integrations</a:t>
            </a:r>
          </a:p>
          <a:p>
            <a:pPr lvl="1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b="1" dirty="0" smtClean="0">
                <a:solidFill>
                  <a:srgbClr val="FF0000"/>
                </a:solidFill>
              </a:rPr>
              <a:t>Automated </a:t>
            </a:r>
            <a:r>
              <a:rPr lang="en-US" b="1" dirty="0">
                <a:solidFill>
                  <a:srgbClr val="FF0000"/>
                </a:solidFill>
              </a:rPr>
              <a:t>tests</a:t>
            </a:r>
            <a:r>
              <a:rPr lang="en-US" dirty="0">
                <a:solidFill>
                  <a:srgbClr val="FF0000"/>
                </a:solidFill>
              </a:rPr>
              <a:t>: </a:t>
            </a:r>
            <a:r>
              <a:rPr lang="en-US" dirty="0"/>
              <a:t>Executing tests and reporting </a:t>
            </a:r>
            <a:r>
              <a:rPr lang="en-US" dirty="0" smtClean="0"/>
              <a:t>failure</a:t>
            </a:r>
          </a:p>
          <a:p>
            <a:pPr lvl="1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b="1" dirty="0" smtClean="0">
                <a:solidFill>
                  <a:srgbClr val="FF0000"/>
                </a:solidFill>
              </a:rPr>
              <a:t>Packaging </a:t>
            </a:r>
            <a:r>
              <a:rPr lang="en-US" b="1" dirty="0">
                <a:solidFill>
                  <a:srgbClr val="FF0000"/>
                </a:solidFill>
              </a:rPr>
              <a:t>app for deployment</a:t>
            </a:r>
            <a:r>
              <a:rPr lang="en-US" dirty="0">
                <a:solidFill>
                  <a:srgbClr val="FF0000"/>
                </a:solidFill>
              </a:rPr>
              <a:t>: </a:t>
            </a:r>
            <a:r>
              <a:rPr lang="en-US" dirty="0"/>
              <a:t>Prepares source code for deployment to </a:t>
            </a:r>
            <a:r>
              <a:rPr lang="en-US" dirty="0" smtClean="0"/>
              <a:t>servers</a:t>
            </a:r>
          </a:p>
          <a:p>
            <a:pPr lvl="1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rgbClr val="FF0000"/>
                </a:solidFill>
              </a:rPr>
              <a:t>Packages</a:t>
            </a:r>
            <a:r>
              <a:rPr lang="en-US" dirty="0" smtClean="0"/>
              <a:t> </a:t>
            </a:r>
            <a:r>
              <a:rPr lang="en-US" dirty="0"/>
              <a:t>compiled code into JAR </a:t>
            </a:r>
            <a:r>
              <a:rPr lang="en-US" dirty="0" smtClean="0"/>
              <a:t>or WAR of </a:t>
            </a:r>
            <a:r>
              <a:rPr lang="en-US" dirty="0"/>
              <a:t>ZIP </a:t>
            </a:r>
            <a:r>
              <a:rPr lang="en-US" dirty="0" smtClean="0"/>
              <a:t>file</a:t>
            </a:r>
          </a:p>
          <a:p>
            <a:pPr lvl="1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rgbClr val="FF0000"/>
                </a:solidFill>
              </a:rPr>
              <a:t>Installs the packaged </a:t>
            </a:r>
            <a:r>
              <a:rPr lang="en-US" dirty="0"/>
              <a:t>code in local repository, server repository, or central repository</a:t>
            </a:r>
          </a:p>
          <a:p>
            <a:pPr lvl="1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56616" y="6372146"/>
            <a:ext cx="2743200" cy="365125"/>
          </a:xfrm>
        </p:spPr>
        <p:txBody>
          <a:bodyPr/>
          <a:lstStyle/>
          <a:p>
            <a:fld id="{18925C6B-C1FE-4297-863E-68E85899D6B2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645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765" y="195308"/>
            <a:ext cx="11025050" cy="1112745"/>
          </a:xfrm>
        </p:spPr>
        <p:txBody>
          <a:bodyPr>
            <a:noAutofit/>
          </a:bodyPr>
          <a:lstStyle/>
          <a:p>
            <a:r>
              <a:rPr lang="en-US" sz="4000" b="1" i="1" dirty="0"/>
              <a:t>Build </a:t>
            </a:r>
            <a:r>
              <a:rPr lang="en-US" sz="4000" b="1" i="1" dirty="0" smtClean="0"/>
              <a:t>Tools Google </a:t>
            </a:r>
            <a:r>
              <a:rPr lang="en-US" sz="4000" b="1" i="1" dirty="0"/>
              <a:t>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766" y="1425620"/>
            <a:ext cx="11025049" cy="510328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dirty="0" smtClean="0">
                <a:hlinkClick r:id="rId2"/>
              </a:rPr>
              <a:t>https</a:t>
            </a:r>
            <a:r>
              <a:rPr lang="en-US" dirty="0">
                <a:hlinkClick r:id="rId2"/>
              </a:rPr>
              <a:t>://trends.google.com/trends/explore?q=%2Fm%2F04tj5z,%2Fm%2F028m4s,%2Fm%2F080c0g9,%</a:t>
            </a:r>
            <a:r>
              <a:rPr lang="en-US" dirty="0" smtClean="0">
                <a:hlinkClick r:id="rId2"/>
              </a:rPr>
              <a:t>2Fg%2F11g6bg27fp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56616" y="6372146"/>
            <a:ext cx="2743200" cy="365125"/>
          </a:xfrm>
        </p:spPr>
        <p:txBody>
          <a:bodyPr/>
          <a:lstStyle/>
          <a:p>
            <a:fld id="{18925C6B-C1FE-4297-863E-68E85899D6B2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9264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765" y="195308"/>
            <a:ext cx="11025050" cy="1112745"/>
          </a:xfrm>
        </p:spPr>
        <p:txBody>
          <a:bodyPr>
            <a:noAutofit/>
          </a:bodyPr>
          <a:lstStyle/>
          <a:p>
            <a:r>
              <a:rPr lang="en-US" sz="4000" b="1" i="1" dirty="0" smtClean="0"/>
              <a:t>Maven</a:t>
            </a:r>
            <a:endParaRPr lang="en-US" sz="40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765" y="1629024"/>
            <a:ext cx="10881359" cy="454287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2400" b="1" i="1" dirty="0" smtClean="0">
                <a:solidFill>
                  <a:srgbClr val="FF0000"/>
                </a:solidFill>
              </a:rPr>
              <a:t>Maven</a:t>
            </a:r>
            <a:r>
              <a:rPr lang="en-US" sz="2400" dirty="0" smtClean="0"/>
              <a:t> </a:t>
            </a:r>
            <a:r>
              <a:rPr lang="en-US" sz="2400" dirty="0"/>
              <a:t>is a powerful </a:t>
            </a:r>
            <a:r>
              <a:rPr lang="en-US" sz="2400" dirty="0" smtClean="0"/>
              <a:t>automation and project </a:t>
            </a:r>
            <a:r>
              <a:rPr lang="en-US" sz="2400" dirty="0"/>
              <a:t>management </a:t>
            </a:r>
            <a:r>
              <a:rPr lang="en-US" sz="2400" dirty="0" smtClean="0"/>
              <a:t>tool,</a:t>
            </a:r>
            <a:r>
              <a:rPr lang="en-US" sz="2400" dirty="0"/>
              <a:t> </a:t>
            </a:r>
            <a:r>
              <a:rPr lang="en-US" sz="2400" dirty="0" smtClean="0"/>
              <a:t>is </a:t>
            </a:r>
            <a:r>
              <a:rPr lang="en-US" sz="2400" dirty="0"/>
              <a:t>developed by Apache software </a:t>
            </a:r>
            <a:r>
              <a:rPr lang="en-US" sz="2400" dirty="0" smtClean="0"/>
              <a:t>foundation that </a:t>
            </a:r>
            <a:r>
              <a:rPr lang="en-US" sz="2400" dirty="0"/>
              <a:t>is based on POM (project object model</a:t>
            </a:r>
            <a:r>
              <a:rPr lang="en-US" sz="2400" dirty="0" smtClean="0"/>
              <a:t>).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2400" dirty="0" smtClean="0"/>
              <a:t>It is </a:t>
            </a:r>
            <a:r>
              <a:rPr lang="en-US" sz="2400" dirty="0"/>
              <a:t>a Java-based build tool, it supports projects built written in other programming languages.</a:t>
            </a:r>
            <a:endParaRPr lang="en-US" sz="2400" dirty="0" smtClean="0"/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2400" dirty="0" smtClean="0"/>
              <a:t>It </a:t>
            </a:r>
            <a:r>
              <a:rPr lang="en-US" sz="2400" dirty="0"/>
              <a:t>is used for projects build, dependency and documentation</a:t>
            </a:r>
            <a:r>
              <a:rPr lang="en-US" sz="2400" dirty="0" smtClean="0"/>
              <a:t>.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2400" dirty="0"/>
              <a:t> </a:t>
            </a:r>
            <a:r>
              <a:rPr lang="en-US" sz="2400" dirty="0" smtClean="0"/>
              <a:t>Maven </a:t>
            </a:r>
            <a:r>
              <a:rPr lang="en-US" sz="2400" dirty="0"/>
              <a:t>is an Apache open-source </a:t>
            </a:r>
            <a:r>
              <a:rPr lang="en-US" sz="2400" dirty="0" smtClean="0"/>
              <a:t>project.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56615" y="6492875"/>
            <a:ext cx="2743200" cy="365125"/>
          </a:xfrm>
        </p:spPr>
        <p:txBody>
          <a:bodyPr/>
          <a:lstStyle/>
          <a:p>
            <a:fld id="{18925C6B-C1FE-4297-863E-68E85899D6B2}" type="slidenum">
              <a:rPr lang="en-US" smtClean="0"/>
              <a:t>9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5440" y="322833"/>
            <a:ext cx="2364375" cy="598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4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765" y="195308"/>
            <a:ext cx="11025050" cy="1112745"/>
          </a:xfrm>
        </p:spPr>
        <p:txBody>
          <a:bodyPr>
            <a:noAutofit/>
          </a:bodyPr>
          <a:lstStyle/>
          <a:p>
            <a:r>
              <a:rPr lang="en-US" sz="4000" b="1" i="1" dirty="0" smtClean="0"/>
              <a:t>Maven (Cont.)</a:t>
            </a:r>
            <a:endParaRPr lang="en-US" sz="40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1886" y="1162594"/>
            <a:ext cx="11482251" cy="532711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2400" dirty="0" smtClean="0"/>
              <a:t>It </a:t>
            </a:r>
            <a:r>
              <a:rPr lang="en-US" sz="2400" dirty="0"/>
              <a:t>uses XML to configure projects and Java to write extensions.</a:t>
            </a:r>
            <a:endParaRPr lang="en-US" sz="2400" dirty="0" smtClean="0"/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2400" dirty="0" smtClean="0"/>
              <a:t>Maven </a:t>
            </a:r>
            <a:r>
              <a:rPr lang="en-US" sz="2400" dirty="0"/>
              <a:t>projects are primarily defined by Project Object Model (</a:t>
            </a:r>
            <a:r>
              <a:rPr lang="en-US" sz="2400" dirty="0" smtClean="0"/>
              <a:t>POM)</a:t>
            </a:r>
            <a:r>
              <a:rPr lang="en-US" sz="2400" dirty="0"/>
              <a:t> </a:t>
            </a:r>
            <a:r>
              <a:rPr lang="en-US" sz="2400" dirty="0" smtClean="0"/>
              <a:t>files </a:t>
            </a:r>
            <a:r>
              <a:rPr lang="en-US" sz="2400" dirty="0"/>
              <a:t>written in XML</a:t>
            </a:r>
            <a:r>
              <a:rPr lang="en-US" sz="2400" dirty="0" smtClean="0"/>
              <a:t>.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dirty="0"/>
              <a:t>Current version of Apache </a:t>
            </a:r>
            <a:r>
              <a:rPr lang="en-US" dirty="0" smtClean="0"/>
              <a:t>Maven is 3.8.5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b="1" dirty="0"/>
              <a:t>System </a:t>
            </a:r>
            <a:r>
              <a:rPr lang="en-US" b="1" dirty="0" smtClean="0"/>
              <a:t>Requirements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dirty="0"/>
              <a:t>Java Development Kit (</a:t>
            </a:r>
            <a:r>
              <a:rPr lang="en-US" dirty="0" smtClean="0"/>
              <a:t>JDK): Maven </a:t>
            </a:r>
            <a:r>
              <a:rPr lang="en-US" dirty="0"/>
              <a:t>3.3+ require JDK 1.7 or above to execute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56615" y="6492875"/>
            <a:ext cx="2743200" cy="365125"/>
          </a:xfrm>
        </p:spPr>
        <p:txBody>
          <a:bodyPr/>
          <a:lstStyle/>
          <a:p>
            <a:fld id="{18925C6B-C1FE-4297-863E-68E85899D6B2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6997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765" y="195308"/>
            <a:ext cx="11025050" cy="1112745"/>
          </a:xfrm>
        </p:spPr>
        <p:txBody>
          <a:bodyPr>
            <a:noAutofit/>
          </a:bodyPr>
          <a:lstStyle/>
          <a:p>
            <a:r>
              <a:rPr lang="en-US" sz="4000" b="1" i="1" dirty="0" smtClean="0"/>
              <a:t>Maven </a:t>
            </a:r>
            <a:r>
              <a:rPr lang="en-US" sz="4000" b="1" i="1" dirty="0"/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1886" y="1162594"/>
            <a:ext cx="11482251" cy="532711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dirty="0" smtClean="0"/>
              <a:t>The </a:t>
            </a:r>
            <a:r>
              <a:rPr lang="en-US" dirty="0"/>
              <a:t>projects created in Maven contain POM files that describe the aspect of the project essentials. </a:t>
            </a:r>
            <a:endParaRPr lang="en-US" dirty="0" smtClean="0"/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dirty="0" smtClean="0"/>
              <a:t>Maven </a:t>
            </a:r>
            <a:r>
              <a:rPr lang="en-US" dirty="0"/>
              <a:t>architecture shows the process of creating and generating a report according to the requirements and executing lifecycles, phases, goals, plugins, and so on—from the first step.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56615" y="6492875"/>
            <a:ext cx="2743200" cy="365125"/>
          </a:xfrm>
        </p:spPr>
        <p:txBody>
          <a:bodyPr/>
          <a:lstStyle/>
          <a:p>
            <a:fld id="{18925C6B-C1FE-4297-863E-68E85899D6B2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280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765" y="195308"/>
            <a:ext cx="11025050" cy="1112745"/>
          </a:xfrm>
        </p:spPr>
        <p:txBody>
          <a:bodyPr>
            <a:noAutofit/>
          </a:bodyPr>
          <a:lstStyle/>
          <a:p>
            <a:r>
              <a:rPr lang="en-US" sz="4000" b="1" i="1" dirty="0" smtClean="0"/>
              <a:t>Maven Architecture (Cont.)</a:t>
            </a:r>
            <a:endParaRPr lang="en-US" sz="4000" b="1" i="1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8487" t="32230" r="9267" b="21530"/>
          <a:stretch/>
        </p:blipFill>
        <p:spPr>
          <a:xfrm>
            <a:off x="2312125" y="2084727"/>
            <a:ext cx="7297915" cy="3631474"/>
          </a:xfrm>
          <a:prstGeom prst="rect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56615" y="6492875"/>
            <a:ext cx="2743200" cy="365125"/>
          </a:xfrm>
        </p:spPr>
        <p:txBody>
          <a:bodyPr/>
          <a:lstStyle/>
          <a:p>
            <a:fld id="{18925C6B-C1FE-4297-863E-68E85899D6B2}" type="slidenum">
              <a:rPr lang="en-US" smtClean="0"/>
              <a:t>12</a:t>
            </a:fld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4702628" y="5504831"/>
            <a:ext cx="1685109" cy="53557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Source Code</a:t>
            </a:r>
            <a:endParaRPr lang="en-US" b="1" dirty="0">
              <a:solidFill>
                <a:schemeClr val="tx1"/>
              </a:solidFill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3513909" y="5214048"/>
            <a:ext cx="1188719" cy="584698"/>
          </a:xfrm>
          <a:prstGeom prst="straightConnector1">
            <a:avLst/>
          </a:prstGeom>
          <a:ln w="38100">
            <a:solidFill>
              <a:schemeClr val="bg2">
                <a:lumMod val="50000"/>
              </a:schemeClr>
            </a:solidFill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285999" y="4637352"/>
            <a:ext cx="1293225" cy="53557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GitHub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8769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765" y="391251"/>
            <a:ext cx="11025050" cy="1112745"/>
          </a:xfrm>
        </p:spPr>
        <p:txBody>
          <a:bodyPr>
            <a:noAutofit/>
          </a:bodyPr>
          <a:lstStyle/>
          <a:p>
            <a:r>
              <a:rPr lang="en-US" sz="4000" b="1" i="1" dirty="0" smtClean="0"/>
              <a:t>How </a:t>
            </a:r>
            <a:r>
              <a:rPr lang="en-US" sz="4000" b="1" i="1" dirty="0"/>
              <a:t>Does the Maven Architecture Work</a:t>
            </a:r>
            <a:r>
              <a:rPr lang="en-US" sz="4000" b="1" i="1" dirty="0" smtClean="0"/>
              <a:t>?</a:t>
            </a:r>
            <a:endParaRPr lang="en-US" sz="4000" b="1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56615" y="6492875"/>
            <a:ext cx="2743200" cy="365125"/>
          </a:xfrm>
        </p:spPr>
        <p:txBody>
          <a:bodyPr/>
          <a:lstStyle/>
          <a:p>
            <a:fld id="{18925C6B-C1FE-4297-863E-68E85899D6B2}" type="slidenum">
              <a:rPr lang="en-US" smtClean="0"/>
              <a:t>13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765" y="1694996"/>
            <a:ext cx="10515600" cy="4351338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The first step refers to configuring Maven, which is stored in a </a:t>
            </a:r>
            <a:r>
              <a:rPr lang="en-US" dirty="0" smtClean="0"/>
              <a:t>pom.xml file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The POM file includes all of the configurations that Maven needs. The second step is to download the dependencies defined in pom.xml into the local repository from the central repository</a:t>
            </a:r>
          </a:p>
          <a:p>
            <a:pPr>
              <a:lnSpc>
                <a:spcPct val="150000"/>
              </a:lnSpc>
            </a:pPr>
            <a:r>
              <a:rPr lang="en-US" dirty="0"/>
              <a:t>After the user starts working in Maven, the tool provides various default settings, so there is no need to add every configuration in the </a:t>
            </a:r>
            <a:r>
              <a:rPr lang="en-US" dirty="0" smtClean="0"/>
              <a:t>pom.xml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9399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765" y="195308"/>
            <a:ext cx="11025050" cy="1112745"/>
          </a:xfrm>
        </p:spPr>
        <p:txBody>
          <a:bodyPr>
            <a:noAutofit/>
          </a:bodyPr>
          <a:lstStyle/>
          <a:p>
            <a:r>
              <a:rPr lang="en-US" sz="4000" b="1" i="1" dirty="0" smtClean="0"/>
              <a:t>Project </a:t>
            </a:r>
            <a:r>
              <a:rPr lang="en-US" sz="4000" b="1" i="1" dirty="0"/>
              <a:t>Object Model (POM)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766" y="1425620"/>
            <a:ext cx="11025049" cy="510328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dirty="0" smtClean="0"/>
              <a:t>The </a:t>
            </a:r>
            <a:r>
              <a:rPr lang="en-US" dirty="0"/>
              <a:t>pom.xml file contains information of project and configuration information for the maven to build the project such as dependencies, build directory, source directory, test source directory, plugin, goals </a:t>
            </a:r>
            <a:r>
              <a:rPr lang="en-US" dirty="0" smtClean="0"/>
              <a:t>etc.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dirty="0" smtClean="0"/>
              <a:t>Maven </a:t>
            </a:r>
            <a:r>
              <a:rPr lang="en-US" dirty="0"/>
              <a:t>reads the pom.xml file, then executes the </a:t>
            </a:r>
            <a:r>
              <a:rPr lang="en-US" dirty="0" smtClean="0"/>
              <a:t>goal.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dirty="0" smtClean="0"/>
              <a:t>Before </a:t>
            </a:r>
            <a:r>
              <a:rPr lang="en-US" dirty="0"/>
              <a:t>maven 2, it was named as project.xml file. But, since maven 2 (also in maven 3), it is renamed as pom.xml.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56616" y="6372146"/>
            <a:ext cx="2743200" cy="365125"/>
          </a:xfrm>
        </p:spPr>
        <p:txBody>
          <a:bodyPr/>
          <a:lstStyle/>
          <a:p>
            <a:fld id="{18925C6B-C1FE-4297-863E-68E85899D6B2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4224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765" y="195308"/>
            <a:ext cx="11025050" cy="1112745"/>
          </a:xfrm>
        </p:spPr>
        <p:txBody>
          <a:bodyPr>
            <a:noAutofit/>
          </a:bodyPr>
          <a:lstStyle/>
          <a:p>
            <a:r>
              <a:rPr lang="en-US" sz="4000" b="1" i="1" dirty="0" smtClean="0"/>
              <a:t>Elements </a:t>
            </a:r>
            <a:r>
              <a:rPr lang="en-US" sz="4000" b="1" i="1" dirty="0"/>
              <a:t>of maven pom.xml file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3232425"/>
              </p:ext>
            </p:extLst>
          </p:nvPr>
        </p:nvGraphicFramePr>
        <p:xfrm>
          <a:off x="574675" y="1425574"/>
          <a:ext cx="11025188" cy="5118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12594">
                  <a:extLst>
                    <a:ext uri="{9D8B030D-6E8A-4147-A177-3AD203B41FA5}">
                      <a16:colId xmlns:a16="http://schemas.microsoft.com/office/drawing/2014/main" val="3766591617"/>
                    </a:ext>
                  </a:extLst>
                </a:gridCol>
                <a:gridCol w="5512594">
                  <a:extLst>
                    <a:ext uri="{9D8B030D-6E8A-4147-A177-3AD203B41FA5}">
                      <a16:colId xmlns:a16="http://schemas.microsoft.com/office/drawing/2014/main" val="766890923"/>
                    </a:ext>
                  </a:extLst>
                </a:gridCol>
              </a:tblGrid>
              <a:tr h="521845">
                <a:tc>
                  <a:txBody>
                    <a:bodyPr/>
                    <a:lstStyle/>
                    <a:p>
                      <a:pPr algn="l" fontAlgn="t">
                        <a:lnSpc>
                          <a:spcPct val="10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  <a:latin typeface="Calibri (Body)"/>
                        </a:rPr>
                        <a:t>Element</a:t>
                      </a:r>
                    </a:p>
                  </a:txBody>
                  <a:tcPr marL="73668" marR="73668" marT="73668" marB="73668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  <a:latin typeface="Calibri (Body)"/>
                        </a:rPr>
                        <a:t>Description</a:t>
                      </a:r>
                    </a:p>
                  </a:txBody>
                  <a:tcPr marL="73668" marR="73668" marT="73668" marB="73668"/>
                </a:tc>
                <a:extLst>
                  <a:ext uri="{0D108BD9-81ED-4DB2-BD59-A6C34878D82A}">
                    <a16:rowId xmlns:a16="http://schemas.microsoft.com/office/drawing/2014/main" val="3968801106"/>
                  </a:ext>
                </a:extLst>
              </a:tr>
              <a:tr h="494715">
                <a:tc>
                  <a:txBody>
                    <a:bodyPr/>
                    <a:lstStyle/>
                    <a:p>
                      <a:pPr algn="just" fontAlgn="t">
                        <a:lnSpc>
                          <a:spcPct val="100000"/>
                        </a:lnSpc>
                      </a:pPr>
                      <a:r>
                        <a:rPr lang="en-US" sz="1600" b="1" dirty="0" smtClean="0">
                          <a:solidFill>
                            <a:srgbClr val="333333"/>
                          </a:solidFill>
                          <a:effectLst/>
                          <a:latin typeface="Calibri (Body)"/>
                        </a:rPr>
                        <a:t>Project</a:t>
                      </a:r>
                      <a:endParaRPr lang="en-US" sz="1600" dirty="0">
                        <a:solidFill>
                          <a:srgbClr val="333333"/>
                        </a:solidFill>
                        <a:effectLst/>
                        <a:latin typeface="Calibri (Body)"/>
                      </a:endParaRPr>
                    </a:p>
                  </a:txBody>
                  <a:tcPr marL="49112" marR="49112" marT="49112" marB="49112"/>
                </a:tc>
                <a:tc>
                  <a:txBody>
                    <a:bodyPr/>
                    <a:lstStyle/>
                    <a:p>
                      <a:pPr algn="just" fontAlgn="t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effectLst/>
                          <a:latin typeface="Calibri (Body)"/>
                        </a:rPr>
                        <a:t>It is the root element of pom.xml file.</a:t>
                      </a:r>
                    </a:p>
                  </a:txBody>
                  <a:tcPr marL="49112" marR="49112" marT="49112" marB="49112"/>
                </a:tc>
                <a:extLst>
                  <a:ext uri="{0D108BD9-81ED-4DB2-BD59-A6C34878D82A}">
                    <a16:rowId xmlns:a16="http://schemas.microsoft.com/office/drawing/2014/main" val="1004926106"/>
                  </a:ext>
                </a:extLst>
              </a:tr>
              <a:tr h="781620">
                <a:tc>
                  <a:txBody>
                    <a:bodyPr/>
                    <a:lstStyle/>
                    <a:p>
                      <a:pPr algn="just" fontAlgn="t">
                        <a:lnSpc>
                          <a:spcPct val="100000"/>
                        </a:lnSpc>
                      </a:pPr>
                      <a:r>
                        <a:rPr lang="en-US" sz="1600" b="1" dirty="0" err="1">
                          <a:solidFill>
                            <a:srgbClr val="333333"/>
                          </a:solidFill>
                          <a:effectLst/>
                          <a:latin typeface="Calibri (Body)"/>
                        </a:rPr>
                        <a:t>modelVersion</a:t>
                      </a:r>
                      <a:endParaRPr lang="en-US" sz="1600" dirty="0">
                        <a:solidFill>
                          <a:srgbClr val="333333"/>
                        </a:solidFill>
                        <a:effectLst/>
                        <a:latin typeface="Calibri (Body)"/>
                      </a:endParaRPr>
                    </a:p>
                  </a:txBody>
                  <a:tcPr marL="49112" marR="49112" marT="49112" marB="49112"/>
                </a:tc>
                <a:tc>
                  <a:txBody>
                    <a:bodyPr/>
                    <a:lstStyle/>
                    <a:p>
                      <a:pPr algn="just" fontAlgn="t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effectLst/>
                          <a:latin typeface="Calibri (Body)"/>
                        </a:rPr>
                        <a:t>It is the sub element of project. It specifies the </a:t>
                      </a:r>
                      <a:r>
                        <a:rPr lang="en-US" sz="1600" dirty="0" err="1">
                          <a:solidFill>
                            <a:srgbClr val="333333"/>
                          </a:solidFill>
                          <a:effectLst/>
                          <a:latin typeface="Calibri (Body)"/>
                        </a:rPr>
                        <a:t>modelVersion</a:t>
                      </a:r>
                      <a:r>
                        <a:rPr lang="en-US" sz="1600" dirty="0">
                          <a:solidFill>
                            <a:srgbClr val="333333"/>
                          </a:solidFill>
                          <a:effectLst/>
                          <a:latin typeface="Calibri (Body)"/>
                        </a:rPr>
                        <a:t>. It should be set to 4.0.0.</a:t>
                      </a:r>
                    </a:p>
                  </a:txBody>
                  <a:tcPr marL="49112" marR="49112" marT="49112" marB="49112"/>
                </a:tc>
                <a:extLst>
                  <a:ext uri="{0D108BD9-81ED-4DB2-BD59-A6C34878D82A}">
                    <a16:rowId xmlns:a16="http://schemas.microsoft.com/office/drawing/2014/main" val="2957970856"/>
                  </a:ext>
                </a:extLst>
              </a:tr>
              <a:tr h="781620">
                <a:tc>
                  <a:txBody>
                    <a:bodyPr/>
                    <a:lstStyle/>
                    <a:p>
                      <a:pPr algn="just" fontAlgn="t">
                        <a:lnSpc>
                          <a:spcPct val="100000"/>
                        </a:lnSpc>
                      </a:pPr>
                      <a:r>
                        <a:rPr lang="en-US" sz="1600" b="1" dirty="0" err="1">
                          <a:solidFill>
                            <a:srgbClr val="333333"/>
                          </a:solidFill>
                          <a:effectLst/>
                          <a:latin typeface="Calibri (Body)"/>
                        </a:rPr>
                        <a:t>groupId</a:t>
                      </a:r>
                      <a:endParaRPr lang="en-US" sz="1600" dirty="0">
                        <a:solidFill>
                          <a:srgbClr val="333333"/>
                        </a:solidFill>
                        <a:effectLst/>
                        <a:latin typeface="Calibri (Body)"/>
                      </a:endParaRPr>
                    </a:p>
                  </a:txBody>
                  <a:tcPr marL="49112" marR="49112" marT="49112" marB="49112"/>
                </a:tc>
                <a:tc>
                  <a:txBody>
                    <a:bodyPr/>
                    <a:lstStyle/>
                    <a:p>
                      <a:pPr algn="just" fontAlgn="t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effectLst/>
                          <a:latin typeface="Calibri (Body)"/>
                        </a:rPr>
                        <a:t>It is the sub element of project. It specifies the id for the project group.</a:t>
                      </a:r>
                    </a:p>
                  </a:txBody>
                  <a:tcPr marL="49112" marR="49112" marT="49112" marB="49112"/>
                </a:tc>
                <a:extLst>
                  <a:ext uri="{0D108BD9-81ED-4DB2-BD59-A6C34878D82A}">
                    <a16:rowId xmlns:a16="http://schemas.microsoft.com/office/drawing/2014/main" val="1702875748"/>
                  </a:ext>
                </a:extLst>
              </a:tr>
              <a:tr h="1757497">
                <a:tc>
                  <a:txBody>
                    <a:bodyPr/>
                    <a:lstStyle/>
                    <a:p>
                      <a:pPr algn="just" fontAlgn="t">
                        <a:lnSpc>
                          <a:spcPct val="100000"/>
                        </a:lnSpc>
                      </a:pPr>
                      <a:r>
                        <a:rPr lang="en-US" sz="1600" b="1" dirty="0" err="1">
                          <a:solidFill>
                            <a:srgbClr val="333333"/>
                          </a:solidFill>
                          <a:effectLst/>
                          <a:latin typeface="Calibri (Body)"/>
                        </a:rPr>
                        <a:t>artifactId</a:t>
                      </a:r>
                      <a:endParaRPr lang="en-US" sz="1600" dirty="0">
                        <a:solidFill>
                          <a:srgbClr val="333333"/>
                        </a:solidFill>
                        <a:effectLst/>
                        <a:latin typeface="Calibri (Body)"/>
                      </a:endParaRPr>
                    </a:p>
                  </a:txBody>
                  <a:tcPr marL="49112" marR="49112" marT="49112" marB="49112"/>
                </a:tc>
                <a:tc>
                  <a:txBody>
                    <a:bodyPr/>
                    <a:lstStyle/>
                    <a:p>
                      <a:pPr algn="just" fontAlgn="t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effectLst/>
                          <a:latin typeface="Calibri (Body)"/>
                        </a:rPr>
                        <a:t>It is the sub element of project. It specifies the id for the artifact (project). An artifact is something that is either produced or used by a project. Examples of artifacts produced by Maven for a project include: JARs, source and binary distributions, and WARs.</a:t>
                      </a:r>
                    </a:p>
                  </a:txBody>
                  <a:tcPr marL="49112" marR="49112" marT="49112" marB="49112"/>
                </a:tc>
                <a:extLst>
                  <a:ext uri="{0D108BD9-81ED-4DB2-BD59-A6C34878D82A}">
                    <a16:rowId xmlns:a16="http://schemas.microsoft.com/office/drawing/2014/main" val="3917539756"/>
                  </a:ext>
                </a:extLst>
              </a:tr>
              <a:tr h="781620">
                <a:tc>
                  <a:txBody>
                    <a:bodyPr/>
                    <a:lstStyle/>
                    <a:p>
                      <a:pPr algn="just" fontAlgn="t">
                        <a:lnSpc>
                          <a:spcPct val="100000"/>
                        </a:lnSpc>
                      </a:pPr>
                      <a:r>
                        <a:rPr lang="en-US" sz="1600" b="1" dirty="0">
                          <a:solidFill>
                            <a:srgbClr val="333333"/>
                          </a:solidFill>
                          <a:effectLst/>
                          <a:latin typeface="Calibri (Body)"/>
                        </a:rPr>
                        <a:t>version</a:t>
                      </a:r>
                      <a:endParaRPr lang="en-US" sz="1600" dirty="0">
                        <a:solidFill>
                          <a:srgbClr val="333333"/>
                        </a:solidFill>
                        <a:effectLst/>
                        <a:latin typeface="Calibri (Body)"/>
                      </a:endParaRPr>
                    </a:p>
                  </a:txBody>
                  <a:tcPr marL="49112" marR="49112" marT="49112" marB="49112"/>
                </a:tc>
                <a:tc>
                  <a:txBody>
                    <a:bodyPr/>
                    <a:lstStyle/>
                    <a:p>
                      <a:pPr algn="just" fontAlgn="t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effectLst/>
                          <a:latin typeface="Calibri (Body)"/>
                        </a:rPr>
                        <a:t>It is the sub element of project. It specifies the version of the artifact under given group.</a:t>
                      </a:r>
                    </a:p>
                  </a:txBody>
                  <a:tcPr marL="49112" marR="49112" marT="49112" marB="49112"/>
                </a:tc>
                <a:extLst>
                  <a:ext uri="{0D108BD9-81ED-4DB2-BD59-A6C34878D82A}">
                    <a16:rowId xmlns:a16="http://schemas.microsoft.com/office/drawing/2014/main" val="3289933650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56616" y="6372146"/>
            <a:ext cx="2743200" cy="365125"/>
          </a:xfrm>
        </p:spPr>
        <p:txBody>
          <a:bodyPr/>
          <a:lstStyle/>
          <a:p>
            <a:fld id="{18925C6B-C1FE-4297-863E-68E85899D6B2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5955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765" y="195308"/>
            <a:ext cx="11025050" cy="1112745"/>
          </a:xfrm>
        </p:spPr>
        <p:txBody>
          <a:bodyPr>
            <a:noAutofit/>
          </a:bodyPr>
          <a:lstStyle/>
          <a:p>
            <a:r>
              <a:rPr lang="en-US" sz="4000" b="1" i="1" dirty="0" smtClean="0"/>
              <a:t>Elements </a:t>
            </a:r>
            <a:r>
              <a:rPr lang="en-US" sz="4000" b="1" i="1" dirty="0"/>
              <a:t>of maven pom.xml </a:t>
            </a:r>
            <a:r>
              <a:rPr lang="en-US" sz="4000" b="1" i="1" dirty="0" smtClean="0"/>
              <a:t>file (Cont.)</a:t>
            </a:r>
            <a:endParaRPr lang="en-US" sz="4000" b="1" i="1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194259"/>
              </p:ext>
            </p:extLst>
          </p:nvPr>
        </p:nvGraphicFramePr>
        <p:xfrm>
          <a:off x="574675" y="1425574"/>
          <a:ext cx="11025188" cy="4788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12594">
                  <a:extLst>
                    <a:ext uri="{9D8B030D-6E8A-4147-A177-3AD203B41FA5}">
                      <a16:colId xmlns:a16="http://schemas.microsoft.com/office/drawing/2014/main" val="3766591617"/>
                    </a:ext>
                  </a:extLst>
                </a:gridCol>
                <a:gridCol w="5512594">
                  <a:extLst>
                    <a:ext uri="{9D8B030D-6E8A-4147-A177-3AD203B41FA5}">
                      <a16:colId xmlns:a16="http://schemas.microsoft.com/office/drawing/2014/main" val="766890923"/>
                    </a:ext>
                  </a:extLst>
                </a:gridCol>
              </a:tblGrid>
              <a:tr h="521845">
                <a:tc>
                  <a:txBody>
                    <a:bodyPr/>
                    <a:lstStyle/>
                    <a:p>
                      <a:pPr algn="l" fontAlgn="t">
                        <a:lnSpc>
                          <a:spcPct val="10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  <a:latin typeface="Calibri (Body)"/>
                        </a:rPr>
                        <a:t>Element</a:t>
                      </a:r>
                    </a:p>
                  </a:txBody>
                  <a:tcPr marL="73668" marR="73668" marT="73668" marB="73668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  <a:latin typeface="Calibri (Body)"/>
                        </a:rPr>
                        <a:t>Description</a:t>
                      </a:r>
                    </a:p>
                  </a:txBody>
                  <a:tcPr marL="73668" marR="73668" marT="73668" marB="73668"/>
                </a:tc>
                <a:extLst>
                  <a:ext uri="{0D108BD9-81ED-4DB2-BD59-A6C34878D82A}">
                    <a16:rowId xmlns:a16="http://schemas.microsoft.com/office/drawing/2014/main" val="3968801106"/>
                  </a:ext>
                </a:extLst>
              </a:tr>
              <a:tr h="494715">
                <a:tc>
                  <a:txBody>
                    <a:bodyPr/>
                    <a:lstStyle/>
                    <a:p>
                      <a:pPr algn="just" fontAlgn="t"/>
                      <a:r>
                        <a:rPr lang="en-US" b="1">
                          <a:solidFill>
                            <a:srgbClr val="333333"/>
                          </a:solidFill>
                          <a:effectLst/>
                          <a:latin typeface="inter-bold"/>
                        </a:rPr>
                        <a:t>packaging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defines packaging type such as jar, war etc.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4926106"/>
                  </a:ext>
                </a:extLst>
              </a:tr>
              <a:tr h="781620">
                <a:tc>
                  <a:txBody>
                    <a:bodyPr/>
                    <a:lstStyle/>
                    <a:p>
                      <a:pPr algn="just" fontAlgn="t"/>
                      <a:r>
                        <a:rPr lang="en-US" b="1">
                          <a:solidFill>
                            <a:srgbClr val="333333"/>
                          </a:solidFill>
                          <a:effectLst/>
                          <a:latin typeface="inter-bold"/>
                        </a:rPr>
                        <a:t>name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defines name of the maven project.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2957970856"/>
                  </a:ext>
                </a:extLst>
              </a:tr>
              <a:tr h="781620">
                <a:tc>
                  <a:txBody>
                    <a:bodyPr/>
                    <a:lstStyle/>
                    <a:p>
                      <a:pPr algn="just" fontAlgn="t"/>
                      <a:r>
                        <a:rPr lang="en-US" b="1">
                          <a:solidFill>
                            <a:srgbClr val="333333"/>
                          </a:solidFill>
                          <a:effectLst/>
                          <a:latin typeface="inter-bold"/>
                        </a:rPr>
                        <a:t>url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defines url of the project.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702875748"/>
                  </a:ext>
                </a:extLst>
              </a:tr>
              <a:tr h="645003">
                <a:tc>
                  <a:txBody>
                    <a:bodyPr/>
                    <a:lstStyle/>
                    <a:p>
                      <a:pPr algn="just" fontAlgn="t"/>
                      <a:r>
                        <a:rPr lang="en-US" b="1" dirty="0">
                          <a:solidFill>
                            <a:srgbClr val="333333"/>
                          </a:solidFill>
                          <a:effectLst/>
                          <a:latin typeface="inter-bold"/>
                        </a:rPr>
                        <a:t>dependencies</a:t>
                      </a:r>
                      <a:endParaRPr lang="en-US" dirty="0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defines dependencies for this project.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3917539756"/>
                  </a:ext>
                </a:extLst>
              </a:tr>
              <a:tr h="781620">
                <a:tc>
                  <a:txBody>
                    <a:bodyPr/>
                    <a:lstStyle/>
                    <a:p>
                      <a:pPr algn="just" fontAlgn="t"/>
                      <a:r>
                        <a:rPr lang="en-US" b="1">
                          <a:solidFill>
                            <a:srgbClr val="333333"/>
                          </a:solidFill>
                          <a:effectLst/>
                          <a:latin typeface="inter-bold"/>
                        </a:rPr>
                        <a:t>dependency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defines a dependency. It is used inside dependencies.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3289933650"/>
                  </a:ext>
                </a:extLst>
              </a:tr>
              <a:tr h="781620">
                <a:tc>
                  <a:txBody>
                    <a:bodyPr/>
                    <a:lstStyle/>
                    <a:p>
                      <a:pPr algn="just" fontAlgn="t"/>
                      <a:r>
                        <a:rPr lang="en-US" b="1" dirty="0">
                          <a:solidFill>
                            <a:srgbClr val="333333"/>
                          </a:solidFill>
                          <a:effectLst/>
                          <a:latin typeface="inter-bold"/>
                        </a:rPr>
                        <a:t>scope</a:t>
                      </a:r>
                      <a:endParaRPr lang="en-US" dirty="0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defines scope for this maven project. It can be compile, provided, runtime, test and system.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831955567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56616" y="6372146"/>
            <a:ext cx="2743200" cy="365125"/>
          </a:xfrm>
        </p:spPr>
        <p:txBody>
          <a:bodyPr/>
          <a:lstStyle/>
          <a:p>
            <a:fld id="{18925C6B-C1FE-4297-863E-68E85899D6B2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628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765" y="195308"/>
            <a:ext cx="11025050" cy="1112745"/>
          </a:xfrm>
        </p:spPr>
        <p:txBody>
          <a:bodyPr>
            <a:noAutofit/>
          </a:bodyPr>
          <a:lstStyle/>
          <a:p>
            <a:r>
              <a:rPr lang="en-US" sz="4000" b="1" i="1" dirty="0" smtClean="0"/>
              <a:t>Ant vs </a:t>
            </a:r>
            <a:r>
              <a:rPr lang="en-US" sz="4000" b="1" i="1" dirty="0"/>
              <a:t>Maven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56616" y="6372146"/>
            <a:ext cx="2743200" cy="365125"/>
          </a:xfrm>
        </p:spPr>
        <p:txBody>
          <a:bodyPr/>
          <a:lstStyle/>
          <a:p>
            <a:fld id="{18925C6B-C1FE-4297-863E-68E85899D6B2}" type="slidenum">
              <a:rPr lang="en-US" smtClean="0"/>
              <a:t>17</a:t>
            </a:fld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574765" y="1393537"/>
            <a:ext cx="10515600" cy="489312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Ant</a:t>
            </a:r>
            <a:r>
              <a:rPr lang="en-US" dirty="0"/>
              <a:t> and </a:t>
            </a:r>
            <a:r>
              <a:rPr lang="en-US" b="1" dirty="0"/>
              <a:t>Maven</a:t>
            </a:r>
            <a:r>
              <a:rPr lang="en-US" dirty="0"/>
              <a:t> both are build tools provided by Apache. The main purpose of these technologies is to ease the build process of a project</a:t>
            </a:r>
            <a:r>
              <a:rPr lang="en-US" dirty="0" smtClean="0"/>
              <a:t>.</a:t>
            </a:r>
            <a:endParaRPr lang="en-US" dirty="0"/>
          </a:p>
          <a:p>
            <a:pPr>
              <a:lnSpc>
                <a:spcPct val="150000"/>
              </a:lnSpc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68754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765" y="195308"/>
            <a:ext cx="11025050" cy="1112745"/>
          </a:xfrm>
        </p:spPr>
        <p:txBody>
          <a:bodyPr>
            <a:noAutofit/>
          </a:bodyPr>
          <a:lstStyle/>
          <a:p>
            <a:r>
              <a:rPr lang="en-US" sz="4000" b="1" i="1" dirty="0" smtClean="0"/>
              <a:t>Ant vs Maven (Cont.)</a:t>
            </a:r>
            <a:endParaRPr lang="en-US" sz="4000" b="1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56616" y="6372146"/>
            <a:ext cx="2743200" cy="365125"/>
          </a:xfrm>
        </p:spPr>
        <p:txBody>
          <a:bodyPr/>
          <a:lstStyle/>
          <a:p>
            <a:fld id="{18925C6B-C1FE-4297-863E-68E85899D6B2}" type="slidenum">
              <a:rPr lang="en-US" smtClean="0"/>
              <a:t>18</a:t>
            </a:fld>
            <a:endParaRPr lang="en-US" dirty="0"/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22974644"/>
              </p:ext>
            </p:extLst>
          </p:nvPr>
        </p:nvGraphicFramePr>
        <p:xfrm>
          <a:off x="470261" y="1303314"/>
          <a:ext cx="11234058" cy="53195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17029">
                  <a:extLst>
                    <a:ext uri="{9D8B030D-6E8A-4147-A177-3AD203B41FA5}">
                      <a16:colId xmlns:a16="http://schemas.microsoft.com/office/drawing/2014/main" val="260625057"/>
                    </a:ext>
                  </a:extLst>
                </a:gridCol>
                <a:gridCol w="5617029">
                  <a:extLst>
                    <a:ext uri="{9D8B030D-6E8A-4147-A177-3AD203B41FA5}">
                      <a16:colId xmlns:a16="http://schemas.microsoft.com/office/drawing/2014/main" val="3597294746"/>
                    </a:ext>
                  </a:extLst>
                </a:gridCol>
              </a:tblGrid>
              <a:tr h="583207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Ant</a:t>
                      </a:r>
                    </a:p>
                  </a:txBody>
                  <a:tcPr marL="114300" marR="114300" marT="114300" marB="1143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Maven</a:t>
                      </a:r>
                    </a:p>
                  </a:txBody>
                  <a:tcPr marL="114300" marR="114300" marT="114300" marB="114300"/>
                </a:tc>
                <a:extLst>
                  <a:ext uri="{0D108BD9-81ED-4DB2-BD59-A6C34878D82A}">
                    <a16:rowId xmlns:a16="http://schemas.microsoft.com/office/drawing/2014/main" val="2287490855"/>
                  </a:ext>
                </a:extLst>
              </a:tr>
              <a:tr h="1131068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Ant </a:t>
                      </a:r>
                      <a:r>
                        <a:rPr lang="en-US" b="1">
                          <a:solidFill>
                            <a:srgbClr val="333333"/>
                          </a:solidFill>
                          <a:effectLst/>
                          <a:latin typeface="inter-bold"/>
                        </a:rPr>
                        <a:t>doesn't has formal conventions</a:t>
                      </a: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, so we need to provide information of the project structure in build.xml file.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Maven </a:t>
                      </a:r>
                      <a:r>
                        <a:rPr lang="en-US" b="1">
                          <a:solidFill>
                            <a:srgbClr val="333333"/>
                          </a:solidFill>
                          <a:effectLst/>
                          <a:latin typeface="inter-bold"/>
                        </a:rPr>
                        <a:t>has a convention</a:t>
                      </a: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 to place source code, compiled code etc. So we don't need to provide information about the project structure in pom.xml file.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3130730980"/>
                  </a:ext>
                </a:extLst>
              </a:tr>
              <a:tr h="1131068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Ant is </a:t>
                      </a:r>
                      <a:r>
                        <a:rPr lang="en-US" b="1">
                          <a:solidFill>
                            <a:srgbClr val="333333"/>
                          </a:solidFill>
                          <a:effectLst/>
                          <a:latin typeface="inter-bold"/>
                        </a:rPr>
                        <a:t>procedural</a:t>
                      </a: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, you need to provide information about what to do and when to do through code. You need to provide order.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Maven is </a:t>
                      </a:r>
                      <a:r>
                        <a:rPr lang="en-US" b="1">
                          <a:solidFill>
                            <a:srgbClr val="333333"/>
                          </a:solidFill>
                          <a:effectLst/>
                          <a:latin typeface="inter-bold"/>
                        </a:rPr>
                        <a:t>declarative</a:t>
                      </a: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, everything you define in the pom.xml file.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2105913133"/>
                  </a:ext>
                </a:extLst>
              </a:tr>
              <a:tr h="494842"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There is </a:t>
                      </a:r>
                      <a:r>
                        <a:rPr lang="en-US" b="1" dirty="0">
                          <a:solidFill>
                            <a:srgbClr val="333333"/>
                          </a:solidFill>
                          <a:effectLst/>
                          <a:latin typeface="inter-bold"/>
                        </a:rPr>
                        <a:t>no life cycle</a:t>
                      </a:r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 in Ant.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There is </a:t>
                      </a:r>
                      <a:r>
                        <a:rPr lang="en-US" b="1">
                          <a:solidFill>
                            <a:srgbClr val="333333"/>
                          </a:solidFill>
                          <a:effectLst/>
                          <a:latin typeface="inter-bold"/>
                        </a:rPr>
                        <a:t>life cycle</a:t>
                      </a: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 in Maven.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387420246"/>
                  </a:ext>
                </a:extLst>
              </a:tr>
              <a:tr h="494842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is </a:t>
                      </a:r>
                      <a:r>
                        <a:rPr lang="en-US" b="1">
                          <a:solidFill>
                            <a:srgbClr val="333333"/>
                          </a:solidFill>
                          <a:effectLst/>
                          <a:latin typeface="inter-bold"/>
                        </a:rPr>
                        <a:t>a tool</a:t>
                      </a: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 box.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is </a:t>
                      </a:r>
                      <a:r>
                        <a:rPr lang="en-US" b="1">
                          <a:solidFill>
                            <a:srgbClr val="333333"/>
                          </a:solidFill>
                          <a:effectLst/>
                          <a:latin typeface="inter-bold"/>
                        </a:rPr>
                        <a:t>a framework</a:t>
                      </a: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.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2344279589"/>
                  </a:ext>
                </a:extLst>
              </a:tr>
              <a:tr h="494842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is </a:t>
                      </a:r>
                      <a:r>
                        <a:rPr lang="en-US" b="1">
                          <a:solidFill>
                            <a:srgbClr val="333333"/>
                          </a:solidFill>
                          <a:effectLst/>
                          <a:latin typeface="inter-bold"/>
                        </a:rPr>
                        <a:t>mainly a build tool</a:t>
                      </a: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.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is </a:t>
                      </a:r>
                      <a:r>
                        <a:rPr lang="en-US" b="1">
                          <a:solidFill>
                            <a:srgbClr val="333333"/>
                          </a:solidFill>
                          <a:effectLst/>
                          <a:latin typeface="inter-bold"/>
                        </a:rPr>
                        <a:t>mainly a project management tool</a:t>
                      </a: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.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3441780077"/>
                  </a:ext>
                </a:extLst>
              </a:tr>
              <a:tr h="494842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The ant scripts are </a:t>
                      </a:r>
                      <a:r>
                        <a:rPr lang="en-US" b="1">
                          <a:solidFill>
                            <a:srgbClr val="333333"/>
                          </a:solidFill>
                          <a:effectLst/>
                          <a:latin typeface="inter-bold"/>
                        </a:rPr>
                        <a:t>not reusable</a:t>
                      </a: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.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The maven plugins are </a:t>
                      </a:r>
                      <a:r>
                        <a:rPr lang="en-US" b="1" dirty="0">
                          <a:solidFill>
                            <a:srgbClr val="333333"/>
                          </a:solidFill>
                          <a:effectLst/>
                          <a:latin typeface="inter-bold"/>
                        </a:rPr>
                        <a:t>reusable</a:t>
                      </a:r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.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859426467"/>
                  </a:ext>
                </a:extLst>
              </a:tr>
              <a:tr h="494842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is </a:t>
                      </a:r>
                      <a:r>
                        <a:rPr lang="en-US" b="1">
                          <a:solidFill>
                            <a:srgbClr val="333333"/>
                          </a:solidFill>
                          <a:effectLst/>
                          <a:latin typeface="inter-bold"/>
                        </a:rPr>
                        <a:t>less preferred</a:t>
                      </a: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 than Maven.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is </a:t>
                      </a:r>
                      <a:r>
                        <a:rPr lang="en-US" b="1" dirty="0">
                          <a:solidFill>
                            <a:srgbClr val="333333"/>
                          </a:solidFill>
                          <a:effectLst/>
                          <a:latin typeface="inter-bold"/>
                        </a:rPr>
                        <a:t>more preferred</a:t>
                      </a:r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 than Ant.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242046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3983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765" y="195308"/>
            <a:ext cx="11025050" cy="1112745"/>
          </a:xfrm>
        </p:spPr>
        <p:txBody>
          <a:bodyPr>
            <a:noAutofit/>
          </a:bodyPr>
          <a:lstStyle/>
          <a:p>
            <a:r>
              <a:rPr lang="en-US" sz="4000" b="1" i="1" dirty="0" smtClean="0"/>
              <a:t>Maven </a:t>
            </a:r>
            <a:r>
              <a:rPr lang="en-US" sz="4000" b="1" i="1" dirty="0"/>
              <a:t>Repository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56616" y="6372146"/>
            <a:ext cx="2743200" cy="365125"/>
          </a:xfrm>
        </p:spPr>
        <p:txBody>
          <a:bodyPr/>
          <a:lstStyle/>
          <a:p>
            <a:fld id="{18925C6B-C1FE-4297-863E-68E85899D6B2}" type="slidenum">
              <a:rPr lang="en-US" smtClean="0"/>
              <a:t>19</a:t>
            </a:fld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574765" y="1308051"/>
            <a:ext cx="11025050" cy="542921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500" dirty="0" smtClean="0"/>
              <a:t>A</a:t>
            </a:r>
            <a:r>
              <a:rPr lang="en-US" sz="2500" dirty="0"/>
              <a:t> maven repository is a directory of packaged JAR file with pom.xml </a:t>
            </a:r>
            <a:r>
              <a:rPr lang="en-US" sz="2500" dirty="0" smtClean="0"/>
              <a:t>file.</a:t>
            </a:r>
          </a:p>
          <a:p>
            <a:pPr>
              <a:lnSpc>
                <a:spcPct val="150000"/>
              </a:lnSpc>
            </a:pPr>
            <a:r>
              <a:rPr lang="en-US" sz="2500" dirty="0" smtClean="0"/>
              <a:t>Maven </a:t>
            </a:r>
            <a:r>
              <a:rPr lang="en-US" sz="2500" dirty="0"/>
              <a:t>searches for dependencies in the </a:t>
            </a:r>
            <a:r>
              <a:rPr lang="en-US" sz="2500" dirty="0" smtClean="0"/>
              <a:t>repositories.</a:t>
            </a:r>
          </a:p>
          <a:p>
            <a:pPr>
              <a:lnSpc>
                <a:spcPct val="150000"/>
              </a:lnSpc>
            </a:pPr>
            <a:r>
              <a:rPr lang="en-US" sz="2500" dirty="0" smtClean="0"/>
              <a:t>There </a:t>
            </a:r>
            <a:r>
              <a:rPr lang="en-US" sz="2500" dirty="0"/>
              <a:t>are 3 types of maven </a:t>
            </a:r>
            <a:r>
              <a:rPr lang="en-US" sz="2500" dirty="0" smtClean="0"/>
              <a:t>repository:</a:t>
            </a:r>
          </a:p>
          <a:p>
            <a:pPr marL="1028700" lvl="1" indent="-571500">
              <a:lnSpc>
                <a:spcPct val="150000"/>
              </a:lnSpc>
              <a:buFont typeface="+mj-lt"/>
              <a:buAutoNum type="romanUcPeriod"/>
            </a:pPr>
            <a:r>
              <a:rPr lang="en-US" sz="2500" dirty="0" smtClean="0"/>
              <a:t>Local Repository</a:t>
            </a:r>
          </a:p>
          <a:p>
            <a:pPr marL="1028700" lvl="1" indent="-571500">
              <a:lnSpc>
                <a:spcPct val="150000"/>
              </a:lnSpc>
              <a:buFont typeface="+mj-lt"/>
              <a:buAutoNum type="romanUcPeriod"/>
            </a:pPr>
            <a:r>
              <a:rPr lang="en-US" sz="2500" dirty="0" smtClean="0"/>
              <a:t>Central Repository</a:t>
            </a:r>
          </a:p>
          <a:p>
            <a:pPr marL="1028700" lvl="1" indent="-571500">
              <a:lnSpc>
                <a:spcPct val="150000"/>
              </a:lnSpc>
              <a:buFont typeface="+mj-lt"/>
              <a:buAutoNum type="romanUcPeriod"/>
            </a:pPr>
            <a:r>
              <a:rPr lang="en-US" sz="2500" dirty="0" smtClean="0"/>
              <a:t>Remote Repository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500" dirty="0" smtClean="0"/>
              <a:t>Maven </a:t>
            </a:r>
            <a:r>
              <a:rPr lang="en-US" sz="2500" dirty="0"/>
              <a:t>searches for the dependencies in the following </a:t>
            </a:r>
            <a:r>
              <a:rPr lang="en-US" sz="2500" dirty="0" smtClean="0"/>
              <a:t>order: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100" b="1" i="1" dirty="0" smtClean="0">
                <a:solidFill>
                  <a:srgbClr val="FF0000"/>
                </a:solidFill>
              </a:rPr>
              <a:t>Local </a:t>
            </a:r>
            <a:r>
              <a:rPr lang="en-US" sz="2100" b="1" i="1" dirty="0">
                <a:solidFill>
                  <a:srgbClr val="FF0000"/>
                </a:solidFill>
              </a:rPr>
              <a:t>repository</a:t>
            </a:r>
            <a:r>
              <a:rPr lang="en-US" sz="2100" dirty="0"/>
              <a:t> then </a:t>
            </a:r>
            <a:r>
              <a:rPr lang="en-US" sz="2100" b="1" i="1" dirty="0">
                <a:solidFill>
                  <a:srgbClr val="FF0000"/>
                </a:solidFill>
              </a:rPr>
              <a:t>Central repository</a:t>
            </a:r>
            <a:r>
              <a:rPr lang="en-US" sz="2100" dirty="0"/>
              <a:t> then </a:t>
            </a:r>
            <a:r>
              <a:rPr lang="en-US" sz="2100" b="1" i="1" dirty="0">
                <a:solidFill>
                  <a:srgbClr val="FF0000"/>
                </a:solidFill>
              </a:rPr>
              <a:t>Remote repository</a:t>
            </a:r>
            <a:r>
              <a:rPr lang="en-US" sz="2100" dirty="0" smtClean="0"/>
              <a:t>.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1037737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765" y="195308"/>
            <a:ext cx="11025050" cy="1112745"/>
          </a:xfrm>
        </p:spPr>
        <p:txBody>
          <a:bodyPr>
            <a:noAutofit/>
          </a:bodyPr>
          <a:lstStyle/>
          <a:p>
            <a:r>
              <a:rPr lang="en-US" sz="4000" b="1" i="1" dirty="0" smtClean="0"/>
              <a:t>Maven </a:t>
            </a:r>
            <a:r>
              <a:rPr lang="en-US" sz="4000" b="1" i="1" dirty="0"/>
              <a:t>Local Repository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56616" y="6372146"/>
            <a:ext cx="2743200" cy="365125"/>
          </a:xfrm>
        </p:spPr>
        <p:txBody>
          <a:bodyPr/>
          <a:lstStyle/>
          <a:p>
            <a:fld id="{18925C6B-C1FE-4297-863E-68E85899D6B2}" type="slidenum">
              <a:rPr lang="en-US" smtClean="0"/>
              <a:t>20</a:t>
            </a:fld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574765" y="1308052"/>
            <a:ext cx="11025050" cy="506409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600" dirty="0" smtClean="0"/>
              <a:t>Maven</a:t>
            </a:r>
            <a:r>
              <a:rPr lang="en-US" sz="2600" dirty="0"/>
              <a:t> </a:t>
            </a:r>
            <a:r>
              <a:rPr lang="en-US" sz="2600" b="1" dirty="0"/>
              <a:t>local repository</a:t>
            </a:r>
            <a:r>
              <a:rPr lang="en-US" sz="2600" dirty="0"/>
              <a:t> is located in your local system. It is created by the maven when you run any maven command.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By default, maven local repository is %USER_HOME%/.m2 directory. For example: </a:t>
            </a:r>
            <a:r>
              <a:rPr lang="en-US" sz="2600" b="1" dirty="0"/>
              <a:t>C:\Users\SSS IT\.m2</a:t>
            </a:r>
            <a:r>
              <a:rPr lang="en-US" sz="2600" dirty="0" smtClean="0"/>
              <a:t>.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4215856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765" y="195308"/>
            <a:ext cx="11025050" cy="1112745"/>
          </a:xfrm>
        </p:spPr>
        <p:txBody>
          <a:bodyPr>
            <a:noAutofit/>
          </a:bodyPr>
          <a:lstStyle/>
          <a:p>
            <a:r>
              <a:rPr lang="en-US" sz="4000" b="1" i="1" dirty="0" smtClean="0"/>
              <a:t>Maven </a:t>
            </a:r>
            <a:r>
              <a:rPr lang="en-US" sz="4000" b="1" i="1" dirty="0"/>
              <a:t>Local </a:t>
            </a:r>
            <a:r>
              <a:rPr lang="en-US" sz="4000" b="1" i="1" dirty="0" smtClean="0"/>
              <a:t>Repository (Cont.)</a:t>
            </a:r>
            <a:endParaRPr lang="en-US" sz="4000" b="1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56616" y="6372146"/>
            <a:ext cx="2743200" cy="365125"/>
          </a:xfrm>
        </p:spPr>
        <p:txBody>
          <a:bodyPr/>
          <a:lstStyle/>
          <a:p>
            <a:fld id="{18925C6B-C1FE-4297-863E-68E85899D6B2}" type="slidenum">
              <a:rPr lang="en-US" smtClean="0"/>
              <a:t>21</a:t>
            </a:fld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574765" y="1308052"/>
            <a:ext cx="11025050" cy="506409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600" dirty="0" smtClean="0"/>
              <a:t> </a:t>
            </a:r>
            <a:endParaRPr lang="en-US" sz="26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4743" y="1636287"/>
            <a:ext cx="8594815" cy="4918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890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765" y="195308"/>
            <a:ext cx="11025050" cy="1112745"/>
          </a:xfrm>
        </p:spPr>
        <p:txBody>
          <a:bodyPr>
            <a:noAutofit/>
          </a:bodyPr>
          <a:lstStyle/>
          <a:p>
            <a:r>
              <a:rPr lang="en-US" sz="4000" b="1" i="1" dirty="0" smtClean="0"/>
              <a:t>Maven </a:t>
            </a:r>
            <a:r>
              <a:rPr lang="en-US" sz="4000" b="1" i="1" dirty="0"/>
              <a:t>Local </a:t>
            </a:r>
            <a:r>
              <a:rPr lang="en-US" sz="4000" b="1" i="1" dirty="0" smtClean="0"/>
              <a:t>Repository (Cont.)</a:t>
            </a:r>
            <a:endParaRPr lang="en-US" sz="4000" b="1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56616" y="6372146"/>
            <a:ext cx="2743200" cy="365125"/>
          </a:xfrm>
        </p:spPr>
        <p:txBody>
          <a:bodyPr/>
          <a:lstStyle/>
          <a:p>
            <a:fld id="{18925C6B-C1FE-4297-863E-68E85899D6B2}" type="slidenum">
              <a:rPr lang="en-US" smtClean="0"/>
              <a:t>22</a:t>
            </a:fld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574765" y="1308052"/>
            <a:ext cx="11025050" cy="506409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Update location of Local Repository</a:t>
            </a:r>
          </a:p>
          <a:p>
            <a:pPr>
              <a:lnSpc>
                <a:spcPct val="150000"/>
              </a:lnSpc>
            </a:pPr>
            <a:r>
              <a:rPr lang="en-US" dirty="0"/>
              <a:t>We can change the location of maven local repository by changing the </a:t>
            </a:r>
            <a:r>
              <a:rPr lang="en-US" b="1" dirty="0"/>
              <a:t>settings.xml</a:t>
            </a:r>
            <a:r>
              <a:rPr lang="en-US" dirty="0"/>
              <a:t> file. It is located in </a:t>
            </a:r>
            <a:r>
              <a:rPr lang="en-US" b="1" dirty="0"/>
              <a:t>MAVEN_HOME/</a:t>
            </a:r>
            <a:r>
              <a:rPr lang="en-US" b="1" dirty="0" err="1"/>
              <a:t>conf</a:t>
            </a:r>
            <a:r>
              <a:rPr lang="en-US" b="1" dirty="0"/>
              <a:t>/settings.xml</a:t>
            </a:r>
            <a:r>
              <a:rPr lang="en-US" dirty="0"/>
              <a:t>, for example: </a:t>
            </a:r>
            <a:r>
              <a:rPr lang="en-US" b="1" dirty="0"/>
              <a:t>E:\apache-maven-3.1.1\conf\settings.xml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</a:pPr>
            <a:r>
              <a:rPr lang="en-US" dirty="0"/>
              <a:t>Let's see the default code of settings.xml file</a:t>
            </a:r>
            <a:r>
              <a:rPr lang="en-US" dirty="0" smtClean="0"/>
              <a:t>.</a:t>
            </a:r>
            <a:r>
              <a:rPr lang="en-US" sz="2600" dirty="0" smtClean="0"/>
              <a:t> 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209864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765" y="195308"/>
            <a:ext cx="11025050" cy="1112745"/>
          </a:xfrm>
        </p:spPr>
        <p:txBody>
          <a:bodyPr>
            <a:noAutofit/>
          </a:bodyPr>
          <a:lstStyle/>
          <a:p>
            <a:r>
              <a:rPr lang="en-US" sz="4000" b="1" i="1" dirty="0" smtClean="0"/>
              <a:t>Maven </a:t>
            </a:r>
            <a:r>
              <a:rPr lang="en-US" sz="4000" b="1" i="1" dirty="0"/>
              <a:t>Local </a:t>
            </a:r>
            <a:r>
              <a:rPr lang="en-US" sz="4000" b="1" i="1" dirty="0" smtClean="0"/>
              <a:t>Repository (Cont.)</a:t>
            </a:r>
            <a:endParaRPr lang="en-US" sz="4000" b="1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56616" y="6372146"/>
            <a:ext cx="2743200" cy="365125"/>
          </a:xfrm>
        </p:spPr>
        <p:txBody>
          <a:bodyPr/>
          <a:lstStyle/>
          <a:p>
            <a:fld id="{18925C6B-C1FE-4297-863E-68E85899D6B2}" type="slidenum">
              <a:rPr lang="en-US" smtClean="0"/>
              <a:t>23</a:t>
            </a:fld>
            <a:endParaRPr lang="en-US" dirty="0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893" y="1068008"/>
            <a:ext cx="8147572" cy="4669557"/>
          </a:xfrm>
        </p:spPr>
      </p:pic>
      <p:sp>
        <p:nvSpPr>
          <p:cNvPr id="5" name="Rectangle 4"/>
          <p:cNvSpPr/>
          <p:nvPr/>
        </p:nvSpPr>
        <p:spPr>
          <a:xfrm>
            <a:off x="966651" y="5864315"/>
            <a:ext cx="10510897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333333"/>
                </a:solidFill>
                <a:latin typeface="inter-regular"/>
              </a:rPr>
              <a:t>Now change the path to local repository. After changing the path of local </a:t>
            </a:r>
            <a:r>
              <a:rPr lang="en-US" dirty="0" smtClean="0">
                <a:solidFill>
                  <a:srgbClr val="333333"/>
                </a:solidFill>
                <a:latin typeface="inter-regular"/>
              </a:rPr>
              <a:t>repository change.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6375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765" y="195308"/>
            <a:ext cx="11025050" cy="1112745"/>
          </a:xfrm>
        </p:spPr>
        <p:txBody>
          <a:bodyPr>
            <a:noAutofit/>
          </a:bodyPr>
          <a:lstStyle/>
          <a:p>
            <a:r>
              <a:rPr lang="en-US" sz="4000" b="1" i="1" dirty="0" smtClean="0"/>
              <a:t>Maven </a:t>
            </a:r>
            <a:r>
              <a:rPr lang="en-US" sz="4000" b="1" i="1" dirty="0"/>
              <a:t>Central Repository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56616" y="6372146"/>
            <a:ext cx="2743200" cy="365125"/>
          </a:xfrm>
        </p:spPr>
        <p:txBody>
          <a:bodyPr/>
          <a:lstStyle/>
          <a:p>
            <a:fld id="{18925C6B-C1FE-4297-863E-68E85899D6B2}" type="slidenum">
              <a:rPr lang="en-US" smtClean="0"/>
              <a:t>24</a:t>
            </a:fld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27017" y="1485990"/>
            <a:ext cx="10920546" cy="500625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Maven </a:t>
            </a:r>
            <a:r>
              <a:rPr lang="en-US" b="1" dirty="0"/>
              <a:t>central repository</a:t>
            </a:r>
            <a:r>
              <a:rPr lang="en-US" dirty="0"/>
              <a:t> is located on the web. It has been created by the apache maven community itself.</a:t>
            </a:r>
          </a:p>
          <a:p>
            <a:pPr>
              <a:lnSpc>
                <a:spcPct val="150000"/>
              </a:lnSpc>
            </a:pPr>
            <a:r>
              <a:rPr lang="en-US" dirty="0"/>
              <a:t>The path of central </a:t>
            </a:r>
            <a:r>
              <a:rPr lang="en-US" dirty="0" smtClean="0"/>
              <a:t>repository </a:t>
            </a:r>
            <a:r>
              <a:rPr lang="en-US" dirty="0"/>
              <a:t>is: </a:t>
            </a:r>
            <a:r>
              <a:rPr lang="en-US" dirty="0">
                <a:hlinkClick r:id="rId2"/>
              </a:rPr>
              <a:t>http://</a:t>
            </a:r>
            <a:r>
              <a:rPr lang="en-US" dirty="0" smtClean="0">
                <a:hlinkClick r:id="rId2"/>
              </a:rPr>
              <a:t>repo1.maven.org/maven2/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/>
              <a:t>The central repository contains a lot of common libraries that can be viewed by this </a:t>
            </a:r>
            <a:r>
              <a:rPr lang="en-US" dirty="0" err="1"/>
              <a:t>url</a:t>
            </a:r>
            <a:r>
              <a:rPr lang="en-US" dirty="0"/>
              <a:t> </a:t>
            </a:r>
            <a:r>
              <a:rPr lang="en-US" dirty="0">
                <a:hlinkClick r:id="rId3"/>
              </a:rPr>
              <a:t>http://search.maven.org/#browse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0349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765" y="195308"/>
            <a:ext cx="11025050" cy="1112745"/>
          </a:xfrm>
        </p:spPr>
        <p:txBody>
          <a:bodyPr>
            <a:noAutofit/>
          </a:bodyPr>
          <a:lstStyle/>
          <a:p>
            <a:r>
              <a:rPr lang="en-US" sz="4000" b="1" i="1" dirty="0" smtClean="0"/>
              <a:t>Maven </a:t>
            </a:r>
            <a:r>
              <a:rPr lang="en-US" sz="4000" b="1" i="1" dirty="0"/>
              <a:t>Remote Repository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56616" y="6372146"/>
            <a:ext cx="2743200" cy="365125"/>
          </a:xfrm>
        </p:spPr>
        <p:txBody>
          <a:bodyPr/>
          <a:lstStyle/>
          <a:p>
            <a:fld id="{18925C6B-C1FE-4297-863E-68E85899D6B2}" type="slidenum">
              <a:rPr lang="en-US" smtClean="0"/>
              <a:t>25</a:t>
            </a:fld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27017" y="1485990"/>
            <a:ext cx="10920546" cy="500625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Maven </a:t>
            </a:r>
            <a:r>
              <a:rPr lang="en-US" b="1" dirty="0"/>
              <a:t>remote repository</a:t>
            </a:r>
            <a:r>
              <a:rPr lang="en-US" dirty="0"/>
              <a:t> is located on the web. Most of libraries can be missing from the central repository such as </a:t>
            </a:r>
            <a:r>
              <a:rPr lang="en-US" dirty="0" err="1"/>
              <a:t>JBoss</a:t>
            </a:r>
            <a:r>
              <a:rPr lang="en-US" dirty="0"/>
              <a:t> library </a:t>
            </a:r>
            <a:r>
              <a:rPr lang="en-US" dirty="0" err="1"/>
              <a:t>etc</a:t>
            </a:r>
            <a:r>
              <a:rPr lang="en-US" dirty="0"/>
              <a:t>, so we need to define remote repository in pom.xml file.</a:t>
            </a:r>
          </a:p>
          <a:p>
            <a:pPr>
              <a:lnSpc>
                <a:spcPct val="150000"/>
              </a:lnSpc>
            </a:pPr>
            <a:r>
              <a:rPr lang="en-US" dirty="0"/>
              <a:t>Let's see the code to add the </a:t>
            </a:r>
            <a:r>
              <a:rPr lang="en-US" dirty="0" err="1"/>
              <a:t>jUnit</a:t>
            </a:r>
            <a:r>
              <a:rPr lang="en-US" dirty="0"/>
              <a:t> library in pom.xml </a:t>
            </a:r>
            <a:r>
              <a:rPr lang="en-US"/>
              <a:t>file</a:t>
            </a:r>
            <a:r>
              <a:rPr lang="en-US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7237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765" y="195308"/>
            <a:ext cx="11025050" cy="1112745"/>
          </a:xfrm>
        </p:spPr>
        <p:txBody>
          <a:bodyPr>
            <a:noAutofit/>
          </a:bodyPr>
          <a:lstStyle/>
          <a:p>
            <a:r>
              <a:rPr lang="en-US" sz="4000" b="1" i="1" dirty="0" smtClean="0"/>
              <a:t>Maven </a:t>
            </a:r>
            <a:r>
              <a:rPr lang="en-US" sz="4000" b="1" i="1" dirty="0"/>
              <a:t>Remote </a:t>
            </a:r>
            <a:r>
              <a:rPr lang="en-US" sz="4000" b="1" i="1" dirty="0" smtClean="0"/>
              <a:t>Repository (Cont.)</a:t>
            </a:r>
            <a:endParaRPr lang="en-US" sz="4000" b="1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56616" y="6372146"/>
            <a:ext cx="2743200" cy="365125"/>
          </a:xfrm>
        </p:spPr>
        <p:txBody>
          <a:bodyPr/>
          <a:lstStyle/>
          <a:p>
            <a:fld id="{18925C6B-C1FE-4297-863E-68E85899D6B2}" type="slidenum">
              <a:rPr lang="en-US" smtClean="0"/>
              <a:t>26</a:t>
            </a:fld>
            <a:endParaRPr lang="en-US" dirty="0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2389" y="1122890"/>
            <a:ext cx="6272619" cy="5614381"/>
          </a:xfrm>
        </p:spPr>
      </p:pic>
    </p:spTree>
    <p:extLst>
      <p:ext uri="{BB962C8B-B14F-4D97-AF65-F5344CB8AC3E}">
        <p14:creationId xmlns:p14="http://schemas.microsoft.com/office/powerpoint/2010/main" val="1307141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765" y="195308"/>
            <a:ext cx="11025050" cy="1112745"/>
          </a:xfrm>
        </p:spPr>
        <p:txBody>
          <a:bodyPr>
            <a:noAutofit/>
          </a:bodyPr>
          <a:lstStyle/>
          <a:p>
            <a:r>
              <a:rPr lang="en-US" sz="4000" b="1" i="1" dirty="0" smtClean="0"/>
              <a:t>How </a:t>
            </a:r>
            <a:r>
              <a:rPr lang="en-US" sz="4000" b="1" i="1" dirty="0"/>
              <a:t>to install Maven on windows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56616" y="6372146"/>
            <a:ext cx="2743200" cy="365125"/>
          </a:xfrm>
        </p:spPr>
        <p:txBody>
          <a:bodyPr/>
          <a:lstStyle/>
          <a:p>
            <a:fld id="{18925C6B-C1FE-4297-863E-68E85899D6B2}" type="slidenum">
              <a:rPr lang="en-US" smtClean="0"/>
              <a:t>27</a:t>
            </a:fld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74765" y="1407613"/>
            <a:ext cx="10842172" cy="4549049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You can download and install maven on windows, </a:t>
            </a:r>
            <a:r>
              <a:rPr lang="en-US" dirty="0" err="1"/>
              <a:t>linux</a:t>
            </a:r>
            <a:r>
              <a:rPr lang="en-US" dirty="0"/>
              <a:t> and MAC OS platforms. Here, we are going to learn how to install maven on windows OS.</a:t>
            </a:r>
          </a:p>
          <a:p>
            <a:pPr>
              <a:lnSpc>
                <a:spcPct val="150000"/>
              </a:lnSpc>
            </a:pPr>
            <a:r>
              <a:rPr lang="en-US" dirty="0"/>
              <a:t>To install maven on windows, you need to perform following steps: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Download maven and extract </a:t>
            </a:r>
            <a:r>
              <a:rPr lang="en-US" dirty="0" smtClean="0"/>
              <a:t>it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 smtClean="0"/>
              <a:t>Add </a:t>
            </a:r>
            <a:r>
              <a:rPr lang="en-US" dirty="0"/>
              <a:t>JAVA_HOME and MAVEN_HOME in environment </a:t>
            </a:r>
            <a:r>
              <a:rPr lang="en-US" dirty="0" smtClean="0"/>
              <a:t>variable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 smtClean="0"/>
              <a:t>Add </a:t>
            </a:r>
            <a:r>
              <a:rPr lang="en-US" dirty="0"/>
              <a:t>maven path in environment </a:t>
            </a:r>
            <a:r>
              <a:rPr lang="en-US" dirty="0" smtClean="0"/>
              <a:t>variable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 smtClean="0"/>
              <a:t>Verify Maven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4755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765" y="195308"/>
            <a:ext cx="11025050" cy="1112745"/>
          </a:xfrm>
        </p:spPr>
        <p:txBody>
          <a:bodyPr>
            <a:noAutofit/>
          </a:bodyPr>
          <a:lstStyle/>
          <a:p>
            <a:r>
              <a:rPr lang="en-US" sz="4000" b="1" i="1" dirty="0" smtClean="0"/>
              <a:t>Download </a:t>
            </a:r>
            <a:r>
              <a:rPr lang="en-US" sz="4000" b="1" i="1" dirty="0"/>
              <a:t>Maven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56616" y="6372146"/>
            <a:ext cx="2743200" cy="365125"/>
          </a:xfrm>
        </p:spPr>
        <p:txBody>
          <a:bodyPr/>
          <a:lstStyle/>
          <a:p>
            <a:fld id="{18925C6B-C1FE-4297-863E-68E85899D6B2}" type="slidenum">
              <a:rPr lang="en-US" smtClean="0"/>
              <a:t>28</a:t>
            </a:fld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74765" y="1308053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 smtClean="0"/>
              <a:t>To </a:t>
            </a:r>
            <a:r>
              <a:rPr lang="en-US" dirty="0"/>
              <a:t>install maven on windows, you need to download apache maven first.</a:t>
            </a:r>
          </a:p>
          <a:p>
            <a:pPr>
              <a:lnSpc>
                <a:spcPct val="150000"/>
              </a:lnSpc>
            </a:pPr>
            <a:r>
              <a:rPr lang="en-US" dirty="0"/>
              <a:t>Download Maven latest Maven software </a:t>
            </a:r>
            <a:r>
              <a:rPr lang="en-US" dirty="0" smtClean="0"/>
              <a:t>from</a:t>
            </a:r>
          </a:p>
          <a:p>
            <a:pPr lvl="1">
              <a:lnSpc>
                <a:spcPct val="150000"/>
              </a:lnSpc>
            </a:pPr>
            <a:r>
              <a:rPr lang="en-US" dirty="0" smtClean="0">
                <a:hlinkClick r:id="rId2"/>
              </a:rPr>
              <a:t>https</a:t>
            </a:r>
            <a:r>
              <a:rPr lang="en-US" dirty="0">
                <a:hlinkClick r:id="rId2"/>
              </a:rPr>
              <a:t>://</a:t>
            </a:r>
            <a:r>
              <a:rPr lang="en-US" dirty="0" smtClean="0">
                <a:hlinkClick r:id="rId2"/>
              </a:rPr>
              <a:t>maven.apache.org/download.cgi</a:t>
            </a:r>
            <a:endParaRPr lang="en-US" dirty="0" smtClean="0"/>
          </a:p>
          <a:p>
            <a:r>
              <a:rPr lang="en-US" dirty="0"/>
              <a:t>For example: </a:t>
            </a:r>
            <a:r>
              <a:rPr lang="en-US" b="1" dirty="0" smtClean="0"/>
              <a:t>apache-maven-3.8.5-bin.zip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216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765" y="195308"/>
            <a:ext cx="11025050" cy="1112745"/>
          </a:xfrm>
        </p:spPr>
        <p:txBody>
          <a:bodyPr>
            <a:noAutofit/>
          </a:bodyPr>
          <a:lstStyle/>
          <a:p>
            <a:r>
              <a:rPr lang="en-US" sz="4000" b="1" i="1" dirty="0" smtClean="0"/>
              <a:t>Extract </a:t>
            </a:r>
            <a:r>
              <a:rPr lang="en-US" sz="4000" b="1" i="1" dirty="0"/>
              <a:t>it. Now it will look like this: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56616" y="6372146"/>
            <a:ext cx="2743200" cy="365125"/>
          </a:xfrm>
        </p:spPr>
        <p:txBody>
          <a:bodyPr/>
          <a:lstStyle/>
          <a:p>
            <a:fld id="{18925C6B-C1FE-4297-863E-68E85899D6B2}" type="slidenum">
              <a:rPr lang="en-US" smtClean="0"/>
              <a:t>29</a:t>
            </a:fld>
            <a:endParaRPr lang="en-US" dirty="0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406" y="1175658"/>
            <a:ext cx="9673741" cy="5561614"/>
          </a:xfrm>
        </p:spPr>
      </p:pic>
    </p:spTree>
    <p:extLst>
      <p:ext uri="{BB962C8B-B14F-4D97-AF65-F5344CB8AC3E}">
        <p14:creationId xmlns:p14="http://schemas.microsoft.com/office/powerpoint/2010/main" val="1707756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765" y="195308"/>
            <a:ext cx="11025050" cy="1112745"/>
          </a:xfrm>
        </p:spPr>
        <p:txBody>
          <a:bodyPr>
            <a:noAutofit/>
          </a:bodyPr>
          <a:lstStyle/>
          <a:p>
            <a:r>
              <a:rPr lang="en-US" sz="4000" b="1" i="1" dirty="0" smtClean="0"/>
              <a:t>Add </a:t>
            </a:r>
            <a:r>
              <a:rPr lang="en-US" sz="4000" b="1" i="1" dirty="0"/>
              <a:t>MAVEN_HOME in environment variable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56616" y="6372146"/>
            <a:ext cx="2743200" cy="365125"/>
          </a:xfrm>
        </p:spPr>
        <p:txBody>
          <a:bodyPr/>
          <a:lstStyle/>
          <a:p>
            <a:fld id="{18925C6B-C1FE-4297-863E-68E85899D6B2}" type="slidenum">
              <a:rPr lang="en-US" smtClean="0"/>
              <a:t>30</a:t>
            </a:fld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74765" y="1308052"/>
            <a:ext cx="7406641" cy="5064093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Right click on </a:t>
            </a:r>
            <a:r>
              <a:rPr lang="en-US" b="1" dirty="0" err="1"/>
              <a:t>MyComputer</a:t>
            </a:r>
            <a:r>
              <a:rPr lang="en-US" dirty="0"/>
              <a:t> -&gt; </a:t>
            </a:r>
            <a:r>
              <a:rPr lang="en-US" b="1" dirty="0"/>
              <a:t>properties</a:t>
            </a:r>
            <a:r>
              <a:rPr lang="en-US" dirty="0"/>
              <a:t> -&gt; </a:t>
            </a:r>
            <a:r>
              <a:rPr lang="en-US" b="1" dirty="0"/>
              <a:t>Advanced System Settings</a:t>
            </a:r>
            <a:r>
              <a:rPr lang="en-US" dirty="0"/>
              <a:t> -&gt; </a:t>
            </a:r>
            <a:r>
              <a:rPr lang="en-US" b="1" dirty="0"/>
              <a:t>Environment variables</a:t>
            </a:r>
            <a:r>
              <a:rPr lang="en-US" dirty="0"/>
              <a:t> -&gt; </a:t>
            </a:r>
            <a:r>
              <a:rPr lang="en-US" b="1" dirty="0"/>
              <a:t>click new button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Now </a:t>
            </a:r>
            <a:r>
              <a:rPr lang="en-US" b="1" dirty="0"/>
              <a:t>add MAVEN_HOME</a:t>
            </a:r>
            <a:r>
              <a:rPr lang="en-US" dirty="0"/>
              <a:t> in variable name and path of maven in variable value. It must be the home directory of maven i.e. outer directory of bin. For example: </a:t>
            </a:r>
            <a:r>
              <a:rPr lang="en-US" b="1" dirty="0"/>
              <a:t>E:\</a:t>
            </a:r>
            <a:r>
              <a:rPr lang="en-US" b="1" dirty="0" smtClean="0"/>
              <a:t>apache-maven-3.8.5</a:t>
            </a:r>
            <a:r>
              <a:rPr lang="en-US" dirty="0"/>
              <a:t> .It is displayed below: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3993" y="1308052"/>
            <a:ext cx="3255822" cy="373722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462938" y="5339380"/>
            <a:ext cx="26597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rgbClr val="333333"/>
                </a:solidFill>
                <a:latin typeface="inter-regular"/>
              </a:rPr>
              <a:t>Now click on </a:t>
            </a:r>
            <a:r>
              <a:rPr lang="en-US" b="1">
                <a:solidFill>
                  <a:srgbClr val="333333"/>
                </a:solidFill>
                <a:latin typeface="inter-bold"/>
              </a:rPr>
              <a:t>OK</a:t>
            </a:r>
            <a:r>
              <a:rPr lang="en-US">
                <a:solidFill>
                  <a:srgbClr val="333333"/>
                </a:solidFill>
                <a:latin typeface="inter-regular"/>
              </a:rPr>
              <a:t> button.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740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765" y="195308"/>
            <a:ext cx="11025050" cy="1112745"/>
          </a:xfrm>
        </p:spPr>
        <p:txBody>
          <a:bodyPr>
            <a:noAutofit/>
          </a:bodyPr>
          <a:lstStyle/>
          <a:p>
            <a:r>
              <a:rPr lang="en-US" sz="4000" b="1" i="1" dirty="0" smtClean="0"/>
              <a:t>Add </a:t>
            </a:r>
            <a:r>
              <a:rPr lang="en-US" sz="4000" b="1" i="1" dirty="0"/>
              <a:t>Maven Path in environment variable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56616" y="6372146"/>
            <a:ext cx="2743200" cy="365125"/>
          </a:xfrm>
        </p:spPr>
        <p:txBody>
          <a:bodyPr/>
          <a:lstStyle/>
          <a:p>
            <a:fld id="{18925C6B-C1FE-4297-863E-68E85899D6B2}" type="slidenum">
              <a:rPr lang="en-US" smtClean="0"/>
              <a:t>31</a:t>
            </a:fld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74765" y="1308052"/>
            <a:ext cx="7406641" cy="506409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 smtClean="0"/>
              <a:t>Click </a:t>
            </a:r>
            <a:r>
              <a:rPr lang="en-US" dirty="0"/>
              <a:t>on new tab if path is not set, then set the path of maven. If it is set, edit the path and append the path of maven.</a:t>
            </a:r>
          </a:p>
          <a:p>
            <a:pPr>
              <a:lnSpc>
                <a:spcPct val="150000"/>
              </a:lnSpc>
            </a:pPr>
            <a:r>
              <a:rPr lang="en-US" dirty="0"/>
              <a:t>Here, we have installed JDK and its path is set by default, so we are going to append the path of maven.</a:t>
            </a:r>
          </a:p>
          <a:p>
            <a:pPr>
              <a:lnSpc>
                <a:spcPct val="150000"/>
              </a:lnSpc>
            </a:pPr>
            <a:r>
              <a:rPr lang="en-US" dirty="0"/>
              <a:t>The path of maven should be </a:t>
            </a:r>
            <a:r>
              <a:rPr lang="en-US" b="1" dirty="0"/>
              <a:t>%maven home%/bin</a:t>
            </a:r>
            <a:r>
              <a:rPr lang="en-US" dirty="0"/>
              <a:t>. For example, </a:t>
            </a:r>
            <a:r>
              <a:rPr lang="en-US" b="1" dirty="0"/>
              <a:t>E:\</a:t>
            </a:r>
            <a:r>
              <a:rPr lang="en-US" b="1" dirty="0" smtClean="0"/>
              <a:t>apache-maven-3.8.5\bin</a:t>
            </a:r>
            <a:r>
              <a:rPr lang="en-US" dirty="0"/>
              <a:t> </a:t>
            </a:r>
            <a:r>
              <a:rPr lang="en-US" dirty="0" smtClean="0"/>
              <a:t>.</a:t>
            </a: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62938" y="5339380"/>
            <a:ext cx="26597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rgbClr val="333333"/>
                </a:solidFill>
                <a:latin typeface="inter-regular"/>
              </a:rPr>
              <a:t>Now click on </a:t>
            </a:r>
            <a:r>
              <a:rPr lang="en-US" b="1">
                <a:solidFill>
                  <a:srgbClr val="333333"/>
                </a:solidFill>
                <a:latin typeface="inter-bold"/>
              </a:rPr>
              <a:t>OK</a:t>
            </a:r>
            <a:r>
              <a:rPr lang="en-US">
                <a:solidFill>
                  <a:srgbClr val="333333"/>
                </a:solidFill>
                <a:latin typeface="inter-regular"/>
              </a:rPr>
              <a:t> button.</a:t>
            </a:r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1545" y="1157811"/>
            <a:ext cx="3348270" cy="383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8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765" y="195308"/>
            <a:ext cx="11025050" cy="1112745"/>
          </a:xfrm>
        </p:spPr>
        <p:txBody>
          <a:bodyPr>
            <a:noAutofit/>
          </a:bodyPr>
          <a:lstStyle/>
          <a:p>
            <a:r>
              <a:rPr lang="en-US" sz="4000" b="1" i="1" dirty="0" smtClean="0"/>
              <a:t>Verify </a:t>
            </a:r>
            <a:r>
              <a:rPr lang="en-US" sz="4000" b="1" i="1" dirty="0"/>
              <a:t>maven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56616" y="6372146"/>
            <a:ext cx="2743200" cy="365125"/>
          </a:xfrm>
        </p:spPr>
        <p:txBody>
          <a:bodyPr/>
          <a:lstStyle/>
          <a:p>
            <a:fld id="{18925C6B-C1FE-4297-863E-68E85899D6B2}" type="slidenum">
              <a:rPr lang="en-US" smtClean="0"/>
              <a:t>32</a:t>
            </a:fld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74765" y="1308052"/>
            <a:ext cx="11025050" cy="5064093"/>
          </a:xfrm>
        </p:spPr>
        <p:txBody>
          <a:bodyPr>
            <a:normAutofit/>
          </a:bodyPr>
          <a:lstStyle/>
          <a:p>
            <a:r>
              <a:rPr lang="en-US" dirty="0" smtClean="0"/>
              <a:t>To </a:t>
            </a:r>
            <a:r>
              <a:rPr lang="en-US" dirty="0"/>
              <a:t>verify whether maven is installed or not, open the command prompt and write</a:t>
            </a:r>
            <a:r>
              <a:rPr lang="en-US" dirty="0" smtClean="0"/>
              <a:t>:</a:t>
            </a:r>
          </a:p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2598494" y="1846608"/>
            <a:ext cx="6258122" cy="36933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en-US" dirty="0" err="1">
                <a:solidFill>
                  <a:srgbClr val="000000"/>
                </a:solidFill>
                <a:latin typeface="inter-regular"/>
              </a:rPr>
              <a:t>mvn</a:t>
            </a:r>
            <a:r>
              <a:rPr lang="en-US" dirty="0">
                <a:solidFill>
                  <a:srgbClr val="000000"/>
                </a:solidFill>
                <a:latin typeface="inter-regular"/>
              </a:rPr>
              <a:t> −version  </a:t>
            </a:r>
            <a:endParaRPr lang="en-US" b="0" i="0" dirty="0">
              <a:solidFill>
                <a:srgbClr val="000000"/>
              </a:solidFill>
              <a:effectLst/>
              <a:latin typeface="inter-regular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2862" y="2323919"/>
            <a:ext cx="7728856" cy="4413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679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8000" b="1" i="1" dirty="0"/>
              <a:t>Thanks</a:t>
            </a:r>
            <a:endParaRPr lang="en-US" sz="36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23900" dirty="0" smtClean="0"/>
              <a:t>…?</a:t>
            </a:r>
            <a:endParaRPr lang="en-US" sz="239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25C6B-C1FE-4297-863E-68E85899D6B2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088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9855</TotalTime>
  <Words>1103</Words>
  <Application>Microsoft Office PowerPoint</Application>
  <PresentationFormat>Widescreen</PresentationFormat>
  <Paragraphs>200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2" baseType="lpstr">
      <vt:lpstr>Arial</vt:lpstr>
      <vt:lpstr>Calibri</vt:lpstr>
      <vt:lpstr>Calibri (Body)</vt:lpstr>
      <vt:lpstr>Calibri Light</vt:lpstr>
      <vt:lpstr>inter-bold</vt:lpstr>
      <vt:lpstr>inter-regular</vt:lpstr>
      <vt:lpstr>Times New Roman</vt:lpstr>
      <vt:lpstr>Wingdings</vt:lpstr>
      <vt:lpstr>Office Theme</vt:lpstr>
      <vt:lpstr>Lecture-13</vt:lpstr>
      <vt:lpstr>Contents</vt:lpstr>
      <vt:lpstr>Devops Build Stage</vt:lpstr>
      <vt:lpstr>DevOps Build Stage (Cont.)</vt:lpstr>
      <vt:lpstr>Build Tools</vt:lpstr>
      <vt:lpstr>Build Tools List</vt:lpstr>
      <vt:lpstr>What do build tools do?</vt:lpstr>
      <vt:lpstr>Build Tools Google Trends</vt:lpstr>
      <vt:lpstr>Maven</vt:lpstr>
      <vt:lpstr>Maven (Cont.)</vt:lpstr>
      <vt:lpstr>Maven Architecture</vt:lpstr>
      <vt:lpstr>Maven Architecture (Cont.)</vt:lpstr>
      <vt:lpstr>How Does the Maven Architecture Work?</vt:lpstr>
      <vt:lpstr>Project Object Model (POM)</vt:lpstr>
      <vt:lpstr>Elements of maven pom.xml file</vt:lpstr>
      <vt:lpstr>Elements of maven pom.xml file (Cont.)</vt:lpstr>
      <vt:lpstr>Ant vs Maven</vt:lpstr>
      <vt:lpstr>Ant vs Maven (Cont.)</vt:lpstr>
      <vt:lpstr>Maven Repository</vt:lpstr>
      <vt:lpstr>Maven Local Repository</vt:lpstr>
      <vt:lpstr>Maven Local Repository (Cont.)</vt:lpstr>
      <vt:lpstr>Maven Local Repository (Cont.)</vt:lpstr>
      <vt:lpstr>Maven Local Repository (Cont.)</vt:lpstr>
      <vt:lpstr>Maven Central Repository</vt:lpstr>
      <vt:lpstr>Maven Remote Repository</vt:lpstr>
      <vt:lpstr>Maven Remote Repository (Cont.)</vt:lpstr>
      <vt:lpstr>How to install Maven on windows</vt:lpstr>
      <vt:lpstr>Download Maven</vt:lpstr>
      <vt:lpstr>Extract it. Now it will look like this:</vt:lpstr>
      <vt:lpstr>Add MAVEN_HOME in environment variable</vt:lpstr>
      <vt:lpstr>Add Maven Path in environment variable</vt:lpstr>
      <vt:lpstr>Verify maven</vt:lpstr>
      <vt:lpstr>Thanks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Muhammad Hanif</dc:creator>
  <cp:lastModifiedBy>Sharif Hussain</cp:lastModifiedBy>
  <cp:revision>1320</cp:revision>
  <dcterms:created xsi:type="dcterms:W3CDTF">2017-02-21T04:58:17Z</dcterms:created>
  <dcterms:modified xsi:type="dcterms:W3CDTF">2022-05-24T19:15:36Z</dcterms:modified>
</cp:coreProperties>
</file>