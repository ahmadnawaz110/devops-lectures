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14" r:id="rId2"/>
    <p:sldId id="384" r:id="rId3"/>
    <p:sldId id="386" r:id="rId4"/>
    <p:sldId id="387" r:id="rId5"/>
    <p:sldId id="389" r:id="rId6"/>
    <p:sldId id="390" r:id="rId7"/>
    <p:sldId id="405" r:id="rId8"/>
    <p:sldId id="406" r:id="rId9"/>
    <p:sldId id="407" r:id="rId10"/>
    <p:sldId id="403" r:id="rId11"/>
    <p:sldId id="404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8C529-43AD-492C-BD00-7663F000CDBF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5CC1E-72FA-4E57-BA7F-FC1221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5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ABFB-0481-4CC5-ABF9-2C4CE9D12409}" type="datetime1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1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DBEC-91FA-447A-8AB9-A8DB16DAAB17}" type="datetime1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4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43D-2555-4A57-B8EB-75C7F91B71C6}" type="datetime1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2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8C4-1FBA-4FE5-8D28-8C27B7466E79}" type="datetime1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5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682A9-2A64-4335-8BB6-EA1B5FE288A5}" type="datetime1">
              <a:rPr lang="en-US" smtClean="0"/>
              <a:t>5/19/2023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6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C89B2-6DED-445A-9AF5-74F690F84E78}" type="datetime1">
              <a:rPr lang="en-US" smtClean="0"/>
              <a:t>5/19/2023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7014-808B-4A34-9722-060A0C8B943A}" type="datetime1">
              <a:rPr lang="en-US" smtClean="0"/>
              <a:t>5/19/2023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8D58-A862-414E-9423-46150B41CA14}" type="datetime1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0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6D00-FA0D-4D29-83D4-DD5A6DDF16E7}" type="datetime1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7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5918-257A-4095-BDEB-73BDDEB4A29E}" type="datetime1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10D01-121F-4BE4-9A0D-9D74E07BA582}" type="datetime1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012F9-413F-48FB-8539-50B5C9E7D155}" type="datetime1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388" y="2913651"/>
            <a:ext cx="9144000" cy="962706"/>
          </a:xfrm>
        </p:spPr>
        <p:txBody>
          <a:bodyPr>
            <a:normAutofit/>
          </a:bodyPr>
          <a:lstStyle/>
          <a:p>
            <a:r>
              <a:rPr lang="en-US" dirty="0" smtClean="0"/>
              <a:t>JIRA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697" y="3876357"/>
            <a:ext cx="9144000" cy="1655762"/>
          </a:xfrm>
        </p:spPr>
        <p:txBody>
          <a:bodyPr/>
          <a:lstStyle/>
          <a:p>
            <a:r>
              <a:rPr lang="en-US" i="1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87971" y="6153150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z="1600" smtClean="0"/>
              <a:t>1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3458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314" y="403907"/>
            <a:ext cx="10787742" cy="719500"/>
          </a:xfrm>
        </p:spPr>
        <p:txBody>
          <a:bodyPr>
            <a:normAutofit/>
          </a:bodyPr>
          <a:lstStyle/>
          <a:p>
            <a:pPr algn="l"/>
            <a:r>
              <a:rPr lang="en-US" sz="4000" b="1" i="1" dirty="0" smtClean="0"/>
              <a:t>Contents</a:t>
            </a:r>
            <a:endParaRPr lang="en-US" sz="4000" b="1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314" y="1435415"/>
            <a:ext cx="10787741" cy="5017317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is JIRA?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is JIRA used for?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to Use JIRA?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JIRA workflows</a:t>
            </a:r>
            <a:endParaRPr lang="en-US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Jira Administrator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71855" y="6087608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1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What </a:t>
            </a:r>
            <a:r>
              <a:rPr lang="en-US" sz="4000" b="1" i="1" dirty="0"/>
              <a:t>is JIRA?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libri (Body)"/>
              </a:rPr>
              <a:t>JIRA </a:t>
            </a:r>
            <a:r>
              <a:rPr lang="en-US" dirty="0">
                <a:latin typeface="Calibri (Body)"/>
              </a:rPr>
              <a:t>is an Incident Management Tool used for Project Management, Bug Tracking, Issue Tracking, and </a:t>
            </a:r>
            <a:r>
              <a:rPr lang="en-US" dirty="0" smtClean="0">
                <a:latin typeface="Calibri (Body)"/>
              </a:rPr>
              <a:t>Workflow.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libri (Body)"/>
              </a:rPr>
              <a:t>JIRA </a:t>
            </a:r>
            <a:r>
              <a:rPr lang="en-US" dirty="0">
                <a:latin typeface="Calibri (Body)"/>
              </a:rPr>
              <a:t>is based </a:t>
            </a:r>
            <a:r>
              <a:rPr lang="en-US" dirty="0" smtClean="0">
                <a:latin typeface="Calibri (Body)"/>
              </a:rPr>
              <a:t>on: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Calibri (Body)"/>
              </a:rPr>
              <a:t>Project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Calibri (Body)"/>
              </a:rPr>
              <a:t>Issue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Calibri (Body)"/>
              </a:rPr>
              <a:t>Workflow</a:t>
            </a:r>
            <a:r>
              <a:rPr lang="en-US" dirty="0">
                <a:latin typeface="Calibri (Body)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49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About JIRA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700" dirty="0" smtClean="0">
                <a:latin typeface="Calibri (Body)"/>
              </a:rPr>
              <a:t>JIRA </a:t>
            </a:r>
            <a:r>
              <a:rPr lang="en-US" sz="2700" dirty="0">
                <a:latin typeface="Calibri (Body)"/>
              </a:rPr>
              <a:t>is developed by </a:t>
            </a:r>
            <a:r>
              <a:rPr lang="en-US" sz="2700" dirty="0" err="1">
                <a:latin typeface="Calibri (Body)"/>
              </a:rPr>
              <a:t>Atlassian</a:t>
            </a:r>
            <a:r>
              <a:rPr lang="en-US" sz="2700" dirty="0">
                <a:latin typeface="Calibri (Body)"/>
              </a:rPr>
              <a:t> Inc., an Australian </a:t>
            </a:r>
            <a:r>
              <a:rPr lang="en-US" sz="2700" dirty="0" smtClean="0">
                <a:latin typeface="Calibri (Body)"/>
              </a:rPr>
              <a:t>Company.</a:t>
            </a:r>
          </a:p>
          <a:p>
            <a:pPr>
              <a:lnSpc>
                <a:spcPct val="150000"/>
              </a:lnSpc>
            </a:pPr>
            <a:r>
              <a:rPr lang="en-US" sz="2700" dirty="0" smtClean="0">
                <a:latin typeface="Calibri (Body)"/>
              </a:rPr>
              <a:t>JIRA </a:t>
            </a:r>
            <a:r>
              <a:rPr lang="en-US" sz="2700" dirty="0">
                <a:latin typeface="Calibri (Body)"/>
              </a:rPr>
              <a:t>is a platform independent tool; it can be used with any </a:t>
            </a:r>
            <a:r>
              <a:rPr lang="en-US" sz="2700" dirty="0" smtClean="0">
                <a:latin typeface="Calibri (Body)"/>
              </a:rPr>
              <a:t>OS.</a:t>
            </a:r>
          </a:p>
          <a:p>
            <a:pPr>
              <a:lnSpc>
                <a:spcPct val="150000"/>
              </a:lnSpc>
            </a:pPr>
            <a:r>
              <a:rPr lang="en-US" sz="2700" dirty="0" smtClean="0">
                <a:latin typeface="Calibri (Body)"/>
              </a:rPr>
              <a:t>JIRA </a:t>
            </a:r>
            <a:r>
              <a:rPr lang="en-US" sz="2700" dirty="0">
                <a:latin typeface="Calibri (Body)"/>
              </a:rPr>
              <a:t>is </a:t>
            </a:r>
            <a:r>
              <a:rPr lang="en-US" sz="2700" dirty="0" smtClean="0">
                <a:latin typeface="Calibri (Body)"/>
              </a:rPr>
              <a:t>multi- language-tool </a:t>
            </a:r>
            <a:r>
              <a:rPr lang="en-US" sz="2700" dirty="0">
                <a:latin typeface="Calibri (Body)"/>
              </a:rPr>
              <a:t>− English, French, German, </a:t>
            </a:r>
            <a:r>
              <a:rPr lang="en-US" sz="2700" dirty="0" smtClean="0">
                <a:latin typeface="Calibri (Body)"/>
              </a:rPr>
              <a:t>Japanese, etc.</a:t>
            </a:r>
          </a:p>
          <a:p>
            <a:pPr>
              <a:lnSpc>
                <a:spcPct val="150000"/>
              </a:lnSpc>
            </a:pPr>
            <a:r>
              <a:rPr lang="en-US" sz="2700" dirty="0" smtClean="0">
                <a:latin typeface="Calibri (Body)"/>
              </a:rPr>
              <a:t>JIRA </a:t>
            </a:r>
            <a:r>
              <a:rPr lang="en-US" sz="2700" dirty="0">
                <a:latin typeface="Calibri (Body)"/>
              </a:rPr>
              <a:t>supports MySQL, Oracle, PostgreSQL and SQL server in the </a:t>
            </a:r>
            <a:r>
              <a:rPr lang="en-US" sz="2700" dirty="0" smtClean="0">
                <a:latin typeface="Calibri (Body)"/>
              </a:rPr>
              <a:t>backend.</a:t>
            </a:r>
          </a:p>
          <a:p>
            <a:pPr>
              <a:lnSpc>
                <a:spcPct val="150000"/>
              </a:lnSpc>
            </a:pPr>
            <a:r>
              <a:rPr lang="en-US" sz="2700" dirty="0" smtClean="0">
                <a:latin typeface="Calibri (Body)"/>
              </a:rPr>
              <a:t>JIRA </a:t>
            </a:r>
            <a:r>
              <a:rPr lang="en-US" sz="2700" dirty="0">
                <a:latin typeface="Calibri (Body)"/>
              </a:rPr>
              <a:t>can be integrated with many other tools − Subversion, GIT, </a:t>
            </a:r>
            <a:r>
              <a:rPr lang="en-US" sz="2700" dirty="0" err="1">
                <a:latin typeface="Calibri (Body)"/>
              </a:rPr>
              <a:t>Clearcase</a:t>
            </a:r>
            <a:r>
              <a:rPr lang="en-US" sz="2700" dirty="0">
                <a:latin typeface="Calibri (Body)"/>
              </a:rPr>
              <a:t>, Team Foundation Software, Mercury, Concurrent Version System and many more</a:t>
            </a:r>
            <a:r>
              <a:rPr lang="en-US" sz="2700" dirty="0" smtClean="0">
                <a:latin typeface="Calibri (Body)"/>
              </a:rPr>
              <a:t>.</a:t>
            </a:r>
            <a:endParaRPr lang="en-US" sz="2700" dirty="0">
              <a:latin typeface="Calibri (Body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20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What Is JIRA Used For?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Jira </a:t>
            </a:r>
            <a:r>
              <a:rPr lang="en-US" dirty="0"/>
              <a:t>Software is part of a family of products designed to help teams of all types manage </a:t>
            </a:r>
            <a:r>
              <a:rPr lang="en-US" dirty="0" smtClean="0"/>
              <a:t>work.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Originally</a:t>
            </a:r>
            <a:r>
              <a:rPr lang="en-US" dirty="0"/>
              <a:t>, Jira was designed as a bug and issue </a:t>
            </a:r>
            <a:r>
              <a:rPr lang="en-US" dirty="0" smtClean="0"/>
              <a:t>tracker.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But </a:t>
            </a:r>
            <a:r>
              <a:rPr lang="en-US" dirty="0"/>
              <a:t>today, Jira has evolved into a powerful work management tool for all kinds of use cases, from requirements and test case management to agile software development. </a:t>
            </a:r>
            <a:endParaRPr lang="en-US" sz="1900" dirty="0">
              <a:latin typeface="Calibri (Body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12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How </a:t>
            </a:r>
            <a:r>
              <a:rPr lang="en-US" sz="4000" b="1" i="1" dirty="0"/>
              <a:t>to Use JIRA?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900" dirty="0"/>
              <a:t>Here is a step by step process on how to use Jira software: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Step 1) </a:t>
            </a:r>
            <a:r>
              <a:rPr lang="en-US" sz="2500" dirty="0"/>
              <a:t>Open Jira software and navigate to the Jira Home icon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Step 2) </a:t>
            </a:r>
            <a:r>
              <a:rPr lang="en-US" sz="2500" dirty="0"/>
              <a:t>Select Create project </a:t>
            </a:r>
            <a:r>
              <a:rPr lang="en-US" sz="2500" dirty="0" smtClean="0"/>
              <a:t>option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Step 3) </a:t>
            </a:r>
            <a:r>
              <a:rPr lang="en-US" sz="2500" dirty="0"/>
              <a:t>Choose a template from the </a:t>
            </a:r>
            <a:r>
              <a:rPr lang="en-US" sz="2500" dirty="0" smtClean="0"/>
              <a:t>library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Step 4) </a:t>
            </a:r>
            <a:r>
              <a:rPr lang="en-US" sz="2500" dirty="0"/>
              <a:t>Set up the columns as per your need from Board </a:t>
            </a:r>
            <a:r>
              <a:rPr lang="en-US" sz="2500" dirty="0" smtClean="0"/>
              <a:t>settings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Step 5) </a:t>
            </a:r>
            <a:r>
              <a:rPr lang="en-US" sz="2500" dirty="0"/>
              <a:t>Create an </a:t>
            </a:r>
            <a:r>
              <a:rPr lang="en-US" sz="2500" dirty="0" smtClean="0"/>
              <a:t>issue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Step 6) </a:t>
            </a:r>
            <a:r>
              <a:rPr lang="en-US" sz="2500" dirty="0"/>
              <a:t>Invite your Team members and start 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80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JIRA Workflow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900" dirty="0" smtClean="0"/>
              <a:t>A </a:t>
            </a:r>
            <a:r>
              <a:rPr lang="en-US" sz="2900" dirty="0"/>
              <a:t>JIRA workflow is an arrangement of statuses and transitions that an issue travels through amid its lifecycle and normally speaks to forms inside your </a:t>
            </a:r>
            <a:r>
              <a:rPr lang="en-US" sz="2900" dirty="0" smtClean="0"/>
              <a:t>organization.</a:t>
            </a:r>
          </a:p>
          <a:p>
            <a:pPr>
              <a:lnSpc>
                <a:spcPct val="150000"/>
              </a:lnSpc>
            </a:pPr>
            <a:r>
              <a:rPr lang="en-US" sz="2900" dirty="0" smtClean="0"/>
              <a:t>There </a:t>
            </a:r>
            <a:r>
              <a:rPr lang="en-US" sz="2900" dirty="0"/>
              <a:t>are pre-defined built-in workflows that can't be altered; in any case, you can duplicate and utilize these built-in workflows to make 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JIRA Workflow Diagram</a:t>
            </a:r>
            <a:endParaRPr lang="en-US" sz="4000" b="1" i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" t="2856" r="4615" b="4361"/>
          <a:stretch/>
        </p:blipFill>
        <p:spPr>
          <a:xfrm>
            <a:off x="1554480" y="1191157"/>
            <a:ext cx="8307977" cy="5637555"/>
          </a:xfrm>
          <a:ln>
            <a:solidFill>
              <a:schemeClr val="accent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4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JIRA Workflow 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044" y="1208818"/>
            <a:ext cx="11116492" cy="526256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JIRA Workflow can also be referred to as a defect lifecycle</a:t>
            </a:r>
            <a:r>
              <a:rPr lang="en-US" b="1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Open issue:</a:t>
            </a:r>
            <a:r>
              <a:rPr lang="en-US" dirty="0"/>
              <a:t> When the issue is created, then the issue is assigned to the software developer, and they start working on </a:t>
            </a:r>
            <a:r>
              <a:rPr lang="en-US" dirty="0" smtClean="0"/>
              <a:t>it.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In </a:t>
            </a:r>
            <a:r>
              <a:rPr lang="en-US" b="1" dirty="0"/>
              <a:t>Progress issue:</a:t>
            </a:r>
            <a:r>
              <a:rPr lang="en-US" dirty="0"/>
              <a:t> The software developers start working on the </a:t>
            </a:r>
            <a:r>
              <a:rPr lang="en-US" dirty="0" smtClean="0"/>
              <a:t>issue.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Resolved </a:t>
            </a:r>
            <a:r>
              <a:rPr lang="en-US" b="1" dirty="0"/>
              <a:t>issue:</a:t>
            </a:r>
            <a:r>
              <a:rPr lang="en-US" dirty="0"/>
              <a:t> Issue is resolved by the software developer but waiting for the verification by the tester. If the verification is successful, then the issue is closed; otherwise, the issue gets </a:t>
            </a:r>
            <a:r>
              <a:rPr lang="en-US" dirty="0" smtClean="0"/>
              <a:t>reopened.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Reopened </a:t>
            </a:r>
            <a:r>
              <a:rPr lang="en-US" b="1" dirty="0"/>
              <a:t>issue:</a:t>
            </a:r>
            <a:r>
              <a:rPr lang="en-US" dirty="0"/>
              <a:t> </a:t>
            </a:r>
            <a:r>
              <a:rPr lang="en-US" dirty="0" smtClean="0"/>
              <a:t>When </a:t>
            </a:r>
            <a:r>
              <a:rPr lang="en-US" dirty="0"/>
              <a:t>the software developer did not resolve the issue as per the requirements, then the issue comes in a reopened </a:t>
            </a:r>
            <a:r>
              <a:rPr lang="en-US" dirty="0" smtClean="0"/>
              <a:t>state.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Close </a:t>
            </a:r>
            <a:r>
              <a:rPr lang="en-US" b="1" dirty="0"/>
              <a:t>issue:</a:t>
            </a:r>
            <a:r>
              <a:rPr lang="en-US" dirty="0"/>
              <a:t> When the software developer correctly resolves the issue and verified by the software tester, then the issue will be closed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2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Jira Administrator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900" dirty="0" smtClean="0"/>
              <a:t>Jira </a:t>
            </a:r>
            <a:r>
              <a:rPr lang="en-US" sz="2900" dirty="0"/>
              <a:t>Administrators are responsible for </a:t>
            </a:r>
            <a:r>
              <a:rPr lang="en-US" sz="2900" dirty="0" smtClean="0"/>
              <a:t>configuring: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Jira Software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Jira Core</a:t>
            </a:r>
          </a:p>
          <a:p>
            <a:pPr lvl="1">
              <a:lnSpc>
                <a:spcPct val="150000"/>
              </a:lnSpc>
            </a:pPr>
            <a:r>
              <a:rPr lang="en-US" sz="2500" dirty="0" err="1" smtClean="0"/>
              <a:t>And/Or</a:t>
            </a:r>
            <a:r>
              <a:rPr lang="en-US" sz="2500" dirty="0" smtClean="0"/>
              <a:t> </a:t>
            </a:r>
            <a:r>
              <a:rPr lang="en-US" sz="2500" dirty="0"/>
              <a:t>Jira Service </a:t>
            </a:r>
            <a:r>
              <a:rPr lang="en-US" sz="2500" dirty="0" smtClean="0"/>
              <a:t>Management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Its </a:t>
            </a:r>
            <a:r>
              <a:rPr lang="en-US" sz="2500" dirty="0"/>
              <a:t>related </a:t>
            </a:r>
            <a:r>
              <a:rPr lang="en-US" sz="2500" dirty="0" smtClean="0"/>
              <a:t>apps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And third-party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7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Jira Administrator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/>
              <a:t>They </a:t>
            </a:r>
            <a:r>
              <a:rPr lang="en-US" sz="2500" dirty="0"/>
              <a:t>manage global settings including users and groups, roles, global permissions, and </a:t>
            </a:r>
            <a:r>
              <a:rPr lang="en-US" sz="2500" dirty="0" smtClean="0"/>
              <a:t>schemes.</a:t>
            </a:r>
          </a:p>
          <a:p>
            <a:pPr>
              <a:lnSpc>
                <a:spcPct val="150000"/>
              </a:lnSpc>
            </a:pPr>
            <a:r>
              <a:rPr lang="en-US" sz="2500" dirty="0" smtClean="0"/>
              <a:t>Additionally</a:t>
            </a:r>
            <a:r>
              <a:rPr lang="en-US" sz="2500" dirty="0"/>
              <a:t>, they create projects, set up project permissions, and assign Jira Project Administrators.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08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Project in JIRA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900" dirty="0" smtClean="0"/>
              <a:t>A </a:t>
            </a:r>
            <a:r>
              <a:rPr lang="en-US" sz="2900" dirty="0"/>
              <a:t>Project contains issues; a JIRA project can be called as a collection of issues. A </a:t>
            </a:r>
            <a:r>
              <a:rPr lang="en-US" sz="2900" dirty="0" smtClean="0"/>
              <a:t>JIRA Project </a:t>
            </a:r>
            <a:r>
              <a:rPr lang="en-US" sz="2900" dirty="0"/>
              <a:t>can be of several types. For example </a:t>
            </a:r>
            <a:r>
              <a:rPr lang="en-US" sz="2900" dirty="0" smtClean="0"/>
              <a:t>−</a:t>
            </a:r>
          </a:p>
          <a:p>
            <a:pPr lvl="1">
              <a:lnSpc>
                <a:spcPct val="150000"/>
              </a:lnSpc>
            </a:pPr>
            <a:r>
              <a:rPr lang="en-US" sz="2500" dirty="0"/>
              <a:t>Software Development Project</a:t>
            </a:r>
          </a:p>
          <a:p>
            <a:pPr lvl="1">
              <a:lnSpc>
                <a:spcPct val="150000"/>
              </a:lnSpc>
            </a:pPr>
            <a:r>
              <a:rPr lang="en-US" sz="2500" dirty="0"/>
              <a:t>Marketing </a:t>
            </a:r>
            <a:r>
              <a:rPr lang="en-US" sz="2500" dirty="0" smtClean="0"/>
              <a:t>Project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Migration </a:t>
            </a:r>
            <a:r>
              <a:rPr lang="en-US" sz="2500" dirty="0"/>
              <a:t>to other platform </a:t>
            </a:r>
            <a:r>
              <a:rPr lang="en-US" sz="2500" dirty="0" smtClean="0"/>
              <a:t>project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Help </a:t>
            </a:r>
            <a:r>
              <a:rPr lang="en-US" sz="2500" dirty="0"/>
              <a:t>Desk Tracking </a:t>
            </a:r>
            <a:r>
              <a:rPr lang="en-US" sz="2500" dirty="0" smtClean="0"/>
              <a:t>Project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Leave </a:t>
            </a:r>
            <a:r>
              <a:rPr lang="en-US" sz="2500" dirty="0"/>
              <a:t>Request Management </a:t>
            </a:r>
            <a:r>
              <a:rPr lang="en-US" sz="2500" dirty="0" smtClean="0"/>
              <a:t>System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Employee </a:t>
            </a:r>
            <a:r>
              <a:rPr lang="en-US" sz="2500" dirty="0"/>
              <a:t>Performance </a:t>
            </a:r>
            <a:r>
              <a:rPr lang="en-US" sz="2500" dirty="0" smtClean="0"/>
              <a:t>System</a:t>
            </a:r>
          </a:p>
          <a:p>
            <a:pPr lvl="1">
              <a:lnSpc>
                <a:spcPct val="150000"/>
              </a:lnSpc>
            </a:pPr>
            <a:r>
              <a:rPr lang="en-US" sz="2500" dirty="0" smtClean="0"/>
              <a:t>Website </a:t>
            </a:r>
            <a:r>
              <a:rPr lang="en-US" sz="2500" dirty="0"/>
              <a:t>Enhancement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9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900" dirty="0" smtClean="0"/>
              <a:t>To </a:t>
            </a:r>
            <a:r>
              <a:rPr lang="en-US" sz="2900" dirty="0"/>
              <a:t>create a project, the user should login as a JIRA Service Desk Admin and then Click on Project → Create Project.</a:t>
            </a:r>
          </a:p>
          <a:p>
            <a:pPr>
              <a:lnSpc>
                <a:spcPct val="150000"/>
              </a:lnSpc>
            </a:pPr>
            <a:r>
              <a:rPr lang="en-US" sz="2900" dirty="0" smtClean="0"/>
              <a:t>The </a:t>
            </a:r>
            <a:r>
              <a:rPr lang="en-US" sz="2900" dirty="0"/>
              <a:t>following screenshot shows how to reach to the Create Project button from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642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4" y="1263440"/>
            <a:ext cx="10117913" cy="542189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56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1664429"/>
            <a:ext cx="10866118" cy="4383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900" dirty="0"/>
              <a:t>Choose the type of Project that suits your requirement and the process it should follow.</a:t>
            </a:r>
          </a:p>
          <a:p>
            <a:pPr>
              <a:lnSpc>
                <a:spcPct val="150000"/>
              </a:lnSpc>
            </a:pPr>
            <a:r>
              <a:rPr lang="en-US" sz="2900" dirty="0"/>
              <a:t>The following screenshot displays the type of projects available in JIRA.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16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"/>
            <a:ext cx="11025050" cy="928636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5" y="1049365"/>
            <a:ext cx="11025050" cy="5808635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2658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1664429"/>
            <a:ext cx="10866118" cy="43836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900" dirty="0" smtClean="0"/>
              <a:t>Once </a:t>
            </a:r>
            <a:r>
              <a:rPr lang="en-US" sz="2900" dirty="0"/>
              <a:t>the type of project is selected, click on Next. The user will see the flow of the project based on the selection. Here, we have selected </a:t>
            </a:r>
            <a:r>
              <a:rPr lang="en-US" sz="2900" b="1" i="1" dirty="0"/>
              <a:t>Basic Software development</a:t>
            </a:r>
            <a:r>
              <a:rPr lang="en-US" sz="2900" dirty="0"/>
              <a:t>.</a:t>
            </a:r>
          </a:p>
          <a:p>
            <a:pPr>
              <a:lnSpc>
                <a:spcPct val="150000"/>
              </a:lnSpc>
            </a:pPr>
            <a:endParaRPr lang="en-US" sz="2900" dirty="0"/>
          </a:p>
          <a:p>
            <a:pPr>
              <a:lnSpc>
                <a:spcPct val="150000"/>
              </a:lnSpc>
            </a:pPr>
            <a:r>
              <a:rPr lang="en-US" sz="2900" dirty="0"/>
              <a:t>The following screenshot displays the available issue types and the workflow for the chosen project in the step mentioned above 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50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9"/>
          <a:stretch/>
        </p:blipFill>
        <p:spPr>
          <a:xfrm>
            <a:off x="1345341" y="1256074"/>
            <a:ext cx="9483897" cy="5116072"/>
          </a:xfrm>
        </p:spPr>
      </p:pic>
    </p:spTree>
    <p:extLst>
      <p:ext uri="{BB962C8B-B14F-4D97-AF65-F5344CB8AC3E}">
        <p14:creationId xmlns:p14="http://schemas.microsoft.com/office/powerpoint/2010/main" val="129789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1664429"/>
            <a:ext cx="10866118" cy="43836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900" dirty="0" smtClean="0"/>
              <a:t>Click </a:t>
            </a:r>
            <a:r>
              <a:rPr lang="en-US" sz="2900" dirty="0"/>
              <a:t>on the Select button, enter the name of the project and confirm the Key that the user wants to display as a reference in all the issues. Once this is done, click on the Submit button.</a:t>
            </a:r>
          </a:p>
          <a:p>
            <a:pPr>
              <a:lnSpc>
                <a:spcPct val="150000"/>
              </a:lnSpc>
            </a:pPr>
            <a:endParaRPr lang="en-US" sz="2900" dirty="0"/>
          </a:p>
          <a:p>
            <a:pPr>
              <a:lnSpc>
                <a:spcPct val="150000"/>
              </a:lnSpc>
            </a:pPr>
            <a:r>
              <a:rPr lang="en-US" sz="2900" dirty="0"/>
              <a:t>The following screenshot displays the fields to provide details before the creation of a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730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07"/>
          <a:stretch/>
        </p:blipFill>
        <p:spPr>
          <a:xfrm>
            <a:off x="1265118" y="1467689"/>
            <a:ext cx="10177945" cy="5014051"/>
          </a:xfrm>
        </p:spPr>
      </p:pic>
    </p:spTree>
    <p:extLst>
      <p:ext uri="{BB962C8B-B14F-4D97-AF65-F5344CB8AC3E}">
        <p14:creationId xmlns:p14="http://schemas.microsoft.com/office/powerpoint/2010/main" val="230785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1664429"/>
            <a:ext cx="10866118" cy="43836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900" dirty="0" smtClean="0"/>
              <a:t>The </a:t>
            </a:r>
            <a:r>
              <a:rPr lang="en-US" sz="2900" dirty="0"/>
              <a:t>page having issues will </a:t>
            </a:r>
            <a:r>
              <a:rPr lang="en-US" sz="2900" dirty="0" smtClean="0"/>
              <a:t>display.</a:t>
            </a:r>
          </a:p>
          <a:p>
            <a:pPr>
              <a:lnSpc>
                <a:spcPct val="150000"/>
              </a:lnSpc>
            </a:pPr>
            <a:r>
              <a:rPr lang="en-US" sz="2900" dirty="0" smtClean="0"/>
              <a:t>The </a:t>
            </a:r>
            <a:r>
              <a:rPr lang="en-US" sz="2900" dirty="0"/>
              <a:t>following screenshot displays whether any issues are linked with a new created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57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New Project in JIRA </a:t>
            </a:r>
            <a:r>
              <a:rPr lang="en-US" sz="4000" b="1" i="1" dirty="0" smtClean="0"/>
              <a:t>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22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258" y="2275017"/>
            <a:ext cx="8026064" cy="3130165"/>
          </a:xfrm>
        </p:spPr>
      </p:pic>
    </p:spTree>
    <p:extLst>
      <p:ext uri="{BB962C8B-B14F-4D97-AF65-F5344CB8AC3E}">
        <p14:creationId xmlns:p14="http://schemas.microsoft.com/office/powerpoint/2010/main" val="205419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i="1" dirty="0"/>
              <a:t>Thanks</a:t>
            </a:r>
            <a:endParaRPr lang="en-US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3900" dirty="0" smtClean="0"/>
              <a:t>…?</a:t>
            </a:r>
            <a:endParaRPr lang="en-US" sz="23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8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9385</TotalTime>
  <Words>929</Words>
  <Application>Microsoft Office PowerPoint</Application>
  <PresentationFormat>Widescreen</PresentationFormat>
  <Paragraphs>109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(Body)</vt:lpstr>
      <vt:lpstr>Calibri Light</vt:lpstr>
      <vt:lpstr>Office Theme</vt:lpstr>
      <vt:lpstr>JIRA</vt:lpstr>
      <vt:lpstr>Contents</vt:lpstr>
      <vt:lpstr>What is JIRA?</vt:lpstr>
      <vt:lpstr>About JIRA</vt:lpstr>
      <vt:lpstr>What Is JIRA Used For?</vt:lpstr>
      <vt:lpstr>How to Use JIRA?</vt:lpstr>
      <vt:lpstr>JIRA Workflow</vt:lpstr>
      <vt:lpstr>JIRA Workflow Diagram</vt:lpstr>
      <vt:lpstr>JIRA Workflow (Cont.)</vt:lpstr>
      <vt:lpstr>Jira Administrator</vt:lpstr>
      <vt:lpstr>Jira Administrator (Cont.)</vt:lpstr>
      <vt:lpstr>Project in JIRA</vt:lpstr>
      <vt:lpstr>Create a New Project in JIRA </vt:lpstr>
      <vt:lpstr>Create a New Project in JIRA (Cont.)</vt:lpstr>
      <vt:lpstr>Create a New Project in JIRA (Cont.)</vt:lpstr>
      <vt:lpstr>Create a New Project in JIRA (Cont.)</vt:lpstr>
      <vt:lpstr>Create a New Project in JIRA (Cont.)</vt:lpstr>
      <vt:lpstr>Create a New Project in JIRA (Cont.)</vt:lpstr>
      <vt:lpstr>Create a New Project in JIRA (Cont.)</vt:lpstr>
      <vt:lpstr>Create a New Project in JIRA (Cont.)</vt:lpstr>
      <vt:lpstr>Create a New Project in JIRA (Cont.)</vt:lpstr>
      <vt:lpstr>Create a New Project in JIRA (Cont.)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Muhammad Hanif</dc:creator>
  <cp:lastModifiedBy>Ahmad</cp:lastModifiedBy>
  <cp:revision>1218</cp:revision>
  <dcterms:created xsi:type="dcterms:W3CDTF">2017-02-21T04:58:17Z</dcterms:created>
  <dcterms:modified xsi:type="dcterms:W3CDTF">2023-05-19T10:08:47Z</dcterms:modified>
</cp:coreProperties>
</file>