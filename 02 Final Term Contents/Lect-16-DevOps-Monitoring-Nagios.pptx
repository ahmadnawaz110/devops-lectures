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314" r:id="rId2"/>
    <p:sldId id="396" r:id="rId3"/>
    <p:sldId id="433" r:id="rId4"/>
    <p:sldId id="434" r:id="rId5"/>
    <p:sldId id="435" r:id="rId6"/>
    <p:sldId id="436" r:id="rId7"/>
    <p:sldId id="437" r:id="rId8"/>
    <p:sldId id="451" r:id="rId9"/>
    <p:sldId id="438" r:id="rId10"/>
    <p:sldId id="443" r:id="rId11"/>
    <p:sldId id="440" r:id="rId12"/>
    <p:sldId id="457" r:id="rId13"/>
    <p:sldId id="441" r:id="rId14"/>
    <p:sldId id="444" r:id="rId15"/>
    <p:sldId id="450" r:id="rId16"/>
    <p:sldId id="454" r:id="rId17"/>
    <p:sldId id="452" r:id="rId18"/>
    <p:sldId id="455" r:id="rId19"/>
    <p:sldId id="449" r:id="rId20"/>
    <p:sldId id="456" r:id="rId21"/>
    <p:sldId id="466" r:id="rId22"/>
    <p:sldId id="458" r:id="rId23"/>
    <p:sldId id="459" r:id="rId24"/>
    <p:sldId id="461" r:id="rId25"/>
    <p:sldId id="462" r:id="rId26"/>
    <p:sldId id="464" r:id="rId27"/>
    <p:sldId id="465" r:id="rId28"/>
    <p:sldId id="463" r:id="rId29"/>
    <p:sldId id="30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94" autoAdjust="0"/>
    <p:restoredTop sz="94660"/>
  </p:normalViewPr>
  <p:slideViewPr>
    <p:cSldViewPr snapToGrid="0">
      <p:cViewPr varScale="1">
        <p:scale>
          <a:sx n="73" d="100"/>
          <a:sy n="73" d="100"/>
        </p:scale>
        <p:origin x="6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38C529-43AD-492C-BD00-7663F000CDBF}" type="datetimeFigureOut">
              <a:rPr lang="en-US" smtClean="0"/>
              <a:t>6/16/2022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45CC1E-72FA-4E57-BA7F-FC1221F7791F}" type="slidenum">
              <a:rPr lang="en-US" smtClean="0"/>
              <a:t>‹#›</a:t>
            </a:fld>
            <a:endParaRPr lang="en-US" dirty="0"/>
          </a:p>
        </p:txBody>
      </p:sp>
    </p:spTree>
    <p:extLst>
      <p:ext uri="{BB962C8B-B14F-4D97-AF65-F5344CB8AC3E}">
        <p14:creationId xmlns:p14="http://schemas.microsoft.com/office/powerpoint/2010/main" val="4125550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83ABFB-0481-4CC5-ABF9-2C4CE9D12409}" type="datetime1">
              <a:rPr lang="en-US" smtClean="0"/>
              <a:t>6/16/2022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dirty="0"/>
          </a:p>
        </p:txBody>
      </p:sp>
    </p:spTree>
    <p:extLst>
      <p:ext uri="{BB962C8B-B14F-4D97-AF65-F5344CB8AC3E}">
        <p14:creationId xmlns:p14="http://schemas.microsoft.com/office/powerpoint/2010/main" val="512215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01DBEC-91FA-447A-8AB9-A8DB16DAAB17}" type="datetime1">
              <a:rPr lang="en-US" smtClean="0"/>
              <a:t>6/16/2022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dirty="0"/>
          </a:p>
        </p:txBody>
      </p:sp>
    </p:spTree>
    <p:extLst>
      <p:ext uri="{BB962C8B-B14F-4D97-AF65-F5344CB8AC3E}">
        <p14:creationId xmlns:p14="http://schemas.microsoft.com/office/powerpoint/2010/main" val="527744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48C943D-2555-4A57-B8EB-75C7F91B71C6}" type="datetime1">
              <a:rPr lang="en-US" smtClean="0"/>
              <a:t>6/16/2022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dirty="0"/>
          </a:p>
        </p:txBody>
      </p:sp>
    </p:spTree>
    <p:extLst>
      <p:ext uri="{BB962C8B-B14F-4D97-AF65-F5344CB8AC3E}">
        <p14:creationId xmlns:p14="http://schemas.microsoft.com/office/powerpoint/2010/main" val="2607521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5BB08C4-1FBA-4FE5-8D28-8C27B7466E79}" type="datetime1">
              <a:rPr lang="en-US" smtClean="0"/>
              <a:t>6/16/2022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dirty="0"/>
          </a:p>
        </p:txBody>
      </p:sp>
    </p:spTree>
    <p:extLst>
      <p:ext uri="{BB962C8B-B14F-4D97-AF65-F5344CB8AC3E}">
        <p14:creationId xmlns:p14="http://schemas.microsoft.com/office/powerpoint/2010/main" val="3207750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E682A9-2A64-4335-8BB6-EA1B5FE288A5}" type="datetime1">
              <a:rPr lang="en-US" smtClean="0"/>
              <a:t>6/16/2022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8925C6B-C1FE-4297-863E-68E85899D6B2}" type="slidenum">
              <a:rPr lang="en-US" smtClean="0"/>
              <a:t>‹#›</a:t>
            </a:fld>
            <a:endParaRPr lang="en-US" dirty="0"/>
          </a:p>
        </p:txBody>
      </p:sp>
    </p:spTree>
    <p:extLst>
      <p:ext uri="{BB962C8B-B14F-4D97-AF65-F5344CB8AC3E}">
        <p14:creationId xmlns:p14="http://schemas.microsoft.com/office/powerpoint/2010/main" val="2129466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E8C89B2-6DED-445A-9AF5-74F690F84E78}" type="datetime1">
              <a:rPr lang="en-US" smtClean="0"/>
              <a:t>6/16/2022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8925C6B-C1FE-4297-863E-68E85899D6B2}" type="slidenum">
              <a:rPr lang="en-US" smtClean="0"/>
              <a:t>‹#›</a:t>
            </a:fld>
            <a:endParaRPr lang="en-US" dirty="0"/>
          </a:p>
        </p:txBody>
      </p:sp>
    </p:spTree>
    <p:extLst>
      <p:ext uri="{BB962C8B-B14F-4D97-AF65-F5344CB8AC3E}">
        <p14:creationId xmlns:p14="http://schemas.microsoft.com/office/powerpoint/2010/main" val="2548225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E7014-808B-4A34-9722-060A0C8B943A}" type="datetime1">
              <a:rPr lang="en-US" smtClean="0"/>
              <a:t>6/16/2022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8925C6B-C1FE-4297-863E-68E85899D6B2}" type="slidenum">
              <a:rPr lang="en-US" smtClean="0"/>
              <a:t>‹#›</a:t>
            </a:fld>
            <a:endParaRPr lang="en-US" dirty="0"/>
          </a:p>
        </p:txBody>
      </p:sp>
    </p:spTree>
    <p:extLst>
      <p:ext uri="{BB962C8B-B14F-4D97-AF65-F5344CB8AC3E}">
        <p14:creationId xmlns:p14="http://schemas.microsoft.com/office/powerpoint/2010/main" val="4276681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D158D58-A862-414E-9423-46150B41CA14}" type="datetime1">
              <a:rPr lang="en-US" smtClean="0"/>
              <a:t>6/16/2022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dirty="0"/>
          </a:p>
        </p:txBody>
      </p:sp>
    </p:spTree>
    <p:extLst>
      <p:ext uri="{BB962C8B-B14F-4D97-AF65-F5344CB8AC3E}">
        <p14:creationId xmlns:p14="http://schemas.microsoft.com/office/powerpoint/2010/main" val="2781109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8776D00-FA0D-4D29-83D4-DD5A6DDF16E7}" type="datetime1">
              <a:rPr lang="en-US" smtClean="0"/>
              <a:t>6/16/2022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dirty="0"/>
          </a:p>
        </p:txBody>
      </p:sp>
    </p:spTree>
    <p:extLst>
      <p:ext uri="{BB962C8B-B14F-4D97-AF65-F5344CB8AC3E}">
        <p14:creationId xmlns:p14="http://schemas.microsoft.com/office/powerpoint/2010/main" val="1517779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57A5918-257A-4095-BDEB-73BDDEB4A29E}" type="datetime1">
              <a:rPr lang="en-US" smtClean="0"/>
              <a:t>6/16/2022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dirty="0"/>
          </a:p>
        </p:txBody>
      </p:sp>
    </p:spTree>
    <p:extLst>
      <p:ext uri="{BB962C8B-B14F-4D97-AF65-F5344CB8AC3E}">
        <p14:creationId xmlns:p14="http://schemas.microsoft.com/office/powerpoint/2010/main" val="2803771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710D01-121F-4BE4-9A0D-9D74E07BA582}" type="datetime1">
              <a:rPr lang="en-US" smtClean="0"/>
              <a:t>6/16/2022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dirty="0"/>
          </a:p>
        </p:txBody>
      </p:sp>
    </p:spTree>
    <p:extLst>
      <p:ext uri="{BB962C8B-B14F-4D97-AF65-F5344CB8AC3E}">
        <p14:creationId xmlns:p14="http://schemas.microsoft.com/office/powerpoint/2010/main" val="3076786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3012F9-413F-48FB-8539-50B5C9E7D155}" type="datetime1">
              <a:rPr lang="en-US" smtClean="0"/>
              <a:t>6/16/2022</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925C6B-C1FE-4297-863E-68E85899D6B2}" type="slidenum">
              <a:rPr lang="en-US" smtClean="0"/>
              <a:t>‹#›</a:t>
            </a:fld>
            <a:endParaRPr lang="en-US" dirty="0"/>
          </a:p>
        </p:txBody>
      </p:sp>
    </p:spTree>
    <p:extLst>
      <p:ext uri="{BB962C8B-B14F-4D97-AF65-F5344CB8AC3E}">
        <p14:creationId xmlns:p14="http://schemas.microsoft.com/office/powerpoint/2010/main" val="969021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20388" y="2913651"/>
            <a:ext cx="9144000" cy="962706"/>
          </a:xfrm>
        </p:spPr>
        <p:txBody>
          <a:bodyPr>
            <a:normAutofit/>
          </a:bodyPr>
          <a:lstStyle/>
          <a:p>
            <a:r>
              <a:rPr lang="en-US" dirty="0" smtClean="0"/>
              <a:t>Lecture-16</a:t>
            </a:r>
            <a:endParaRPr lang="en-US" dirty="0"/>
          </a:p>
        </p:txBody>
      </p:sp>
      <p:sp>
        <p:nvSpPr>
          <p:cNvPr id="3" name="Subtitle 2"/>
          <p:cNvSpPr>
            <a:spLocks noGrp="1"/>
          </p:cNvSpPr>
          <p:nvPr>
            <p:ph type="subTitle" idx="1"/>
          </p:nvPr>
        </p:nvSpPr>
        <p:spPr>
          <a:xfrm>
            <a:off x="1876697" y="3876357"/>
            <a:ext cx="9144000" cy="1655762"/>
          </a:xfrm>
        </p:spPr>
        <p:txBody>
          <a:bodyPr/>
          <a:lstStyle/>
          <a:p>
            <a:r>
              <a:rPr lang="en-US" i="1" dirty="0" smtClean="0"/>
              <a:t> </a:t>
            </a:r>
          </a:p>
        </p:txBody>
      </p:sp>
      <p:sp>
        <p:nvSpPr>
          <p:cNvPr id="4" name="Slide Number Placeholder 3"/>
          <p:cNvSpPr>
            <a:spLocks noGrp="1"/>
          </p:cNvSpPr>
          <p:nvPr>
            <p:ph type="sldNum" sz="quarter" idx="12"/>
          </p:nvPr>
        </p:nvSpPr>
        <p:spPr>
          <a:xfrm>
            <a:off x="8987971" y="6153150"/>
            <a:ext cx="2743200" cy="365125"/>
          </a:xfrm>
        </p:spPr>
        <p:txBody>
          <a:bodyPr/>
          <a:lstStyle/>
          <a:p>
            <a:fld id="{18925C6B-C1FE-4297-863E-68E85899D6B2}" type="slidenum">
              <a:rPr lang="en-US" sz="1600" smtClean="0"/>
              <a:t>1</a:t>
            </a:fld>
            <a:endParaRPr lang="en-US" sz="1600" dirty="0"/>
          </a:p>
        </p:txBody>
      </p:sp>
    </p:spTree>
    <p:extLst>
      <p:ext uri="{BB962C8B-B14F-4D97-AF65-F5344CB8AC3E}">
        <p14:creationId xmlns:p14="http://schemas.microsoft.com/office/powerpoint/2010/main" val="24345833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Contents</a:t>
            </a:r>
          </a:p>
        </p:txBody>
      </p:sp>
      <p:sp>
        <p:nvSpPr>
          <p:cNvPr id="3" name="Content Placeholder 2"/>
          <p:cNvSpPr>
            <a:spLocks noGrp="1"/>
          </p:cNvSpPr>
          <p:nvPr>
            <p:ph idx="1"/>
          </p:nvPr>
        </p:nvSpPr>
        <p:spPr>
          <a:xfrm>
            <a:off x="574766" y="1425620"/>
            <a:ext cx="11025049" cy="5103282"/>
          </a:xfrm>
        </p:spPr>
        <p:txBody>
          <a:bodyPr>
            <a:normAutofit/>
          </a:bodyPr>
          <a:lstStyle/>
          <a:p>
            <a:pPr marL="342900" indent="-342900">
              <a:lnSpc>
                <a:spcPct val="150000"/>
              </a:lnSpc>
            </a:pPr>
            <a:r>
              <a:rPr lang="en-US" sz="2400" dirty="0"/>
              <a:t>DevOps Continuous Monitoring</a:t>
            </a:r>
          </a:p>
          <a:p>
            <a:pPr marL="342900" indent="-342900">
              <a:lnSpc>
                <a:spcPct val="150000"/>
              </a:lnSpc>
            </a:pPr>
            <a:r>
              <a:rPr lang="en-US" sz="2400" dirty="0"/>
              <a:t>DevOps Monitoring Types</a:t>
            </a:r>
          </a:p>
          <a:p>
            <a:pPr marL="342900" indent="-342900">
              <a:lnSpc>
                <a:spcPct val="150000"/>
              </a:lnSpc>
            </a:pPr>
            <a:r>
              <a:rPr lang="en-US" sz="2400" dirty="0"/>
              <a:t>Monitoring Tools</a:t>
            </a:r>
          </a:p>
          <a:p>
            <a:pPr marL="342900" indent="-342900">
              <a:lnSpc>
                <a:spcPct val="150000"/>
              </a:lnSpc>
            </a:pPr>
            <a:r>
              <a:rPr lang="en-US" sz="2400" dirty="0"/>
              <a:t>Nagios</a:t>
            </a:r>
          </a:p>
          <a:p>
            <a:pPr marL="342900" indent="-342900">
              <a:lnSpc>
                <a:spcPct val="150000"/>
              </a:lnSpc>
            </a:pPr>
            <a:r>
              <a:rPr lang="en-US" sz="2400" dirty="0" smtClean="0"/>
              <a:t>Architecture </a:t>
            </a:r>
            <a:r>
              <a:rPr lang="en-US" sz="2400" dirty="0"/>
              <a:t>of Nagios</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a:t>
            </a:fld>
            <a:endParaRPr lang="en-US" dirty="0"/>
          </a:p>
        </p:txBody>
      </p:sp>
    </p:spTree>
    <p:extLst>
      <p:ext uri="{BB962C8B-B14F-4D97-AF65-F5344CB8AC3E}">
        <p14:creationId xmlns:p14="http://schemas.microsoft.com/office/powerpoint/2010/main" val="35403722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DevOps Continuous Monitoring </a:t>
            </a:r>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pPr>
            <a:r>
              <a:rPr lang="en-US" sz="2600" dirty="0" smtClean="0"/>
              <a:t>Continuous </a:t>
            </a:r>
            <a:r>
              <a:rPr lang="en-US" sz="2600" dirty="0"/>
              <a:t>Monitoring is an automated process that leverages specialized software tools to empower DevOps teams with enhanced visibility of application performance, security threats, and compliance concerns across the entire DevOps pipeline</a:t>
            </a:r>
            <a:r>
              <a:rPr lang="en-US" sz="2600" dirty="0" smtClean="0"/>
              <a:t>.</a:t>
            </a:r>
          </a:p>
          <a:p>
            <a:pPr>
              <a:lnSpc>
                <a:spcPct val="150000"/>
              </a:lnSpc>
            </a:pPr>
            <a:r>
              <a:rPr lang="en-US" sz="2600" dirty="0" smtClean="0"/>
              <a:t>It </a:t>
            </a:r>
            <a:r>
              <a:rPr lang="en-US" sz="2600" dirty="0"/>
              <a:t>provides a comprehensive, real-time view of the status of production applications, services, and infrastructure. Real-time streaming, historical replay, and visualization are the crucial aspects of application and service monitoring.</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a:t>
            </a:fld>
            <a:endParaRPr lang="en-US" dirty="0"/>
          </a:p>
        </p:txBody>
      </p:sp>
    </p:spTree>
    <p:extLst>
      <p:ext uri="{BB962C8B-B14F-4D97-AF65-F5344CB8AC3E}">
        <p14:creationId xmlns:p14="http://schemas.microsoft.com/office/powerpoint/2010/main" val="10296455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DevOps </a:t>
            </a:r>
            <a:r>
              <a:rPr lang="en-US" sz="4000" b="1" i="1" dirty="0" smtClean="0"/>
              <a:t>Monitoring </a:t>
            </a:r>
            <a:r>
              <a:rPr lang="en-US" sz="4000" b="1" i="1" dirty="0"/>
              <a:t>Types</a:t>
            </a:r>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pPr>
            <a:r>
              <a:rPr lang="en-US" sz="2600" dirty="0" smtClean="0"/>
              <a:t>Continuous </a:t>
            </a:r>
            <a:r>
              <a:rPr lang="en-US" sz="2600" dirty="0"/>
              <a:t>monitoring in DevOps comes in four forms:</a:t>
            </a:r>
          </a:p>
          <a:p>
            <a:pPr marL="971550" lvl="1" indent="-514350">
              <a:lnSpc>
                <a:spcPct val="150000"/>
              </a:lnSpc>
              <a:buFont typeface="+mj-lt"/>
              <a:buAutoNum type="arabicPeriod"/>
            </a:pPr>
            <a:r>
              <a:rPr lang="en-US" sz="2600" dirty="0"/>
              <a:t>Infrastructure monitoring</a:t>
            </a:r>
          </a:p>
          <a:p>
            <a:pPr marL="971550" lvl="1" indent="-514350">
              <a:lnSpc>
                <a:spcPct val="150000"/>
              </a:lnSpc>
              <a:buFont typeface="+mj-lt"/>
              <a:buAutoNum type="arabicPeriod"/>
            </a:pPr>
            <a:r>
              <a:rPr lang="en-US" sz="2600" dirty="0"/>
              <a:t>Application monitoring</a:t>
            </a:r>
          </a:p>
          <a:p>
            <a:pPr marL="971550" lvl="1" indent="-514350">
              <a:lnSpc>
                <a:spcPct val="150000"/>
              </a:lnSpc>
              <a:buFont typeface="+mj-lt"/>
              <a:buAutoNum type="arabicPeriod"/>
            </a:pPr>
            <a:r>
              <a:rPr lang="en-US" sz="2600" dirty="0"/>
              <a:t>Network monitoring</a:t>
            </a:r>
          </a:p>
          <a:p>
            <a:pPr>
              <a:lnSpc>
                <a:spcPct val="150000"/>
              </a:lnSpc>
            </a:pPr>
            <a:endParaRPr lang="en-US" sz="2600" dirty="0" smtClean="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4</a:t>
            </a:fld>
            <a:endParaRPr lang="en-US" dirty="0"/>
          </a:p>
        </p:txBody>
      </p:sp>
    </p:spTree>
    <p:extLst>
      <p:ext uri="{BB962C8B-B14F-4D97-AF65-F5344CB8AC3E}">
        <p14:creationId xmlns:p14="http://schemas.microsoft.com/office/powerpoint/2010/main" val="4756048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Infrastructure Monitoring</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pPr>
            <a:r>
              <a:rPr lang="en-US" sz="2600" b="1" i="1" dirty="0" smtClean="0">
                <a:solidFill>
                  <a:srgbClr val="FF0000"/>
                </a:solidFill>
              </a:rPr>
              <a:t>Infrastructure Monitoring OR Server Monitoring  </a:t>
            </a:r>
            <a:r>
              <a:rPr lang="en-US" sz="2600" dirty="0"/>
              <a:t>involves detecting, tracking, and compiling real-time data on the health and performance of the backend components of your DevOps tech stack.</a:t>
            </a:r>
          </a:p>
          <a:p>
            <a:pPr>
              <a:lnSpc>
                <a:spcPct val="150000"/>
              </a:lnSpc>
            </a:pPr>
            <a:r>
              <a:rPr lang="en-US" sz="2600" dirty="0"/>
              <a:t>Those components include servers, databases, virtual machines, and containers, among other computing components in a system. </a:t>
            </a:r>
          </a:p>
          <a:p>
            <a:pPr>
              <a:lnSpc>
                <a:spcPct val="150000"/>
              </a:lnSpc>
            </a:pPr>
            <a:r>
              <a:rPr lang="en-US" sz="2600" dirty="0"/>
              <a:t>It provides statistics on RAM consumption, CPU loads, and disk space left. It is helpful in aggregating data from virtual server systems for cloud-based scenarios.</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5</a:t>
            </a:fld>
            <a:endParaRPr lang="en-US" dirty="0"/>
          </a:p>
        </p:txBody>
      </p:sp>
    </p:spTree>
    <p:extLst>
      <p:ext uri="{BB962C8B-B14F-4D97-AF65-F5344CB8AC3E}">
        <p14:creationId xmlns:p14="http://schemas.microsoft.com/office/powerpoint/2010/main" val="4679684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Application Monitoring</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pPr>
            <a:r>
              <a:rPr lang="en-US" sz="2600" b="1" i="1" dirty="0" smtClean="0">
                <a:solidFill>
                  <a:srgbClr val="FF0000"/>
                </a:solidFill>
              </a:rPr>
              <a:t>Application Monitoring -</a:t>
            </a:r>
            <a:endParaRPr lang="en-US" sz="2600" dirty="0" smtClean="0"/>
          </a:p>
          <a:p>
            <a:pPr lvl="1">
              <a:lnSpc>
                <a:spcPct val="150000"/>
              </a:lnSpc>
            </a:pPr>
            <a:r>
              <a:rPr lang="en-US" dirty="0" smtClean="0"/>
              <a:t>Tools </a:t>
            </a:r>
            <a:r>
              <a:rPr lang="en-US" dirty="0"/>
              <a:t>and processes for monitoring the health and performance of released applications in a production </a:t>
            </a:r>
            <a:r>
              <a:rPr lang="en-US" dirty="0" smtClean="0"/>
              <a:t>environment.</a:t>
            </a:r>
          </a:p>
          <a:p>
            <a:pPr lvl="1">
              <a:lnSpc>
                <a:spcPct val="150000"/>
              </a:lnSpc>
            </a:pPr>
            <a:r>
              <a:rPr lang="en-US" dirty="0" smtClean="0"/>
              <a:t>It </a:t>
            </a:r>
            <a:r>
              <a:rPr lang="en-US" dirty="0"/>
              <a:t>measures how well a service is performing overall. These tools query the server on their own and keep track of metrics such as response time and completion. It is essential to ensure that application performance issues are promptly detected and diagnosed so that services can function as intended.</a:t>
            </a:r>
            <a:endParaRPr lang="en-US" sz="2600" dirty="0" smtClean="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6</a:t>
            </a:fld>
            <a:endParaRPr lang="en-US" dirty="0"/>
          </a:p>
        </p:txBody>
      </p:sp>
    </p:spTree>
    <p:extLst>
      <p:ext uri="{BB962C8B-B14F-4D97-AF65-F5344CB8AC3E}">
        <p14:creationId xmlns:p14="http://schemas.microsoft.com/office/powerpoint/2010/main" val="31116538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Network</a:t>
            </a:r>
            <a:r>
              <a:rPr lang="en-US" sz="4000" dirty="0" smtClean="0"/>
              <a:t> </a:t>
            </a:r>
            <a:r>
              <a:rPr lang="en-US" sz="4000" b="1" i="1" dirty="0" smtClean="0"/>
              <a:t>Monitoring</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pPr>
            <a:r>
              <a:rPr lang="en-US" sz="2600" b="1" i="1" dirty="0">
                <a:solidFill>
                  <a:srgbClr val="FF0000"/>
                </a:solidFill>
              </a:rPr>
              <a:t>Network</a:t>
            </a:r>
            <a:r>
              <a:rPr lang="en-US" sz="2600" b="1" i="1" dirty="0" smtClean="0">
                <a:solidFill>
                  <a:srgbClr val="FF0000"/>
                </a:solidFill>
              </a:rPr>
              <a:t> Monitoring -</a:t>
            </a:r>
            <a:endParaRPr lang="en-US" sz="2600" dirty="0" smtClean="0"/>
          </a:p>
          <a:p>
            <a:pPr lvl="1">
              <a:lnSpc>
                <a:spcPct val="150000"/>
              </a:lnSpc>
            </a:pPr>
            <a:r>
              <a:rPr lang="en-US" dirty="0" smtClean="0"/>
              <a:t>Tools </a:t>
            </a:r>
            <a:r>
              <a:rPr lang="en-US" dirty="0"/>
              <a:t>and processes for monitoring network activity and components, such as servers, firewalls, routers, and switches, as well as detecting security threats across the network</a:t>
            </a:r>
            <a:r>
              <a:rPr lang="en-US" dirty="0" smtClean="0"/>
              <a:t>.</a:t>
            </a:r>
          </a:p>
          <a:p>
            <a:pPr lvl="1">
              <a:lnSpc>
                <a:spcPct val="150000"/>
              </a:lnSpc>
            </a:pPr>
            <a:r>
              <a:rPr lang="en-US" dirty="0"/>
              <a:t>It examines the data flowing in and out of your computer network. Using this monitoring tool, you can keep track of incoming requests and responses across all components, from switches to firewalls and servers</a:t>
            </a:r>
            <a:r>
              <a:rPr lang="en-US" dirty="0" smtClean="0"/>
              <a:t>.</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7</a:t>
            </a:fld>
            <a:endParaRPr lang="en-US" dirty="0"/>
          </a:p>
        </p:txBody>
      </p:sp>
    </p:spTree>
    <p:extLst>
      <p:ext uri="{BB962C8B-B14F-4D97-AF65-F5344CB8AC3E}">
        <p14:creationId xmlns:p14="http://schemas.microsoft.com/office/powerpoint/2010/main" val="16060783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Continuous Monitoring Steps</a:t>
            </a:r>
            <a:endParaRPr lang="en-US" sz="4000" b="1" i="1" dirty="0"/>
          </a:p>
        </p:txBody>
      </p:sp>
      <p:sp>
        <p:nvSpPr>
          <p:cNvPr id="3" name="Content Placeholder 2"/>
          <p:cNvSpPr>
            <a:spLocks noGrp="1"/>
          </p:cNvSpPr>
          <p:nvPr>
            <p:ph idx="1"/>
          </p:nvPr>
        </p:nvSpPr>
        <p:spPr>
          <a:xfrm>
            <a:off x="574766" y="1425619"/>
            <a:ext cx="11025049" cy="5311651"/>
          </a:xfrm>
        </p:spPr>
        <p:txBody>
          <a:bodyPr>
            <a:noAutofit/>
          </a:bodyPr>
          <a:lstStyle/>
          <a:p>
            <a:pPr>
              <a:lnSpc>
                <a:spcPct val="150000"/>
              </a:lnSpc>
            </a:pPr>
            <a:r>
              <a:rPr lang="en-US" sz="2600" dirty="0" smtClean="0"/>
              <a:t>Define: Develop monitoring strategy</a:t>
            </a:r>
          </a:p>
          <a:p>
            <a:pPr>
              <a:lnSpc>
                <a:spcPct val="150000"/>
              </a:lnSpc>
            </a:pPr>
            <a:r>
              <a:rPr lang="en-US" sz="2600" dirty="0" smtClean="0"/>
              <a:t>Establish: How performing you are going to monitor it</a:t>
            </a:r>
          </a:p>
          <a:p>
            <a:pPr>
              <a:lnSpc>
                <a:spcPct val="150000"/>
              </a:lnSpc>
            </a:pPr>
            <a:r>
              <a:rPr lang="en-US" sz="2600" dirty="0" smtClean="0"/>
              <a:t> Implement</a:t>
            </a:r>
          </a:p>
          <a:p>
            <a:pPr>
              <a:lnSpc>
                <a:spcPct val="150000"/>
              </a:lnSpc>
            </a:pPr>
            <a:r>
              <a:rPr lang="en-US" sz="2600" dirty="0" smtClean="0"/>
              <a:t>Analyze data and report performing</a:t>
            </a:r>
          </a:p>
          <a:p>
            <a:pPr>
              <a:lnSpc>
                <a:spcPct val="150000"/>
              </a:lnSpc>
            </a:pPr>
            <a:r>
              <a:rPr lang="en-US" sz="2600" dirty="0" smtClean="0"/>
              <a:t>Respond</a:t>
            </a:r>
          </a:p>
          <a:p>
            <a:pPr>
              <a:lnSpc>
                <a:spcPct val="150000"/>
              </a:lnSpc>
            </a:pPr>
            <a:r>
              <a:rPr lang="en-US" sz="2600" dirty="0" smtClean="0"/>
              <a:t>Review and update</a:t>
            </a:r>
            <a:endParaRPr lang="en-US" sz="26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8</a:t>
            </a:fld>
            <a:endParaRPr lang="en-US" dirty="0"/>
          </a:p>
        </p:txBody>
      </p:sp>
    </p:spTree>
    <p:extLst>
      <p:ext uri="{BB962C8B-B14F-4D97-AF65-F5344CB8AC3E}">
        <p14:creationId xmlns:p14="http://schemas.microsoft.com/office/powerpoint/2010/main" val="22805089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DevOps </a:t>
            </a:r>
            <a:r>
              <a:rPr lang="en-US" sz="4000" b="1" i="1" dirty="0"/>
              <a:t>Monitoring Tools</a:t>
            </a:r>
          </a:p>
        </p:txBody>
      </p:sp>
      <p:sp>
        <p:nvSpPr>
          <p:cNvPr id="3" name="Content Placeholder 2"/>
          <p:cNvSpPr>
            <a:spLocks noGrp="1"/>
          </p:cNvSpPr>
          <p:nvPr>
            <p:ph idx="1"/>
          </p:nvPr>
        </p:nvSpPr>
        <p:spPr>
          <a:xfrm>
            <a:off x="574766" y="1425619"/>
            <a:ext cx="11025049" cy="5311651"/>
          </a:xfrm>
        </p:spPr>
        <p:txBody>
          <a:bodyPr>
            <a:normAutofit fontScale="85000" lnSpcReduction="10000"/>
          </a:bodyPr>
          <a:lstStyle/>
          <a:p>
            <a:r>
              <a:rPr lang="en-US" b="1" dirty="0" smtClean="0"/>
              <a:t>Top </a:t>
            </a:r>
            <a:r>
              <a:rPr lang="en-US" b="1" dirty="0"/>
              <a:t>10 DevOps Monitoring </a:t>
            </a:r>
            <a:r>
              <a:rPr lang="en-US" b="1" dirty="0" smtClean="0"/>
              <a:t>Tools</a:t>
            </a:r>
          </a:p>
          <a:p>
            <a:pPr marL="914400" lvl="1" indent="-457200">
              <a:lnSpc>
                <a:spcPct val="150000"/>
              </a:lnSpc>
              <a:buFont typeface="+mj-lt"/>
              <a:buAutoNum type="arabicPeriod"/>
            </a:pPr>
            <a:r>
              <a:rPr lang="en-US" dirty="0" err="1"/>
              <a:t>Librato</a:t>
            </a:r>
            <a:endParaRPr lang="en-US" dirty="0"/>
          </a:p>
          <a:p>
            <a:pPr marL="914400" lvl="1" indent="-457200">
              <a:lnSpc>
                <a:spcPct val="150000"/>
              </a:lnSpc>
              <a:buFont typeface="+mj-lt"/>
              <a:buAutoNum type="arabicPeriod"/>
            </a:pPr>
            <a:r>
              <a:rPr lang="en-US" dirty="0" err="1"/>
              <a:t>Splunk</a:t>
            </a:r>
            <a:endParaRPr lang="en-US" dirty="0"/>
          </a:p>
          <a:p>
            <a:pPr marL="914400" lvl="1" indent="-457200">
              <a:lnSpc>
                <a:spcPct val="150000"/>
              </a:lnSpc>
              <a:buFont typeface="+mj-lt"/>
              <a:buAutoNum type="arabicPeriod"/>
            </a:pPr>
            <a:r>
              <a:rPr lang="en-US" dirty="0"/>
              <a:t>Nagios</a:t>
            </a:r>
          </a:p>
          <a:p>
            <a:pPr marL="914400" lvl="1" indent="-457200">
              <a:lnSpc>
                <a:spcPct val="150000"/>
              </a:lnSpc>
              <a:buFont typeface="+mj-lt"/>
              <a:buAutoNum type="arabicPeriod"/>
            </a:pPr>
            <a:r>
              <a:rPr lang="en-US" dirty="0" err="1"/>
              <a:t>Zabbix</a:t>
            </a:r>
            <a:endParaRPr lang="en-US" dirty="0"/>
          </a:p>
          <a:p>
            <a:pPr marL="914400" lvl="1" indent="-457200">
              <a:lnSpc>
                <a:spcPct val="150000"/>
              </a:lnSpc>
              <a:buFont typeface="+mj-lt"/>
              <a:buAutoNum type="arabicPeriod"/>
            </a:pPr>
            <a:r>
              <a:rPr lang="en-US" dirty="0" err="1"/>
              <a:t>Sematext</a:t>
            </a:r>
            <a:endParaRPr lang="en-US" dirty="0"/>
          </a:p>
          <a:p>
            <a:pPr marL="914400" lvl="1" indent="-457200">
              <a:lnSpc>
                <a:spcPct val="150000"/>
              </a:lnSpc>
              <a:buFont typeface="+mj-lt"/>
              <a:buAutoNum type="arabicPeriod"/>
            </a:pPr>
            <a:r>
              <a:rPr lang="en-US" dirty="0" err="1"/>
              <a:t>Sensu</a:t>
            </a:r>
            <a:endParaRPr lang="en-US" dirty="0"/>
          </a:p>
          <a:p>
            <a:pPr marL="914400" lvl="1" indent="-457200">
              <a:lnSpc>
                <a:spcPct val="150000"/>
              </a:lnSpc>
              <a:buFont typeface="+mj-lt"/>
              <a:buAutoNum type="arabicPeriod"/>
            </a:pPr>
            <a:r>
              <a:rPr lang="en-US" dirty="0" err="1"/>
              <a:t>AppDynamics</a:t>
            </a:r>
            <a:endParaRPr lang="en-US" dirty="0"/>
          </a:p>
          <a:p>
            <a:pPr marL="914400" lvl="1" indent="-457200">
              <a:lnSpc>
                <a:spcPct val="150000"/>
              </a:lnSpc>
              <a:buFont typeface="+mj-lt"/>
              <a:buAutoNum type="arabicPeriod"/>
            </a:pPr>
            <a:r>
              <a:rPr lang="en-US" dirty="0" err="1"/>
              <a:t>Kibana</a:t>
            </a:r>
            <a:endParaRPr lang="en-US" dirty="0"/>
          </a:p>
          <a:p>
            <a:pPr marL="914400" lvl="1" indent="-457200">
              <a:lnSpc>
                <a:spcPct val="150000"/>
              </a:lnSpc>
              <a:buFont typeface="+mj-lt"/>
              <a:buAutoNum type="arabicPeriod"/>
            </a:pPr>
            <a:r>
              <a:rPr lang="en-US" dirty="0" err="1"/>
              <a:t>Raygun</a:t>
            </a:r>
            <a:endParaRPr lang="en-US" dirty="0"/>
          </a:p>
          <a:p>
            <a:pPr marL="914400" lvl="1" indent="-457200">
              <a:lnSpc>
                <a:spcPct val="150000"/>
              </a:lnSpc>
              <a:buFont typeface="+mj-lt"/>
              <a:buAutoNum type="arabicPeriod"/>
            </a:pPr>
            <a:r>
              <a:rPr lang="en-US" dirty="0"/>
              <a:t>New Relic</a:t>
            </a:r>
          </a:p>
          <a:p>
            <a:pPr lvl="1">
              <a:lnSpc>
                <a:spcPct val="150000"/>
              </a:lnSpc>
            </a:pPr>
            <a:endParaRPr lang="en-US" dirty="0"/>
          </a:p>
          <a:p>
            <a:endParaRPr lang="en-US" b="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9</a:t>
            </a:fld>
            <a:endParaRPr lang="en-US" dirty="0"/>
          </a:p>
        </p:txBody>
      </p:sp>
    </p:spTree>
    <p:extLst>
      <p:ext uri="{BB962C8B-B14F-4D97-AF65-F5344CB8AC3E}">
        <p14:creationId xmlns:p14="http://schemas.microsoft.com/office/powerpoint/2010/main" val="39570338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440"/>
            <a:ext cx="10515600" cy="1084217"/>
          </a:xfrm>
        </p:spPr>
        <p:txBody>
          <a:bodyPr/>
          <a:lstStyle/>
          <a:p>
            <a:r>
              <a:rPr lang="en-US" b="1" i="1" dirty="0"/>
              <a:t>Nagios</a:t>
            </a:r>
            <a:endParaRPr lang="en-US" dirty="0"/>
          </a:p>
        </p:txBody>
      </p:sp>
      <p:sp>
        <p:nvSpPr>
          <p:cNvPr id="3" name="Content Placeholder 2"/>
          <p:cNvSpPr>
            <a:spLocks noGrp="1"/>
          </p:cNvSpPr>
          <p:nvPr>
            <p:ph idx="1"/>
          </p:nvPr>
        </p:nvSpPr>
        <p:spPr>
          <a:xfrm>
            <a:off x="838200" y="1084217"/>
            <a:ext cx="10515600" cy="5637258"/>
          </a:xfrm>
        </p:spPr>
        <p:txBody>
          <a:bodyPr>
            <a:normAutofit fontScale="77500" lnSpcReduction="20000"/>
          </a:bodyPr>
          <a:lstStyle/>
          <a:p>
            <a:pPr>
              <a:lnSpc>
                <a:spcPct val="150000"/>
              </a:lnSpc>
            </a:pPr>
            <a:r>
              <a:rPr lang="en-US" dirty="0"/>
              <a:t>Nagios is one of the  widely-used open-source DevOps tool for continuous monitoring.</a:t>
            </a:r>
          </a:p>
          <a:p>
            <a:pPr>
              <a:lnSpc>
                <a:spcPct val="150000"/>
              </a:lnSpc>
            </a:pPr>
            <a:r>
              <a:rPr lang="en-US" dirty="0"/>
              <a:t>This software application mainly provides the services of monitoring and alerting for switches, applications, and servers inside the DevOps culture.</a:t>
            </a:r>
          </a:p>
          <a:p>
            <a:pPr>
              <a:lnSpc>
                <a:spcPct val="150000"/>
              </a:lnSpc>
            </a:pPr>
            <a:r>
              <a:rPr lang="en-US" dirty="0"/>
              <a:t>Nagios offers server, application, and network monitoring capabilities. It can track any device with an IP address.</a:t>
            </a:r>
          </a:p>
          <a:p>
            <a:pPr>
              <a:lnSpc>
                <a:spcPct val="150000"/>
              </a:lnSpc>
            </a:pPr>
            <a:r>
              <a:rPr lang="en-US" dirty="0"/>
              <a:t>It also monitors multiple server services, including </a:t>
            </a:r>
            <a:r>
              <a:rPr lang="en-US" dirty="0"/>
              <a:t>SMTP, IPMI, FTP, LDAP, POP, </a:t>
            </a:r>
            <a:r>
              <a:rPr lang="en-US" dirty="0" smtClean="0"/>
              <a:t>DNS</a:t>
            </a:r>
            <a:r>
              <a:rPr lang="en-US" dirty="0" smtClean="0"/>
              <a:t>, </a:t>
            </a:r>
            <a:r>
              <a:rPr lang="en-US" dirty="0"/>
              <a:t>IMAP, HTTP, and Proxy under Linux and Windows</a:t>
            </a:r>
            <a:r>
              <a:rPr lang="en-US" dirty="0" smtClean="0"/>
              <a:t>.</a:t>
            </a:r>
          </a:p>
          <a:p>
            <a:pPr>
              <a:lnSpc>
                <a:spcPct val="150000"/>
              </a:lnSpc>
            </a:pPr>
            <a:r>
              <a:rPr lang="en-US" dirty="0" smtClean="0"/>
              <a:t>It </a:t>
            </a:r>
            <a:r>
              <a:rPr lang="en-US" dirty="0"/>
              <a:t>enables application monitoring as well, including CPU, swap, memory, and load analysis.</a:t>
            </a:r>
          </a:p>
          <a:p>
            <a:pPr>
              <a:lnSpc>
                <a:spcPct val="150000"/>
              </a:lnSpc>
            </a:pPr>
            <a:r>
              <a:rPr lang="en-US" dirty="0"/>
              <a:t>Nagios is a free download, has a simple web interface, and supports over 5,000 server monitoring integrations.</a:t>
            </a:r>
          </a:p>
          <a:p>
            <a:endParaRPr lang="en-US" dirty="0"/>
          </a:p>
        </p:txBody>
      </p:sp>
      <p:sp>
        <p:nvSpPr>
          <p:cNvPr id="4" name="Slide Number Placeholder 3"/>
          <p:cNvSpPr>
            <a:spLocks noGrp="1"/>
          </p:cNvSpPr>
          <p:nvPr>
            <p:ph type="sldNum" sz="quarter" idx="12"/>
          </p:nvPr>
        </p:nvSpPr>
        <p:spPr/>
        <p:txBody>
          <a:bodyPr/>
          <a:lstStyle/>
          <a:p>
            <a:fld id="{18925C6B-C1FE-4297-863E-68E85899D6B2}" type="slidenum">
              <a:rPr lang="en-US" smtClean="0"/>
              <a:t>10</a:t>
            </a:fld>
            <a:endParaRPr lang="en-US" dirty="0"/>
          </a:p>
        </p:txBody>
      </p:sp>
    </p:spTree>
    <p:extLst>
      <p:ext uri="{BB962C8B-B14F-4D97-AF65-F5344CB8AC3E}">
        <p14:creationId xmlns:p14="http://schemas.microsoft.com/office/powerpoint/2010/main" val="2707520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6" y="0"/>
            <a:ext cx="11025050" cy="692966"/>
          </a:xfrm>
        </p:spPr>
        <p:txBody>
          <a:bodyPr>
            <a:noAutofit/>
          </a:bodyPr>
          <a:lstStyle/>
          <a:p>
            <a:r>
              <a:rPr lang="en-US" sz="4000" b="1" i="1" dirty="0"/>
              <a:t>Nagios </a:t>
            </a:r>
            <a:r>
              <a:rPr lang="en-US" sz="4000" b="1" i="1" dirty="0" smtClean="0"/>
              <a:t>(Cont.)</a:t>
            </a:r>
            <a:endParaRPr lang="en-US" sz="4000" b="1" i="1"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6519" y="692966"/>
            <a:ext cx="9201543" cy="6165034"/>
          </a:xfrm>
        </p:spPr>
      </p:pic>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11</a:t>
            </a:fld>
            <a:endParaRPr lang="en-US" dirty="0"/>
          </a:p>
        </p:txBody>
      </p:sp>
    </p:spTree>
    <p:extLst>
      <p:ext uri="{BB962C8B-B14F-4D97-AF65-F5344CB8AC3E}">
        <p14:creationId xmlns:p14="http://schemas.microsoft.com/office/powerpoint/2010/main" val="23207078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Nagios Need for Continuous </a:t>
            </a:r>
            <a:r>
              <a:rPr lang="en-US" sz="4000" b="1" i="1" dirty="0"/>
              <a:t>Monitoring</a:t>
            </a:r>
          </a:p>
        </p:txBody>
      </p:sp>
      <p:sp>
        <p:nvSpPr>
          <p:cNvPr id="3" name="Content Placeholder 2"/>
          <p:cNvSpPr>
            <a:spLocks noGrp="1"/>
          </p:cNvSpPr>
          <p:nvPr>
            <p:ph idx="1"/>
          </p:nvPr>
        </p:nvSpPr>
        <p:spPr>
          <a:xfrm>
            <a:off x="574766" y="1425620"/>
            <a:ext cx="11025049" cy="5103282"/>
          </a:xfrm>
        </p:spPr>
        <p:txBody>
          <a:bodyPr>
            <a:normAutofit fontScale="77500" lnSpcReduction="20000"/>
          </a:bodyPr>
          <a:lstStyle/>
          <a:p>
            <a:pPr>
              <a:lnSpc>
                <a:spcPct val="150000"/>
              </a:lnSpc>
            </a:pPr>
            <a:r>
              <a:rPr lang="en-US" dirty="0"/>
              <a:t>Continuous Monitoring Tools resolve any system errors ( low memory, unreachable server etc. ) before they have any negative impact on your business productivity. </a:t>
            </a:r>
            <a:endParaRPr lang="en-US" dirty="0" smtClean="0"/>
          </a:p>
          <a:p>
            <a:pPr>
              <a:lnSpc>
                <a:spcPct val="150000"/>
              </a:lnSpc>
            </a:pPr>
            <a:r>
              <a:rPr lang="en-US" dirty="0" smtClean="0"/>
              <a:t>Important </a:t>
            </a:r>
            <a:r>
              <a:rPr lang="en-US" dirty="0"/>
              <a:t>reasons to use a monitoring tool </a:t>
            </a:r>
            <a:r>
              <a:rPr lang="en-US" dirty="0" smtClean="0"/>
              <a:t>are:</a:t>
            </a:r>
          </a:p>
          <a:p>
            <a:pPr lvl="1">
              <a:lnSpc>
                <a:spcPct val="150000"/>
              </a:lnSpc>
            </a:pPr>
            <a:r>
              <a:rPr lang="en-US" dirty="0" smtClean="0"/>
              <a:t>It </a:t>
            </a:r>
            <a:r>
              <a:rPr lang="en-US" dirty="0"/>
              <a:t>Detects all types of network or server </a:t>
            </a:r>
            <a:r>
              <a:rPr lang="en-US" dirty="0" smtClean="0"/>
              <a:t>issues</a:t>
            </a:r>
          </a:p>
          <a:p>
            <a:pPr lvl="1">
              <a:lnSpc>
                <a:spcPct val="150000"/>
              </a:lnSpc>
            </a:pPr>
            <a:r>
              <a:rPr lang="en-US" dirty="0" smtClean="0"/>
              <a:t>Helps </a:t>
            </a:r>
            <a:r>
              <a:rPr lang="en-US" dirty="0"/>
              <a:t>you to find the root cause of the problem which allows you to get the permanent solution to the </a:t>
            </a:r>
            <a:r>
              <a:rPr lang="en-US" dirty="0" smtClean="0"/>
              <a:t>problem</a:t>
            </a:r>
          </a:p>
          <a:p>
            <a:pPr lvl="1">
              <a:lnSpc>
                <a:spcPct val="150000"/>
              </a:lnSpc>
            </a:pPr>
            <a:r>
              <a:rPr lang="en-US" dirty="0" smtClean="0"/>
              <a:t>Active </a:t>
            </a:r>
            <a:r>
              <a:rPr lang="en-US" dirty="0"/>
              <a:t>monitoring of your entire infrastructure and business </a:t>
            </a:r>
            <a:r>
              <a:rPr lang="en-US" dirty="0" smtClean="0"/>
              <a:t>processes</a:t>
            </a:r>
          </a:p>
          <a:p>
            <a:pPr lvl="1">
              <a:lnSpc>
                <a:spcPct val="150000"/>
              </a:lnSpc>
            </a:pPr>
            <a:r>
              <a:rPr lang="en-US" dirty="0" smtClean="0"/>
              <a:t>Allows </a:t>
            </a:r>
            <a:r>
              <a:rPr lang="en-US" dirty="0"/>
              <a:t>you to monitors and troubleshoot server performance </a:t>
            </a:r>
            <a:r>
              <a:rPr lang="en-US" dirty="0" smtClean="0"/>
              <a:t>issues</a:t>
            </a:r>
          </a:p>
          <a:p>
            <a:pPr lvl="1">
              <a:lnSpc>
                <a:spcPct val="150000"/>
              </a:lnSpc>
            </a:pPr>
            <a:r>
              <a:rPr lang="en-US" dirty="0" smtClean="0"/>
              <a:t>Helps </a:t>
            </a:r>
            <a:r>
              <a:rPr lang="en-US" dirty="0"/>
              <a:t>you to plan for infrastructure upgrades before outdated systems create </a:t>
            </a:r>
            <a:r>
              <a:rPr lang="en-US" dirty="0" smtClean="0"/>
              <a:t>failures</a:t>
            </a:r>
          </a:p>
          <a:p>
            <a:pPr lvl="1">
              <a:lnSpc>
                <a:spcPct val="150000"/>
              </a:lnSpc>
            </a:pPr>
            <a:r>
              <a:rPr lang="en-US" dirty="0" smtClean="0"/>
              <a:t>You </a:t>
            </a:r>
            <a:r>
              <a:rPr lang="en-US" dirty="0"/>
              <a:t>can maintain the security and availability of the </a:t>
            </a:r>
            <a:r>
              <a:rPr lang="en-US" dirty="0" smtClean="0"/>
              <a:t>service</a:t>
            </a:r>
          </a:p>
          <a:p>
            <a:pPr lvl="1">
              <a:lnSpc>
                <a:spcPct val="150000"/>
              </a:lnSpc>
            </a:pPr>
            <a:r>
              <a:rPr lang="en-US" dirty="0" smtClean="0"/>
              <a:t>Automatically </a:t>
            </a:r>
            <a:r>
              <a:rPr lang="en-US" dirty="0"/>
              <a:t>fix problems in a panic </a:t>
            </a:r>
            <a:r>
              <a:rPr lang="en-US" dirty="0" smtClean="0"/>
              <a:t>situation</a:t>
            </a: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12</a:t>
            </a:fld>
            <a:endParaRPr lang="en-US" dirty="0"/>
          </a:p>
        </p:txBody>
      </p:sp>
    </p:spTree>
    <p:extLst>
      <p:ext uri="{BB962C8B-B14F-4D97-AF65-F5344CB8AC3E}">
        <p14:creationId xmlns:p14="http://schemas.microsoft.com/office/powerpoint/2010/main" val="13733781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Nagios Variants</a:t>
            </a:r>
            <a:endParaRPr lang="en-US" sz="4000" b="1" i="1" dirty="0"/>
          </a:p>
        </p:txBody>
      </p:sp>
      <p:sp>
        <p:nvSpPr>
          <p:cNvPr id="3" name="Content Placeholder 2"/>
          <p:cNvSpPr>
            <a:spLocks noGrp="1"/>
          </p:cNvSpPr>
          <p:nvPr>
            <p:ph idx="1"/>
          </p:nvPr>
        </p:nvSpPr>
        <p:spPr>
          <a:xfrm>
            <a:off x="574766" y="1425619"/>
            <a:ext cx="11025049" cy="5311651"/>
          </a:xfrm>
        </p:spPr>
        <p:txBody>
          <a:bodyPr>
            <a:noAutofit/>
          </a:bodyPr>
          <a:lstStyle/>
          <a:p>
            <a:pPr>
              <a:lnSpc>
                <a:spcPct val="150000"/>
              </a:lnSpc>
            </a:pPr>
            <a:r>
              <a:rPr lang="en-US" sz="2600" dirty="0" smtClean="0"/>
              <a:t>Two variants of Nagios:</a:t>
            </a:r>
            <a:endParaRPr lang="en-US" sz="2600" dirty="0"/>
          </a:p>
          <a:p>
            <a:pPr marL="514350" indent="-514350">
              <a:lnSpc>
                <a:spcPct val="150000"/>
              </a:lnSpc>
              <a:buFont typeface="+mj-lt"/>
              <a:buAutoNum type="arabicPeriod"/>
            </a:pPr>
            <a:r>
              <a:rPr lang="en-US" sz="2600" b="1" dirty="0">
                <a:solidFill>
                  <a:srgbClr val="FF0000"/>
                </a:solidFill>
              </a:rPr>
              <a:t>Nagios Core:</a:t>
            </a:r>
            <a:r>
              <a:rPr lang="en-US" sz="2600" dirty="0"/>
              <a:t> The Nagios is also known as a Nagios Core. It is an open-source product. It is released on 1st March in the year </a:t>
            </a:r>
            <a:r>
              <a:rPr lang="en-US" sz="2600" dirty="0" smtClean="0"/>
              <a:t>2002.</a:t>
            </a:r>
          </a:p>
          <a:p>
            <a:pPr marL="514350" indent="-514350">
              <a:lnSpc>
                <a:spcPct val="150000"/>
              </a:lnSpc>
              <a:buFont typeface="+mj-lt"/>
              <a:buAutoNum type="arabicPeriod"/>
            </a:pPr>
            <a:r>
              <a:rPr lang="en-US" sz="2600" b="1" dirty="0" smtClean="0">
                <a:solidFill>
                  <a:srgbClr val="FF0000"/>
                </a:solidFill>
              </a:rPr>
              <a:t>Nagios </a:t>
            </a:r>
            <a:r>
              <a:rPr lang="en-US" sz="2600" b="1" dirty="0">
                <a:solidFill>
                  <a:srgbClr val="FF0000"/>
                </a:solidFill>
              </a:rPr>
              <a:t>XI:</a:t>
            </a:r>
            <a:r>
              <a:rPr lang="en-US" sz="2600" dirty="0"/>
              <a:t> It is an extended version of Nagios. It provides advanced components and tools for monitoring. This variant needs a software license.</a:t>
            </a:r>
          </a:p>
          <a:p>
            <a:pPr marL="514350" indent="-514350">
              <a:lnSpc>
                <a:spcPct val="150000"/>
              </a:lnSpc>
              <a:buFont typeface="+mj-lt"/>
              <a:buAutoNum type="arabicPeriod"/>
            </a:pPr>
            <a:endParaRPr lang="en-US" sz="26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13</a:t>
            </a:fld>
            <a:endParaRPr lang="en-US" dirty="0"/>
          </a:p>
        </p:txBody>
      </p:sp>
    </p:spTree>
    <p:extLst>
      <p:ext uri="{BB962C8B-B14F-4D97-AF65-F5344CB8AC3E}">
        <p14:creationId xmlns:p14="http://schemas.microsoft.com/office/powerpoint/2010/main" val="39989915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Nagios Features</a:t>
            </a:r>
          </a:p>
        </p:txBody>
      </p:sp>
      <p:sp>
        <p:nvSpPr>
          <p:cNvPr id="3" name="Content Placeholder 2"/>
          <p:cNvSpPr>
            <a:spLocks noGrp="1"/>
          </p:cNvSpPr>
          <p:nvPr>
            <p:ph idx="1"/>
          </p:nvPr>
        </p:nvSpPr>
        <p:spPr>
          <a:xfrm>
            <a:off x="574766" y="1425619"/>
            <a:ext cx="11025049" cy="5311651"/>
          </a:xfrm>
        </p:spPr>
        <p:txBody>
          <a:bodyPr>
            <a:noAutofit/>
          </a:bodyPr>
          <a:lstStyle/>
          <a:p>
            <a:pPr>
              <a:lnSpc>
                <a:spcPct val="150000"/>
              </a:lnSpc>
            </a:pPr>
            <a:r>
              <a:rPr lang="en-US" sz="2600" dirty="0" smtClean="0"/>
              <a:t>Oldest and latest</a:t>
            </a:r>
          </a:p>
          <a:p>
            <a:pPr>
              <a:lnSpc>
                <a:spcPct val="150000"/>
              </a:lnSpc>
            </a:pPr>
            <a:r>
              <a:rPr lang="en-US" sz="2600" dirty="0" smtClean="0"/>
              <a:t>Good log system</a:t>
            </a:r>
          </a:p>
          <a:p>
            <a:pPr>
              <a:lnSpc>
                <a:spcPct val="150000"/>
              </a:lnSpc>
            </a:pPr>
            <a:r>
              <a:rPr lang="en-US" sz="2600" dirty="0" smtClean="0"/>
              <a:t>Informative and attractive web interface</a:t>
            </a:r>
          </a:p>
          <a:p>
            <a:pPr>
              <a:lnSpc>
                <a:spcPct val="150000"/>
              </a:lnSpc>
            </a:pPr>
            <a:r>
              <a:rPr lang="en-US" sz="2600" dirty="0" smtClean="0"/>
              <a:t>Automatically send alert if condition changes</a:t>
            </a:r>
          </a:p>
          <a:p>
            <a:pPr lvl="1">
              <a:lnSpc>
                <a:spcPct val="150000"/>
              </a:lnSpc>
            </a:pPr>
            <a:r>
              <a:rPr lang="en-US" sz="1800" dirty="0" smtClean="0"/>
              <a:t>Warning</a:t>
            </a:r>
            <a:r>
              <a:rPr lang="en-US" sz="1800" smtClean="0"/>
              <a:t>, critical </a:t>
            </a:r>
            <a:r>
              <a:rPr lang="en-US" sz="1800" dirty="0" smtClean="0"/>
              <a:t>etc.</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14</a:t>
            </a:fld>
            <a:endParaRPr lang="en-US" dirty="0"/>
          </a:p>
        </p:txBody>
      </p:sp>
    </p:spTree>
    <p:extLst>
      <p:ext uri="{BB962C8B-B14F-4D97-AF65-F5344CB8AC3E}">
        <p14:creationId xmlns:p14="http://schemas.microsoft.com/office/powerpoint/2010/main" val="4154877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Nagios </a:t>
            </a:r>
            <a:r>
              <a:rPr lang="en-US" sz="4000" b="1" i="1" dirty="0" smtClean="0"/>
              <a:t>Features (Cont.)</a:t>
            </a:r>
            <a:endParaRPr lang="en-US" sz="4000" b="1" i="1" dirty="0"/>
          </a:p>
        </p:txBody>
      </p:sp>
      <p:sp>
        <p:nvSpPr>
          <p:cNvPr id="3" name="Content Placeholder 2"/>
          <p:cNvSpPr>
            <a:spLocks noGrp="1"/>
          </p:cNvSpPr>
          <p:nvPr>
            <p:ph idx="1"/>
          </p:nvPr>
        </p:nvSpPr>
        <p:spPr>
          <a:xfrm>
            <a:off x="574766" y="1425619"/>
            <a:ext cx="11025049" cy="5311651"/>
          </a:xfrm>
        </p:spPr>
        <p:txBody>
          <a:bodyPr>
            <a:noAutofit/>
          </a:bodyPr>
          <a:lstStyle/>
          <a:p>
            <a:pPr>
              <a:lnSpc>
                <a:spcPct val="150000"/>
              </a:lnSpc>
            </a:pPr>
            <a:r>
              <a:rPr lang="en-US" sz="2600" dirty="0" smtClean="0"/>
              <a:t>You </a:t>
            </a:r>
            <a:r>
              <a:rPr lang="en-US" sz="2600" dirty="0"/>
              <a:t>can develop custom plug-ins that match your requirements and check the most critical production environment requirements.</a:t>
            </a:r>
          </a:p>
          <a:p>
            <a:pPr>
              <a:lnSpc>
                <a:spcPct val="150000"/>
              </a:lnSpc>
            </a:pPr>
            <a:r>
              <a:rPr lang="en-US" sz="2600" dirty="0"/>
              <a:t>The documentation on the Nagios website is rather comprehensive, and you may use it for any specific reference.</a:t>
            </a:r>
          </a:p>
          <a:p>
            <a:pPr>
              <a:lnSpc>
                <a:spcPct val="150000"/>
              </a:lnSpc>
            </a:pPr>
            <a:r>
              <a:rPr lang="en-US" sz="2600" dirty="0"/>
              <a:t>It has a feature that allows you to set up services to ping devices in an organization</a:t>
            </a:r>
            <a:r>
              <a:rPr lang="en-US" sz="2600" dirty="0" smtClean="0"/>
              <a:t>.</a:t>
            </a:r>
            <a:endParaRPr lang="en-US" sz="26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15</a:t>
            </a:fld>
            <a:endParaRPr lang="en-US" dirty="0"/>
          </a:p>
        </p:txBody>
      </p:sp>
    </p:spTree>
    <p:extLst>
      <p:ext uri="{BB962C8B-B14F-4D97-AF65-F5344CB8AC3E}">
        <p14:creationId xmlns:p14="http://schemas.microsoft.com/office/powerpoint/2010/main" val="1871549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Architecture of Nagios</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16</a:t>
            </a:fld>
            <a:endParaRPr lang="en-US" dirty="0"/>
          </a:p>
        </p:txBody>
      </p:sp>
      <p:sp>
        <p:nvSpPr>
          <p:cNvPr id="3" name="Content Placeholder 2"/>
          <p:cNvSpPr>
            <a:spLocks noGrp="1"/>
          </p:cNvSpPr>
          <p:nvPr>
            <p:ph idx="1"/>
          </p:nvPr>
        </p:nvSpPr>
        <p:spPr>
          <a:xfrm>
            <a:off x="574765" y="1136469"/>
            <a:ext cx="11142618" cy="5600802"/>
          </a:xfrm>
        </p:spPr>
        <p:txBody>
          <a:bodyPr>
            <a:normAutofit fontScale="92500"/>
          </a:bodyPr>
          <a:lstStyle/>
          <a:p>
            <a:pPr>
              <a:lnSpc>
                <a:spcPct val="150000"/>
              </a:lnSpc>
            </a:pPr>
            <a:r>
              <a:rPr lang="en-US" sz="2400" dirty="0"/>
              <a:t>The architecture of Nagios is built on the basis of server-client architecture.</a:t>
            </a:r>
          </a:p>
          <a:p>
            <a:pPr>
              <a:lnSpc>
                <a:spcPct val="150000"/>
              </a:lnSpc>
            </a:pPr>
            <a:r>
              <a:rPr lang="en-US" sz="2400" dirty="0"/>
              <a:t>The server of Nagios usually run on a host and the plugins run on the remote server/ or remote host which are to be monitored.</a:t>
            </a:r>
          </a:p>
          <a:p>
            <a:pPr>
              <a:lnSpc>
                <a:spcPct val="150000"/>
              </a:lnSpc>
            </a:pPr>
            <a:r>
              <a:rPr lang="en-US" sz="2400" dirty="0"/>
              <a:t>The plugins of Nagios collect the useful data and send them to the process scheduler, which displays the information over the graphical user interface (GUI).</a:t>
            </a:r>
          </a:p>
          <a:p>
            <a:pPr>
              <a:lnSpc>
                <a:spcPct val="150000"/>
              </a:lnSpc>
            </a:pPr>
            <a:r>
              <a:rPr lang="en-US" sz="2400" dirty="0"/>
              <a:t>Nagios sends a signal through a process scheduler to run the plugins on the local/remote hosts/servers.</a:t>
            </a:r>
          </a:p>
          <a:p>
            <a:pPr>
              <a:lnSpc>
                <a:spcPct val="150000"/>
              </a:lnSpc>
            </a:pPr>
            <a:r>
              <a:rPr lang="en-US" sz="2400" dirty="0"/>
              <a:t>Plugins collect the data (CPU usage, memory usage etc.) and sends it back to the scheduler.</a:t>
            </a:r>
          </a:p>
          <a:p>
            <a:pPr>
              <a:lnSpc>
                <a:spcPct val="150000"/>
              </a:lnSpc>
            </a:pPr>
            <a:r>
              <a:rPr lang="en-US" sz="2400" dirty="0"/>
              <a:t>Then the process schedules send the notifications to the admin/s and updates Nagios GUI</a:t>
            </a:r>
            <a:r>
              <a:rPr lang="en-US" sz="2400" dirty="0" smtClean="0"/>
              <a:t>.</a:t>
            </a:r>
            <a:endParaRPr lang="en-US" sz="2400" dirty="0"/>
          </a:p>
        </p:txBody>
      </p:sp>
    </p:spTree>
    <p:extLst>
      <p:ext uri="{BB962C8B-B14F-4D97-AF65-F5344CB8AC3E}">
        <p14:creationId xmlns:p14="http://schemas.microsoft.com/office/powerpoint/2010/main" val="391566330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Architecture </a:t>
            </a:r>
            <a:r>
              <a:rPr lang="en-US" sz="4000" b="1" i="1" dirty="0"/>
              <a:t>of </a:t>
            </a:r>
            <a:r>
              <a:rPr lang="en-US" sz="4000" b="1" i="1" dirty="0" smtClean="0"/>
              <a:t>Nagios (Cont.)</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17</a:t>
            </a:fld>
            <a:endParaRPr lang="en-US"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74589" y="1527638"/>
            <a:ext cx="7925226" cy="3500846"/>
          </a:xfrm>
          <a:ln>
            <a:solidFill>
              <a:schemeClr val="tx2">
                <a:lumMod val="20000"/>
                <a:lumOff val="80000"/>
              </a:schemeClr>
            </a:solidFill>
          </a:ln>
        </p:spPr>
      </p:pic>
      <p:sp>
        <p:nvSpPr>
          <p:cNvPr id="3" name="TextBox 2"/>
          <p:cNvSpPr txBox="1"/>
          <p:nvPr/>
        </p:nvSpPr>
        <p:spPr>
          <a:xfrm>
            <a:off x="574765" y="1527638"/>
            <a:ext cx="6448335" cy="1697068"/>
          </a:xfrm>
          <a:prstGeom prst="rect">
            <a:avLst/>
          </a:prstGeom>
          <a:noFill/>
        </p:spPr>
        <p:txBody>
          <a:bodyPr wrap="square" rtlCol="0">
            <a:spAutoFit/>
          </a:bodyPr>
          <a:lstStyle/>
          <a:p>
            <a:pPr marL="285750" indent="-285750">
              <a:lnSpc>
                <a:spcPct val="150000"/>
              </a:lnSpc>
              <a:buFont typeface="Courier New" panose="02070309020205020404" pitchFamily="49" charset="0"/>
              <a:buChar char="o"/>
            </a:pPr>
            <a:r>
              <a:rPr lang="en-US" sz="2400" b="1" dirty="0" smtClean="0"/>
              <a:t>Scheduler</a:t>
            </a:r>
          </a:p>
          <a:p>
            <a:pPr marL="285750" indent="-285750">
              <a:lnSpc>
                <a:spcPct val="150000"/>
              </a:lnSpc>
              <a:buFont typeface="Courier New" panose="02070309020205020404" pitchFamily="49" charset="0"/>
              <a:buChar char="o"/>
            </a:pPr>
            <a:r>
              <a:rPr lang="en-US" sz="2400" b="1" dirty="0" smtClean="0"/>
              <a:t>GUI</a:t>
            </a:r>
          </a:p>
          <a:p>
            <a:pPr marL="285750" indent="-285750">
              <a:lnSpc>
                <a:spcPct val="150000"/>
              </a:lnSpc>
              <a:buFont typeface="Courier New" panose="02070309020205020404" pitchFamily="49" charset="0"/>
              <a:buChar char="o"/>
            </a:pPr>
            <a:r>
              <a:rPr lang="en-US" sz="2400" b="1" dirty="0" smtClean="0"/>
              <a:t>Plugins</a:t>
            </a:r>
            <a:endParaRPr lang="en-US" sz="2400" dirty="0"/>
          </a:p>
        </p:txBody>
      </p:sp>
    </p:spTree>
    <p:extLst>
      <p:ext uri="{BB962C8B-B14F-4D97-AF65-F5344CB8AC3E}">
        <p14:creationId xmlns:p14="http://schemas.microsoft.com/office/powerpoint/2010/main" val="426307635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Nagios </a:t>
            </a:r>
            <a:r>
              <a:rPr lang="en-US" sz="4000" b="1" i="1" dirty="0"/>
              <a:t>Architecture </a:t>
            </a:r>
            <a:r>
              <a:rPr lang="en-US" sz="4000" b="1" i="1" dirty="0" smtClean="0"/>
              <a:t>Components</a:t>
            </a:r>
            <a:endParaRPr lang="en-US" sz="4000" b="1" i="1" dirty="0"/>
          </a:p>
        </p:txBody>
      </p:sp>
      <p:sp>
        <p:nvSpPr>
          <p:cNvPr id="3" name="Content Placeholder 2"/>
          <p:cNvSpPr>
            <a:spLocks noGrp="1"/>
          </p:cNvSpPr>
          <p:nvPr>
            <p:ph idx="1"/>
          </p:nvPr>
        </p:nvSpPr>
        <p:spPr>
          <a:xfrm>
            <a:off x="574766" y="1425619"/>
            <a:ext cx="11025049" cy="5311651"/>
          </a:xfrm>
        </p:spPr>
        <p:txBody>
          <a:bodyPr>
            <a:noAutofit/>
          </a:bodyPr>
          <a:lstStyle/>
          <a:p>
            <a:pPr>
              <a:lnSpc>
                <a:spcPct val="150000"/>
              </a:lnSpc>
              <a:buFont typeface="Wingdings" panose="05000000000000000000" pitchFamily="2" charset="2"/>
              <a:buChar char="Ø"/>
            </a:pPr>
            <a:r>
              <a:rPr lang="en-US" sz="2400" b="1" dirty="0">
                <a:solidFill>
                  <a:srgbClr val="FF0000"/>
                </a:solidFill>
              </a:rPr>
              <a:t>Scheduler-</a:t>
            </a:r>
            <a:endParaRPr lang="en-US" sz="2000" dirty="0"/>
          </a:p>
          <a:p>
            <a:pPr lvl="1">
              <a:lnSpc>
                <a:spcPct val="150000"/>
              </a:lnSpc>
            </a:pPr>
            <a:r>
              <a:rPr lang="en-US" sz="2000" dirty="0"/>
              <a:t>The scheduler is the server part of the Nagios system. This component checks the plugins at regular interval and according to their results perform some action.</a:t>
            </a:r>
          </a:p>
          <a:p>
            <a:pPr>
              <a:lnSpc>
                <a:spcPct val="150000"/>
              </a:lnSpc>
              <a:buFont typeface="Wingdings" panose="05000000000000000000" pitchFamily="2" charset="2"/>
              <a:buChar char="Ø"/>
            </a:pPr>
            <a:r>
              <a:rPr lang="en-US" sz="2400" b="1" dirty="0">
                <a:solidFill>
                  <a:srgbClr val="FF0000"/>
                </a:solidFill>
              </a:rPr>
              <a:t>GUI -</a:t>
            </a:r>
          </a:p>
          <a:p>
            <a:pPr lvl="1">
              <a:lnSpc>
                <a:spcPct val="150000"/>
              </a:lnSpc>
            </a:pPr>
            <a:r>
              <a:rPr lang="en-US" sz="2000" dirty="0"/>
              <a:t>It is a user interface of the Nagios system, which is displayed on the web pages generated by the CGI.</a:t>
            </a:r>
          </a:p>
          <a:p>
            <a:pPr lvl="1">
              <a:lnSpc>
                <a:spcPct val="150000"/>
              </a:lnSpc>
            </a:pPr>
            <a:r>
              <a:rPr lang="en-US" sz="2000" dirty="0"/>
              <a:t>GUI </a:t>
            </a:r>
            <a:r>
              <a:rPr lang="en-US" sz="2000" dirty="0" smtClean="0"/>
              <a:t>have </a:t>
            </a:r>
            <a:r>
              <a:rPr lang="en-US" sz="2000" dirty="0"/>
              <a:t>buttons </a:t>
            </a:r>
            <a:r>
              <a:rPr lang="en-US" sz="2000" dirty="0" smtClean="0"/>
              <a:t>of Red </a:t>
            </a:r>
            <a:r>
              <a:rPr lang="en-US" sz="2000" dirty="0"/>
              <a:t>or </a:t>
            </a:r>
            <a:r>
              <a:rPr lang="en-US" sz="2000" dirty="0" smtClean="0"/>
              <a:t>Green colors, </a:t>
            </a:r>
            <a:r>
              <a:rPr lang="en-US" sz="2000" dirty="0"/>
              <a:t>graph, sound, etc.</a:t>
            </a:r>
          </a:p>
          <a:p>
            <a:pPr lvl="1">
              <a:lnSpc>
                <a:spcPct val="150000"/>
              </a:lnSpc>
            </a:pPr>
            <a:r>
              <a:rPr lang="en-US" sz="2000" dirty="0"/>
              <a:t>The </a:t>
            </a:r>
            <a:r>
              <a:rPr lang="en-US" sz="2000" dirty="0" smtClean="0"/>
              <a:t>GUI Green button becomes red, </a:t>
            </a:r>
            <a:r>
              <a:rPr lang="en-US" sz="2000" dirty="0"/>
              <a:t>when the plugins returns an error or warning</a:t>
            </a:r>
            <a:r>
              <a:rPr lang="en-US" sz="2000" dirty="0" smtClean="0"/>
              <a:t>.</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18</a:t>
            </a:fld>
            <a:endParaRPr lang="en-US" dirty="0"/>
          </a:p>
        </p:txBody>
      </p:sp>
    </p:spTree>
    <p:extLst>
      <p:ext uri="{BB962C8B-B14F-4D97-AF65-F5344CB8AC3E}">
        <p14:creationId xmlns:p14="http://schemas.microsoft.com/office/powerpoint/2010/main" val="11729263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Nagios Architecture </a:t>
            </a:r>
            <a:r>
              <a:rPr lang="en-US" sz="4000" b="1" i="1" dirty="0" smtClean="0"/>
              <a:t>Components (Cont.)</a:t>
            </a:r>
            <a:endParaRPr lang="en-US" sz="4000" b="1" i="1" dirty="0"/>
          </a:p>
        </p:txBody>
      </p:sp>
      <p:sp>
        <p:nvSpPr>
          <p:cNvPr id="3" name="Content Placeholder 2"/>
          <p:cNvSpPr>
            <a:spLocks noGrp="1"/>
          </p:cNvSpPr>
          <p:nvPr>
            <p:ph idx="1"/>
          </p:nvPr>
        </p:nvSpPr>
        <p:spPr>
          <a:xfrm>
            <a:off x="574766" y="1425619"/>
            <a:ext cx="11025049" cy="5311651"/>
          </a:xfrm>
        </p:spPr>
        <p:txBody>
          <a:bodyPr>
            <a:noAutofit/>
          </a:bodyPr>
          <a:lstStyle/>
          <a:p>
            <a:pPr>
              <a:lnSpc>
                <a:spcPct val="150000"/>
              </a:lnSpc>
            </a:pPr>
            <a:r>
              <a:rPr lang="en-US" b="1" dirty="0" smtClean="0">
                <a:solidFill>
                  <a:srgbClr val="FF0000"/>
                </a:solidFill>
              </a:rPr>
              <a:t>Plugins</a:t>
            </a:r>
            <a:r>
              <a:rPr lang="en-US" b="1" dirty="0">
                <a:solidFill>
                  <a:srgbClr val="FF0000"/>
                </a:solidFill>
              </a:rPr>
              <a:t> </a:t>
            </a:r>
            <a:r>
              <a:rPr lang="en-US" b="1" dirty="0" smtClean="0">
                <a:solidFill>
                  <a:srgbClr val="FF0000"/>
                </a:solidFill>
              </a:rPr>
              <a:t>-</a:t>
            </a:r>
            <a:endParaRPr lang="en-US" b="1" dirty="0">
              <a:solidFill>
                <a:srgbClr val="FF0000"/>
              </a:solidFill>
            </a:endParaRPr>
          </a:p>
          <a:p>
            <a:pPr lvl="1">
              <a:lnSpc>
                <a:spcPct val="150000"/>
              </a:lnSpc>
            </a:pPr>
            <a:r>
              <a:rPr lang="en-US" dirty="0" smtClean="0"/>
              <a:t>Plugins </a:t>
            </a:r>
            <a:r>
              <a:rPr lang="en-US" dirty="0"/>
              <a:t>is a component of the Nagios system, which is configurable by the users. This component detects the services and return the results to the server of Nagios</a:t>
            </a:r>
            <a:r>
              <a:rPr lang="en-US" dirty="0" smtClean="0"/>
              <a:t>.</a:t>
            </a:r>
            <a:endParaRPr lang="en-US" dirty="0"/>
          </a:p>
          <a:p>
            <a:pPr lvl="1">
              <a:lnSpc>
                <a:spcPct val="150000"/>
              </a:lnSpc>
            </a:pP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19</a:t>
            </a:fld>
            <a:endParaRPr lang="en-US" dirty="0"/>
          </a:p>
        </p:txBody>
      </p:sp>
    </p:spTree>
    <p:extLst>
      <p:ext uri="{BB962C8B-B14F-4D97-AF65-F5344CB8AC3E}">
        <p14:creationId xmlns:p14="http://schemas.microsoft.com/office/powerpoint/2010/main" val="14753248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Nagios Architecture Components </a:t>
            </a:r>
            <a:r>
              <a:rPr lang="en-US" sz="4000" b="1" i="1" dirty="0" smtClean="0"/>
              <a:t>(Cont.)</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20</a:t>
            </a:fld>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4787" y="1992969"/>
            <a:ext cx="10505005" cy="3694260"/>
          </a:xfrm>
        </p:spPr>
      </p:pic>
    </p:spTree>
    <p:extLst>
      <p:ext uri="{BB962C8B-B14F-4D97-AF65-F5344CB8AC3E}">
        <p14:creationId xmlns:p14="http://schemas.microsoft.com/office/powerpoint/2010/main" val="15562696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Types Nagios Checking</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21</a:t>
            </a:fld>
            <a:endParaRPr lang="en-US" dirty="0"/>
          </a:p>
        </p:txBody>
      </p:sp>
      <p:sp>
        <p:nvSpPr>
          <p:cNvPr id="3" name="Content Placeholder 2"/>
          <p:cNvSpPr>
            <a:spLocks noGrp="1"/>
          </p:cNvSpPr>
          <p:nvPr>
            <p:ph idx="1"/>
          </p:nvPr>
        </p:nvSpPr>
        <p:spPr>
          <a:xfrm>
            <a:off x="838200" y="1308053"/>
            <a:ext cx="10515600" cy="5288690"/>
          </a:xfrm>
        </p:spPr>
        <p:txBody>
          <a:bodyPr>
            <a:normAutofit fontScale="85000" lnSpcReduction="10000"/>
          </a:bodyPr>
          <a:lstStyle/>
          <a:p>
            <a:pPr>
              <a:lnSpc>
                <a:spcPct val="160000"/>
              </a:lnSpc>
            </a:pPr>
            <a:r>
              <a:rPr lang="en-US" b="1" dirty="0"/>
              <a:t>Active </a:t>
            </a:r>
            <a:r>
              <a:rPr lang="en-US" b="1" dirty="0" smtClean="0"/>
              <a:t>Checks:</a:t>
            </a:r>
          </a:p>
          <a:p>
            <a:pPr lvl="1">
              <a:lnSpc>
                <a:spcPct val="160000"/>
              </a:lnSpc>
            </a:pPr>
            <a:r>
              <a:rPr lang="en-US" dirty="0" smtClean="0"/>
              <a:t>Active </a:t>
            </a:r>
            <a:r>
              <a:rPr lang="en-US" dirty="0"/>
              <a:t>checks are initiated by the Nagios process and execute on a regularly scheduled basis after they are started. Nagios executes plugins and passes the information about what needs to be checked in order to monitor remote hosts and services.</a:t>
            </a:r>
          </a:p>
          <a:p>
            <a:pPr>
              <a:lnSpc>
                <a:spcPct val="160000"/>
              </a:lnSpc>
            </a:pPr>
            <a:r>
              <a:rPr lang="en-US" b="1" dirty="0"/>
              <a:t>Passive </a:t>
            </a:r>
            <a:r>
              <a:rPr lang="en-US" b="1" dirty="0" smtClean="0"/>
              <a:t>Checks:</a:t>
            </a:r>
            <a:endParaRPr lang="en-US" dirty="0"/>
          </a:p>
          <a:p>
            <a:pPr lvl="1">
              <a:lnSpc>
                <a:spcPct val="160000"/>
              </a:lnSpc>
            </a:pPr>
            <a:r>
              <a:rPr lang="en-US" dirty="0" smtClean="0"/>
              <a:t>Passive </a:t>
            </a:r>
            <a:r>
              <a:rPr lang="en-US" dirty="0"/>
              <a:t>checks are initiated and performed by external applications/processes. Passive check results are then submitted to Nagios for further processing The main difference between active and passive checks is that active checks are initiated and performed by Nagios, whereas passive checks are performed by external applications</a:t>
            </a:r>
            <a:r>
              <a:rPr lang="en-US" dirty="0" smtClean="0"/>
              <a:t>.</a:t>
            </a:r>
            <a:endParaRPr lang="en-US" dirty="0"/>
          </a:p>
        </p:txBody>
      </p:sp>
    </p:spTree>
    <p:extLst>
      <p:ext uri="{BB962C8B-B14F-4D97-AF65-F5344CB8AC3E}">
        <p14:creationId xmlns:p14="http://schemas.microsoft.com/office/powerpoint/2010/main" val="324712290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Types </a:t>
            </a:r>
            <a:r>
              <a:rPr lang="en-US" sz="4000" b="1" i="1" dirty="0"/>
              <a:t>of Nagios Plugins</a:t>
            </a:r>
          </a:p>
        </p:txBody>
      </p:sp>
      <p:sp>
        <p:nvSpPr>
          <p:cNvPr id="3" name="Content Placeholder 2"/>
          <p:cNvSpPr>
            <a:spLocks noGrp="1"/>
          </p:cNvSpPr>
          <p:nvPr>
            <p:ph idx="1"/>
          </p:nvPr>
        </p:nvSpPr>
        <p:spPr>
          <a:xfrm>
            <a:off x="574766" y="1425619"/>
            <a:ext cx="11025049" cy="5311651"/>
          </a:xfrm>
        </p:spPr>
        <p:txBody>
          <a:bodyPr>
            <a:noAutofit/>
          </a:bodyPr>
          <a:lstStyle/>
          <a:p>
            <a:pPr>
              <a:lnSpc>
                <a:spcPct val="150000"/>
              </a:lnSpc>
            </a:pPr>
            <a:r>
              <a:rPr lang="en-US" b="1" dirty="0">
                <a:solidFill>
                  <a:srgbClr val="FF0000"/>
                </a:solidFill>
              </a:rPr>
              <a:t>Official Nagios Plugins</a:t>
            </a:r>
            <a:r>
              <a:rPr lang="en-US" dirty="0">
                <a:solidFill>
                  <a:srgbClr val="FF0000"/>
                </a:solidFill>
              </a:rPr>
              <a:t> </a:t>
            </a:r>
            <a:r>
              <a:rPr lang="en-US" dirty="0" smtClean="0">
                <a:solidFill>
                  <a:srgbClr val="FF0000"/>
                </a:solidFill>
              </a:rPr>
              <a:t>− </a:t>
            </a:r>
            <a:r>
              <a:rPr lang="en-US" sz="2400" dirty="0" smtClean="0"/>
              <a:t>There </a:t>
            </a:r>
            <a:r>
              <a:rPr lang="en-US" sz="2400" dirty="0"/>
              <a:t>are 50 official Nagios Plugins. Official Nagios plugins are developed and maintained by the official Nagios Plugins Team.</a:t>
            </a:r>
          </a:p>
          <a:p>
            <a:pPr>
              <a:lnSpc>
                <a:spcPct val="150000"/>
              </a:lnSpc>
            </a:pPr>
            <a:r>
              <a:rPr lang="en-US" b="1" dirty="0">
                <a:solidFill>
                  <a:srgbClr val="FF0000"/>
                </a:solidFill>
              </a:rPr>
              <a:t>Community Plugins</a:t>
            </a:r>
            <a:r>
              <a:rPr lang="en-US" dirty="0">
                <a:solidFill>
                  <a:srgbClr val="FF0000"/>
                </a:solidFill>
              </a:rPr>
              <a:t> − </a:t>
            </a:r>
            <a:r>
              <a:rPr lang="en-US" sz="2400" dirty="0"/>
              <a:t>There are over 3,000 third party Nagios plugins that have been developed by hundreds of Nagios community members.</a:t>
            </a:r>
          </a:p>
          <a:p>
            <a:pPr>
              <a:lnSpc>
                <a:spcPct val="150000"/>
              </a:lnSpc>
            </a:pPr>
            <a:r>
              <a:rPr lang="en-US" b="1" dirty="0">
                <a:solidFill>
                  <a:srgbClr val="FF0000"/>
                </a:solidFill>
              </a:rPr>
              <a:t>Custom Plugins</a:t>
            </a:r>
            <a:r>
              <a:rPr lang="en-US" dirty="0">
                <a:solidFill>
                  <a:srgbClr val="FF0000"/>
                </a:solidFill>
              </a:rPr>
              <a:t> − </a:t>
            </a:r>
            <a:r>
              <a:rPr lang="en-US" sz="2400" dirty="0"/>
              <a:t>You can also write your own Custom Plugins. There are certain guidelines that must be followed to write Custom Plugins.</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22</a:t>
            </a:fld>
            <a:endParaRPr lang="en-US" dirty="0"/>
          </a:p>
        </p:txBody>
      </p:sp>
    </p:spTree>
    <p:extLst>
      <p:ext uri="{BB962C8B-B14F-4D97-AF65-F5344CB8AC3E}">
        <p14:creationId xmlns:p14="http://schemas.microsoft.com/office/powerpoint/2010/main" val="144513614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Nagios Plugins</a:t>
            </a:r>
            <a:endParaRPr lang="en-US" sz="4000" b="1" i="1" dirty="0"/>
          </a:p>
        </p:txBody>
      </p:sp>
      <p:sp>
        <p:nvSpPr>
          <p:cNvPr id="3" name="Content Placeholder 2"/>
          <p:cNvSpPr>
            <a:spLocks noGrp="1"/>
          </p:cNvSpPr>
          <p:nvPr>
            <p:ph idx="1"/>
          </p:nvPr>
        </p:nvSpPr>
        <p:spPr>
          <a:xfrm>
            <a:off x="574766" y="1425619"/>
            <a:ext cx="11025049" cy="5311651"/>
          </a:xfrm>
        </p:spPr>
        <p:txBody>
          <a:bodyPr>
            <a:noAutofit/>
          </a:bodyPr>
          <a:lstStyle/>
          <a:p>
            <a:pPr>
              <a:lnSpc>
                <a:spcPct val="150000"/>
              </a:lnSpc>
            </a:pPr>
            <a:r>
              <a:rPr lang="en-US" b="1" i="1" dirty="0" smtClean="0">
                <a:solidFill>
                  <a:srgbClr val="FF0000"/>
                </a:solidFill>
              </a:rPr>
              <a:t>NRPE</a:t>
            </a:r>
          </a:p>
          <a:p>
            <a:pPr lvl="1">
              <a:lnSpc>
                <a:spcPct val="150000"/>
              </a:lnSpc>
            </a:pPr>
            <a:r>
              <a:rPr lang="en-US" dirty="0" smtClean="0"/>
              <a:t>The Nagios daemon which run checks on remote machines in NRPE (Nagios Remote Plugin Executor).</a:t>
            </a:r>
          </a:p>
          <a:p>
            <a:pPr lvl="1">
              <a:lnSpc>
                <a:spcPct val="150000"/>
              </a:lnSpc>
            </a:pPr>
            <a:r>
              <a:rPr lang="en-US" dirty="0" smtClean="0"/>
              <a:t>It allows you to run Nagios plugins on other machines remotely. You can monitor remote machine metrics such as disk usage, CPU load etc.</a:t>
            </a:r>
          </a:p>
          <a:p>
            <a:pPr lvl="1">
              <a:lnSpc>
                <a:spcPct val="150000"/>
              </a:lnSpc>
            </a:pPr>
            <a:r>
              <a:rPr lang="en-US" dirty="0" smtClean="0"/>
              <a:t>It can also check metrics of remote windows machines through some windows agent </a:t>
            </a:r>
            <a:r>
              <a:rPr lang="en-US" dirty="0" err="1" smtClean="0"/>
              <a:t>addons</a:t>
            </a:r>
            <a:r>
              <a:rPr lang="en-US" dirty="0" smtClean="0"/>
              <a:t>.</a:t>
            </a:r>
          </a:p>
          <a:p>
            <a:pPr>
              <a:lnSpc>
                <a:spcPct val="150000"/>
              </a:lnSpc>
            </a:pP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23</a:t>
            </a:fld>
            <a:endParaRPr lang="en-US" dirty="0"/>
          </a:p>
        </p:txBody>
      </p:sp>
    </p:spTree>
    <p:extLst>
      <p:ext uri="{BB962C8B-B14F-4D97-AF65-F5344CB8AC3E}">
        <p14:creationId xmlns:p14="http://schemas.microsoft.com/office/powerpoint/2010/main" val="57817841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Nagios Plugins (Cont.)</a:t>
            </a:r>
            <a:endParaRPr lang="en-US" sz="4000" b="1" i="1" dirty="0"/>
          </a:p>
        </p:txBody>
      </p:sp>
      <p:sp>
        <p:nvSpPr>
          <p:cNvPr id="3" name="Content Placeholder 2"/>
          <p:cNvSpPr>
            <a:spLocks noGrp="1"/>
          </p:cNvSpPr>
          <p:nvPr>
            <p:ph idx="1"/>
          </p:nvPr>
        </p:nvSpPr>
        <p:spPr>
          <a:xfrm>
            <a:off x="574766" y="1425619"/>
            <a:ext cx="11025049" cy="5311651"/>
          </a:xfrm>
        </p:spPr>
        <p:txBody>
          <a:bodyPr>
            <a:noAutofit/>
          </a:bodyPr>
          <a:lstStyle/>
          <a:p>
            <a:pPr>
              <a:lnSpc>
                <a:spcPct val="150000"/>
              </a:lnSpc>
            </a:pPr>
            <a:r>
              <a:rPr lang="en-US" b="1" i="1" dirty="0" err="1" smtClean="0">
                <a:solidFill>
                  <a:srgbClr val="FF0000"/>
                </a:solidFill>
              </a:rPr>
              <a:t>CheckBySSH</a:t>
            </a:r>
            <a:endParaRPr lang="en-US" b="1" i="1" dirty="0" smtClean="0">
              <a:solidFill>
                <a:srgbClr val="FF0000"/>
              </a:solidFill>
            </a:endParaRPr>
          </a:p>
          <a:p>
            <a:pPr lvl="1">
              <a:lnSpc>
                <a:spcPct val="150000"/>
              </a:lnSpc>
            </a:pPr>
            <a:r>
              <a:rPr lang="en-US" dirty="0" smtClean="0"/>
              <a:t>It is work as NRPE-Agent and installed on remote-server or client-side</a:t>
            </a:r>
          </a:p>
          <a:p>
            <a:pPr lvl="1">
              <a:lnSpc>
                <a:spcPct val="150000"/>
              </a:lnSpc>
            </a:pPr>
            <a:r>
              <a:rPr lang="en-US" dirty="0" smtClean="0"/>
              <a:t>It is use to communicate with server and updated about client status</a:t>
            </a: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24</a:t>
            </a:fld>
            <a:endParaRPr lang="en-US" dirty="0"/>
          </a:p>
        </p:txBody>
      </p:sp>
      <p:pic>
        <p:nvPicPr>
          <p:cNvPr id="5"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7036" y="4022723"/>
            <a:ext cx="9360507" cy="2714547"/>
          </a:xfrm>
          <a:prstGeom prst="rect">
            <a:avLst/>
          </a:prstGeom>
        </p:spPr>
      </p:pic>
    </p:spTree>
    <p:extLst>
      <p:ext uri="{BB962C8B-B14F-4D97-AF65-F5344CB8AC3E}">
        <p14:creationId xmlns:p14="http://schemas.microsoft.com/office/powerpoint/2010/main" val="32142248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900" y="2201907"/>
            <a:ext cx="11747500" cy="2611392"/>
          </a:xfrm>
        </p:spPr>
        <p:txBody>
          <a:bodyPr>
            <a:noAutofit/>
          </a:bodyPr>
          <a:lstStyle/>
          <a:p>
            <a:pPr algn="ctr"/>
            <a:r>
              <a:rPr lang="en-US" sz="7200" b="1" i="1" dirty="0"/>
              <a:t>Continuous </a:t>
            </a:r>
            <a:r>
              <a:rPr lang="en-US" sz="7200" b="1" i="1" dirty="0" smtClean="0"/>
              <a:t>Feedback Phase</a:t>
            </a:r>
            <a:endParaRPr lang="en-US" sz="72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25</a:t>
            </a:fld>
            <a:endParaRPr lang="en-US" dirty="0"/>
          </a:p>
        </p:txBody>
      </p:sp>
    </p:spTree>
    <p:extLst>
      <p:ext uri="{BB962C8B-B14F-4D97-AF65-F5344CB8AC3E}">
        <p14:creationId xmlns:p14="http://schemas.microsoft.com/office/powerpoint/2010/main" val="340533527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Continuous </a:t>
            </a:r>
            <a:r>
              <a:rPr lang="en-US" sz="4000" b="1" i="1" dirty="0"/>
              <a:t>Feedback</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26</a:t>
            </a:fld>
            <a:endParaRPr lang="en-US" dirty="0"/>
          </a:p>
        </p:txBody>
      </p:sp>
      <p:sp>
        <p:nvSpPr>
          <p:cNvPr id="3" name="Content Placeholder 2"/>
          <p:cNvSpPr>
            <a:spLocks noGrp="1"/>
          </p:cNvSpPr>
          <p:nvPr>
            <p:ph idx="1"/>
          </p:nvPr>
        </p:nvSpPr>
        <p:spPr>
          <a:xfrm>
            <a:off x="574765" y="1308052"/>
            <a:ext cx="11025050" cy="5429219"/>
          </a:xfrm>
        </p:spPr>
        <p:txBody>
          <a:bodyPr>
            <a:noAutofit/>
          </a:bodyPr>
          <a:lstStyle/>
          <a:p>
            <a:pPr fontAlgn="base">
              <a:lnSpc>
                <a:spcPct val="150000"/>
              </a:lnSpc>
            </a:pPr>
            <a:r>
              <a:rPr lang="en-US" sz="2400" dirty="0" smtClean="0"/>
              <a:t>Continuous </a:t>
            </a:r>
            <a:r>
              <a:rPr lang="en-US" sz="2400" dirty="0"/>
              <a:t>feedback is essential to ascertain and analyze the final outcome of the application. It sets the tone for improving the current version and releasing a </a:t>
            </a:r>
            <a:r>
              <a:rPr lang="en-US" sz="2400" dirty="0">
                <a:solidFill>
                  <a:srgbClr val="FF0000"/>
                </a:solidFill>
              </a:rPr>
              <a:t>Better </a:t>
            </a:r>
            <a:r>
              <a:rPr lang="en-US" sz="2400" dirty="0" smtClean="0">
                <a:solidFill>
                  <a:srgbClr val="FF0000"/>
                </a:solidFill>
              </a:rPr>
              <a:t>Version </a:t>
            </a:r>
            <a:r>
              <a:rPr lang="en-US" sz="2400" dirty="0" smtClean="0"/>
              <a:t>based </a:t>
            </a:r>
            <a:r>
              <a:rPr lang="en-US" sz="2400" dirty="0"/>
              <a:t>on stakeholder feedback. </a:t>
            </a:r>
          </a:p>
          <a:p>
            <a:pPr fontAlgn="base">
              <a:lnSpc>
                <a:spcPct val="150000"/>
              </a:lnSpc>
            </a:pPr>
            <a:r>
              <a:rPr lang="en-US" sz="2400" dirty="0"/>
              <a:t> The overall process of app development can only be improved by analyzing the results from the software </a:t>
            </a:r>
            <a:r>
              <a:rPr lang="en-US" sz="2400" dirty="0" smtClean="0"/>
              <a:t>operations.</a:t>
            </a:r>
          </a:p>
          <a:p>
            <a:pPr fontAlgn="base">
              <a:lnSpc>
                <a:spcPct val="150000"/>
              </a:lnSpc>
            </a:pPr>
            <a:r>
              <a:rPr lang="en-US" sz="2400" dirty="0" smtClean="0"/>
              <a:t>Feedback </a:t>
            </a:r>
            <a:r>
              <a:rPr lang="en-US" sz="2400" dirty="0"/>
              <a:t>is nothing but information gathered from the client’s </a:t>
            </a:r>
            <a:r>
              <a:rPr lang="en-US" sz="2400" dirty="0" smtClean="0"/>
              <a:t>end.</a:t>
            </a:r>
          </a:p>
          <a:p>
            <a:pPr fontAlgn="base">
              <a:lnSpc>
                <a:spcPct val="150000"/>
              </a:lnSpc>
            </a:pPr>
            <a:r>
              <a:rPr lang="en-US" sz="2400" dirty="0" smtClean="0"/>
              <a:t>Here</a:t>
            </a:r>
            <a:r>
              <a:rPr lang="en-US" sz="2400" dirty="0"/>
              <a:t>, information is significant, as it carries all the data about the performance of the software and its related issues. It also contains suggestions given by end users of the software</a:t>
            </a:r>
            <a:r>
              <a:rPr lang="en-US" sz="2400" dirty="0" smtClean="0"/>
              <a:t>.</a:t>
            </a:r>
            <a:endParaRPr lang="en-US" sz="2400" dirty="0"/>
          </a:p>
        </p:txBody>
      </p:sp>
    </p:spTree>
    <p:extLst>
      <p:ext uri="{BB962C8B-B14F-4D97-AF65-F5344CB8AC3E}">
        <p14:creationId xmlns:p14="http://schemas.microsoft.com/office/powerpoint/2010/main" val="164586777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Continuous Feedback (Cont.)</a:t>
            </a:r>
            <a:endParaRPr lang="en-US" sz="4000" b="1" i="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27</a:t>
            </a:fld>
            <a:endParaRPr lang="en-US" dirty="0"/>
          </a:p>
        </p:txBody>
      </p:sp>
      <p:sp>
        <p:nvSpPr>
          <p:cNvPr id="3" name="Content Placeholder 2"/>
          <p:cNvSpPr>
            <a:spLocks noGrp="1"/>
          </p:cNvSpPr>
          <p:nvPr>
            <p:ph idx="1"/>
          </p:nvPr>
        </p:nvSpPr>
        <p:spPr>
          <a:xfrm>
            <a:off x="574765" y="1308052"/>
            <a:ext cx="11025050" cy="5064093"/>
          </a:xfrm>
        </p:spPr>
        <p:txBody>
          <a:bodyPr>
            <a:noAutofit/>
          </a:bodyPr>
          <a:lstStyle/>
          <a:p>
            <a:pPr algn="just">
              <a:lnSpc>
                <a:spcPct val="150000"/>
              </a:lnSpc>
            </a:pPr>
            <a:r>
              <a:rPr lang="en-US" sz="2200" dirty="0" smtClean="0"/>
              <a:t>During </a:t>
            </a:r>
            <a:r>
              <a:rPr lang="en-US" sz="2200" dirty="0"/>
              <a:t>this phase, customer behavior is evaluated regularly on each release to improve future releases and deployments</a:t>
            </a:r>
            <a:r>
              <a:rPr lang="en-US" sz="2200" dirty="0" smtClean="0"/>
              <a:t>.</a:t>
            </a:r>
          </a:p>
          <a:p>
            <a:pPr algn="just">
              <a:lnSpc>
                <a:spcPct val="150000"/>
              </a:lnSpc>
            </a:pPr>
            <a:r>
              <a:rPr lang="en-US" sz="2200" dirty="0"/>
              <a:t>Businesses can either opt for a structural or unstructured approach to gather </a:t>
            </a:r>
            <a:r>
              <a:rPr lang="en-US" sz="2200" dirty="0" smtClean="0"/>
              <a:t>feedback.</a:t>
            </a:r>
          </a:p>
          <a:p>
            <a:pPr lvl="1" algn="just">
              <a:lnSpc>
                <a:spcPct val="150000"/>
              </a:lnSpc>
            </a:pPr>
            <a:r>
              <a:rPr lang="en-US" sz="2000" dirty="0"/>
              <a:t>In the structural approach, feedback is collected through surveys and questionnaires.</a:t>
            </a:r>
          </a:p>
          <a:p>
            <a:pPr lvl="1" algn="just">
              <a:lnSpc>
                <a:spcPct val="150000"/>
              </a:lnSpc>
            </a:pPr>
            <a:r>
              <a:rPr lang="en-US" sz="2000" dirty="0"/>
              <a:t>In contrast, the feedback is received through </a:t>
            </a:r>
            <a:r>
              <a:rPr lang="en-US" sz="2000" b="1" i="1" dirty="0" smtClean="0">
                <a:solidFill>
                  <a:srgbClr val="FF0000"/>
                </a:solidFill>
              </a:rPr>
              <a:t>Social Media </a:t>
            </a:r>
            <a:r>
              <a:rPr lang="en-US" sz="2000" dirty="0" smtClean="0"/>
              <a:t>platforms </a:t>
            </a:r>
            <a:r>
              <a:rPr lang="en-US" sz="2000" dirty="0"/>
              <a:t>in an unstructured approach</a:t>
            </a:r>
            <a:r>
              <a:rPr lang="en-US" sz="2000" dirty="0" smtClean="0"/>
              <a:t>.</a:t>
            </a:r>
          </a:p>
        </p:txBody>
      </p:sp>
    </p:spTree>
    <p:extLst>
      <p:ext uri="{BB962C8B-B14F-4D97-AF65-F5344CB8AC3E}">
        <p14:creationId xmlns:p14="http://schemas.microsoft.com/office/powerpoint/2010/main" val="424017771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Continuous </a:t>
            </a:r>
            <a:r>
              <a:rPr lang="en-US" sz="4000" b="1" i="1" dirty="0"/>
              <a:t>Feedback Tools</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28</a:t>
            </a:fld>
            <a:endParaRPr lang="en-US" dirty="0"/>
          </a:p>
        </p:txBody>
      </p:sp>
      <p:sp>
        <p:nvSpPr>
          <p:cNvPr id="3" name="Content Placeholder 2"/>
          <p:cNvSpPr>
            <a:spLocks noGrp="1"/>
          </p:cNvSpPr>
          <p:nvPr>
            <p:ph idx="1"/>
          </p:nvPr>
        </p:nvSpPr>
        <p:spPr>
          <a:xfrm>
            <a:off x="574765" y="1308052"/>
            <a:ext cx="11025050" cy="5064093"/>
          </a:xfrm>
        </p:spPr>
        <p:txBody>
          <a:bodyPr>
            <a:normAutofit/>
          </a:bodyPr>
          <a:lstStyle/>
          <a:p>
            <a:pPr algn="just">
              <a:lnSpc>
                <a:spcPct val="150000"/>
              </a:lnSpc>
            </a:pPr>
            <a:r>
              <a:rPr lang="en-US" b="1" i="1" dirty="0" err="1" smtClean="0">
                <a:solidFill>
                  <a:srgbClr val="FF0000"/>
                </a:solidFill>
              </a:rPr>
              <a:t>Pendo</a:t>
            </a:r>
            <a:r>
              <a:rPr lang="en-US" b="1" i="1" dirty="0" smtClean="0">
                <a:solidFill>
                  <a:srgbClr val="FF0000"/>
                </a:solidFill>
              </a:rPr>
              <a:t> -</a:t>
            </a:r>
            <a:r>
              <a:rPr lang="en-US" dirty="0" smtClean="0"/>
              <a:t> </a:t>
            </a:r>
            <a:r>
              <a:rPr lang="en-US" dirty="0"/>
              <a:t>is a product analytics tool used to collect customer reviews and insights. </a:t>
            </a:r>
          </a:p>
          <a:p>
            <a:pPr algn="just">
              <a:lnSpc>
                <a:spcPct val="150000"/>
              </a:lnSpc>
            </a:pPr>
            <a:r>
              <a:rPr lang="en-US" b="1" i="1" dirty="0" err="1">
                <a:solidFill>
                  <a:srgbClr val="FF0000"/>
                </a:solidFill>
              </a:rPr>
              <a:t>Qentelli’s</a:t>
            </a:r>
            <a:r>
              <a:rPr lang="en-US" b="1" i="1" dirty="0">
                <a:solidFill>
                  <a:srgbClr val="FF0000"/>
                </a:solidFill>
              </a:rPr>
              <a:t> </a:t>
            </a:r>
            <a:r>
              <a:rPr lang="en-US" b="1" i="1" dirty="0" smtClean="0">
                <a:solidFill>
                  <a:srgbClr val="FF0000"/>
                </a:solidFill>
              </a:rPr>
              <a:t>TED - </a:t>
            </a:r>
            <a:r>
              <a:rPr lang="en-US" dirty="0"/>
              <a:t>is another tool used primarily for tracking the entire DevOps process to gather actionable insights for bugs and flaws.</a:t>
            </a:r>
          </a:p>
        </p:txBody>
      </p:sp>
    </p:spTree>
    <p:extLst>
      <p:ext uri="{BB962C8B-B14F-4D97-AF65-F5344CB8AC3E}">
        <p14:creationId xmlns:p14="http://schemas.microsoft.com/office/powerpoint/2010/main" val="319204936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87194"/>
            <a:ext cx="10515600" cy="1325563"/>
          </a:xfrm>
        </p:spPr>
        <p:txBody>
          <a:bodyPr>
            <a:normAutofit/>
          </a:bodyPr>
          <a:lstStyle/>
          <a:p>
            <a:pPr algn="ctr"/>
            <a:r>
              <a:rPr lang="en-US" sz="8000" b="1" i="1" dirty="0"/>
              <a:t>Thanks</a:t>
            </a:r>
            <a:endParaRPr lang="en-US" sz="3600" b="1" i="1" dirty="0"/>
          </a:p>
        </p:txBody>
      </p:sp>
      <p:sp>
        <p:nvSpPr>
          <p:cNvPr id="3" name="Content Placeholder 2"/>
          <p:cNvSpPr>
            <a:spLocks noGrp="1"/>
          </p:cNvSpPr>
          <p:nvPr>
            <p:ph idx="1"/>
          </p:nvPr>
        </p:nvSpPr>
        <p:spPr>
          <a:xfrm>
            <a:off x="838200" y="2005012"/>
            <a:ext cx="10515600" cy="4351338"/>
          </a:xfrm>
        </p:spPr>
        <p:txBody>
          <a:bodyPr>
            <a:noAutofit/>
          </a:bodyPr>
          <a:lstStyle/>
          <a:p>
            <a:pPr marL="0" indent="0" algn="ctr">
              <a:buNone/>
            </a:pPr>
            <a:r>
              <a:rPr lang="en-US" sz="23900" dirty="0" smtClean="0"/>
              <a:t>…?</a:t>
            </a:r>
            <a:endParaRPr lang="en-US" sz="23900" dirty="0"/>
          </a:p>
        </p:txBody>
      </p:sp>
      <p:sp>
        <p:nvSpPr>
          <p:cNvPr id="4" name="Slide Number Placeholder 3"/>
          <p:cNvSpPr>
            <a:spLocks noGrp="1"/>
          </p:cNvSpPr>
          <p:nvPr>
            <p:ph type="sldNum" sz="quarter" idx="12"/>
          </p:nvPr>
        </p:nvSpPr>
        <p:spPr/>
        <p:txBody>
          <a:bodyPr/>
          <a:lstStyle/>
          <a:p>
            <a:fld id="{18925C6B-C1FE-4297-863E-68E85899D6B2}" type="slidenum">
              <a:rPr lang="en-US" smtClean="0"/>
              <a:t>29</a:t>
            </a:fld>
            <a:endParaRPr lang="en-US" dirty="0"/>
          </a:p>
        </p:txBody>
      </p:sp>
    </p:spTree>
    <p:extLst>
      <p:ext uri="{BB962C8B-B14F-4D97-AF65-F5344CB8AC3E}">
        <p14:creationId xmlns:p14="http://schemas.microsoft.com/office/powerpoint/2010/main" val="170208858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12042</TotalTime>
  <Words>1132</Words>
  <Application>Microsoft Office PowerPoint</Application>
  <PresentationFormat>Widescreen</PresentationFormat>
  <Paragraphs>164</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Calibri Light</vt:lpstr>
      <vt:lpstr>Courier New</vt:lpstr>
      <vt:lpstr>Wingdings</vt:lpstr>
      <vt:lpstr>Office Theme</vt:lpstr>
      <vt:lpstr>Lecture-16</vt:lpstr>
      <vt:lpstr>Contents</vt:lpstr>
      <vt:lpstr>DevOps Continuous Monitoring </vt:lpstr>
      <vt:lpstr>DevOps Monitoring Types</vt:lpstr>
      <vt:lpstr>Infrastructure Monitoring</vt:lpstr>
      <vt:lpstr>Application Monitoring</vt:lpstr>
      <vt:lpstr>Network Monitoring</vt:lpstr>
      <vt:lpstr>Continuous Monitoring Steps</vt:lpstr>
      <vt:lpstr>DevOps Monitoring Tools</vt:lpstr>
      <vt:lpstr>Nagios</vt:lpstr>
      <vt:lpstr>Nagios (Cont.)</vt:lpstr>
      <vt:lpstr>Nagios Need for Continuous Monitoring</vt:lpstr>
      <vt:lpstr>Nagios Variants</vt:lpstr>
      <vt:lpstr>Nagios Features</vt:lpstr>
      <vt:lpstr>Nagios Features (Cont.)</vt:lpstr>
      <vt:lpstr>Architecture of Nagios</vt:lpstr>
      <vt:lpstr>Architecture of Nagios (Cont.)</vt:lpstr>
      <vt:lpstr>Nagios Architecture Components</vt:lpstr>
      <vt:lpstr>Nagios Architecture Components (Cont.)</vt:lpstr>
      <vt:lpstr>Nagios Architecture Components (Cont.)</vt:lpstr>
      <vt:lpstr>Types Nagios Checking</vt:lpstr>
      <vt:lpstr>Types of Nagios Plugins</vt:lpstr>
      <vt:lpstr>Nagios Plugins</vt:lpstr>
      <vt:lpstr>Nagios Plugins (Cont.)</vt:lpstr>
      <vt:lpstr>Continuous Feedback Phase</vt:lpstr>
      <vt:lpstr>Continuous Feedback</vt:lpstr>
      <vt:lpstr>Continuous Feedback (Cont.)</vt:lpstr>
      <vt:lpstr>Continuous Feedback Tools</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Muhammad Hanif</dc:creator>
  <cp:lastModifiedBy>Sharif Hussain</cp:lastModifiedBy>
  <cp:revision>1855</cp:revision>
  <dcterms:created xsi:type="dcterms:W3CDTF">2017-02-21T04:58:17Z</dcterms:created>
  <dcterms:modified xsi:type="dcterms:W3CDTF">2022-06-16T15:21:02Z</dcterms:modified>
</cp:coreProperties>
</file>