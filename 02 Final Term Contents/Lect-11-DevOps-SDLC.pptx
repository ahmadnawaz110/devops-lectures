
<file path=[Content_Types].xml><?xml version="1.0" encoding="utf-8"?>
<Types xmlns="http://schemas.openxmlformats.org/package/2006/content-types">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314" r:id="rId2"/>
    <p:sldId id="384" r:id="rId3"/>
    <p:sldId id="383" r:id="rId4"/>
    <p:sldId id="420" r:id="rId5"/>
    <p:sldId id="385" r:id="rId6"/>
    <p:sldId id="429" r:id="rId7"/>
    <p:sldId id="430" r:id="rId8"/>
    <p:sldId id="431" r:id="rId9"/>
    <p:sldId id="432" r:id="rId10"/>
    <p:sldId id="434" r:id="rId11"/>
    <p:sldId id="433" r:id="rId12"/>
    <p:sldId id="428" r:id="rId13"/>
    <p:sldId id="386" r:id="rId14"/>
    <p:sldId id="421" r:id="rId15"/>
    <p:sldId id="425" r:id="rId16"/>
    <p:sldId id="422" r:id="rId17"/>
    <p:sldId id="426" r:id="rId18"/>
    <p:sldId id="427" r:id="rId19"/>
    <p:sldId id="435" r:id="rId20"/>
    <p:sldId id="436" r:id="rId21"/>
    <p:sldId id="437" r:id="rId22"/>
    <p:sldId id="438" r:id="rId23"/>
    <p:sldId id="439" r:id="rId24"/>
    <p:sldId id="440" r:id="rId25"/>
    <p:sldId id="441" r:id="rId26"/>
    <p:sldId id="304"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94" autoAdjust="0"/>
    <p:restoredTop sz="94660"/>
  </p:normalViewPr>
  <p:slideViewPr>
    <p:cSldViewPr snapToGrid="0">
      <p:cViewPr varScale="1">
        <p:scale>
          <a:sx n="73" d="100"/>
          <a:sy n="73" d="100"/>
        </p:scale>
        <p:origin x="60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38C529-43AD-492C-BD00-7663F000CDBF}" type="datetimeFigureOut">
              <a:rPr lang="en-US" smtClean="0"/>
              <a:t>5/15/2022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45CC1E-72FA-4E57-BA7F-FC1221F7791F}" type="slidenum">
              <a:rPr lang="en-US" smtClean="0"/>
              <a:t>‹#›</a:t>
            </a:fld>
            <a:endParaRPr lang="en-US"/>
          </a:p>
        </p:txBody>
      </p:sp>
    </p:spTree>
    <p:extLst>
      <p:ext uri="{BB962C8B-B14F-4D97-AF65-F5344CB8AC3E}">
        <p14:creationId xmlns:p14="http://schemas.microsoft.com/office/powerpoint/2010/main" val="41255501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283ABFB-0481-4CC5-ABF9-2C4CE9D12409}" type="datetime1">
              <a:rPr lang="en-US" smtClean="0"/>
              <a:t>5/15/2022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512215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101DBEC-91FA-447A-8AB9-A8DB16DAAB17}" type="datetime1">
              <a:rPr lang="en-US" smtClean="0"/>
              <a:t>5/15/2022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527744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48C943D-2555-4A57-B8EB-75C7F91B71C6}" type="datetime1">
              <a:rPr lang="en-US" smtClean="0"/>
              <a:t>5/15/2022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26075219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5BB08C4-1FBA-4FE5-8D28-8C27B7466E79}" type="datetime1">
              <a:rPr lang="en-US" smtClean="0"/>
              <a:t>5/15/2022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3207750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CE682A9-2A64-4335-8BB6-EA1B5FE288A5}" type="datetime1">
              <a:rPr lang="en-US" smtClean="0"/>
              <a:t>5/15/2022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21294661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E8C89B2-6DED-445A-9AF5-74F690F84E78}" type="datetime1">
              <a:rPr lang="en-US" smtClean="0"/>
              <a:t>5/15/2022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2548225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BE7014-808B-4A34-9722-060A0C8B943A}" type="datetime1">
              <a:rPr lang="en-US" smtClean="0"/>
              <a:t>5/15/2022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4276681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D158D58-A862-414E-9423-46150B41CA14}" type="datetime1">
              <a:rPr lang="en-US" smtClean="0"/>
              <a:t>5/15/2022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2781109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8776D00-FA0D-4D29-83D4-DD5A6DDF16E7}" type="datetime1">
              <a:rPr lang="en-US" smtClean="0"/>
              <a:t>5/15/2022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1517779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57A5918-257A-4095-BDEB-73BDDEB4A29E}" type="datetime1">
              <a:rPr lang="en-US" smtClean="0"/>
              <a:t>5/15/2022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28037710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C710D01-121F-4BE4-9A0D-9D74E07BA582}" type="datetime1">
              <a:rPr lang="en-US" smtClean="0"/>
              <a:t>5/15/2022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30767865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3012F9-413F-48FB-8539-50B5C9E7D155}" type="datetime1">
              <a:rPr lang="en-US" smtClean="0"/>
              <a:t>5/15/2022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925C6B-C1FE-4297-863E-68E85899D6B2}" type="slidenum">
              <a:rPr lang="en-US" smtClean="0"/>
              <a:t>‹#›</a:t>
            </a:fld>
            <a:endParaRPr lang="en-US"/>
          </a:p>
        </p:txBody>
      </p:sp>
    </p:spTree>
    <p:extLst>
      <p:ext uri="{BB962C8B-B14F-4D97-AF65-F5344CB8AC3E}">
        <p14:creationId xmlns:p14="http://schemas.microsoft.com/office/powerpoint/2010/main" val="9690210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20388" y="2913651"/>
            <a:ext cx="9144000" cy="962706"/>
          </a:xfrm>
        </p:spPr>
        <p:txBody>
          <a:bodyPr>
            <a:normAutofit/>
          </a:bodyPr>
          <a:lstStyle/>
          <a:p>
            <a:r>
              <a:rPr lang="en-US" dirty="0" smtClean="0"/>
              <a:t>Lecture-11</a:t>
            </a:r>
            <a:endParaRPr lang="en-US" dirty="0"/>
          </a:p>
        </p:txBody>
      </p:sp>
      <p:sp>
        <p:nvSpPr>
          <p:cNvPr id="3" name="Subtitle 2"/>
          <p:cNvSpPr>
            <a:spLocks noGrp="1"/>
          </p:cNvSpPr>
          <p:nvPr>
            <p:ph type="subTitle" idx="1"/>
          </p:nvPr>
        </p:nvSpPr>
        <p:spPr>
          <a:xfrm>
            <a:off x="1876697" y="3876357"/>
            <a:ext cx="9144000" cy="1655762"/>
          </a:xfrm>
        </p:spPr>
        <p:txBody>
          <a:bodyPr/>
          <a:lstStyle/>
          <a:p>
            <a:r>
              <a:rPr lang="en-US" i="1" dirty="0" smtClean="0"/>
              <a:t> </a:t>
            </a:r>
          </a:p>
        </p:txBody>
      </p:sp>
      <p:sp>
        <p:nvSpPr>
          <p:cNvPr id="4" name="Slide Number Placeholder 3"/>
          <p:cNvSpPr>
            <a:spLocks noGrp="1"/>
          </p:cNvSpPr>
          <p:nvPr>
            <p:ph type="sldNum" sz="quarter" idx="12"/>
          </p:nvPr>
        </p:nvSpPr>
        <p:spPr>
          <a:xfrm>
            <a:off x="8987971" y="6153150"/>
            <a:ext cx="2743200" cy="365125"/>
          </a:xfrm>
        </p:spPr>
        <p:txBody>
          <a:bodyPr/>
          <a:lstStyle/>
          <a:p>
            <a:fld id="{18925C6B-C1FE-4297-863E-68E85899D6B2}" type="slidenum">
              <a:rPr lang="en-US" sz="1600" smtClean="0"/>
              <a:t>1</a:t>
            </a:fld>
            <a:endParaRPr lang="en-US" sz="1600" dirty="0"/>
          </a:p>
        </p:txBody>
      </p:sp>
    </p:spTree>
    <p:extLst>
      <p:ext uri="{BB962C8B-B14F-4D97-AF65-F5344CB8AC3E}">
        <p14:creationId xmlns:p14="http://schemas.microsoft.com/office/powerpoint/2010/main" val="243458336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314" y="403907"/>
            <a:ext cx="10787742" cy="719500"/>
          </a:xfrm>
        </p:spPr>
        <p:txBody>
          <a:bodyPr>
            <a:normAutofit/>
          </a:bodyPr>
          <a:lstStyle/>
          <a:p>
            <a:pPr algn="l"/>
            <a:r>
              <a:rPr lang="en-US" sz="4000" b="1" i="1" dirty="0" smtClean="0"/>
              <a:t>Contents</a:t>
            </a:r>
            <a:endParaRPr lang="en-US" sz="4000" b="1" i="1" dirty="0"/>
          </a:p>
        </p:txBody>
      </p:sp>
      <p:sp>
        <p:nvSpPr>
          <p:cNvPr id="3" name="Subtitle 2"/>
          <p:cNvSpPr>
            <a:spLocks noGrp="1"/>
          </p:cNvSpPr>
          <p:nvPr>
            <p:ph type="subTitle" idx="1"/>
          </p:nvPr>
        </p:nvSpPr>
        <p:spPr>
          <a:xfrm>
            <a:off x="827314" y="1435415"/>
            <a:ext cx="10787741" cy="5017317"/>
          </a:xfrm>
        </p:spPr>
        <p:txBody>
          <a:bodyPr>
            <a:noAutofit/>
          </a:bodyPr>
          <a:lstStyle/>
          <a:p>
            <a:pPr marL="342900" indent="-342900" algn="l">
              <a:lnSpc>
                <a:spcPct val="150000"/>
              </a:lnSpc>
              <a:buFont typeface="Arial" panose="020B0604020202020204" pitchFamily="34" charset="0"/>
              <a:buChar char="•"/>
            </a:pPr>
            <a:r>
              <a:rPr lang="en-US" dirty="0" smtClean="0"/>
              <a:t>Software </a:t>
            </a:r>
            <a:r>
              <a:rPr lang="en-US" dirty="0"/>
              <a:t>Development Life </a:t>
            </a:r>
            <a:r>
              <a:rPr lang="en-US" dirty="0" smtClean="0"/>
              <a:t>Cycle</a:t>
            </a:r>
          </a:p>
          <a:p>
            <a:pPr marL="342900" indent="-342900" algn="l">
              <a:lnSpc>
                <a:spcPct val="150000"/>
              </a:lnSpc>
              <a:buFont typeface="Arial" panose="020B0604020202020204" pitchFamily="34" charset="0"/>
              <a:buChar char="•"/>
            </a:pPr>
            <a:r>
              <a:rPr lang="en-US" dirty="0" smtClean="0"/>
              <a:t>SDLC Goals</a:t>
            </a:r>
          </a:p>
          <a:p>
            <a:pPr marL="342900" indent="-342900" algn="l">
              <a:lnSpc>
                <a:spcPct val="150000"/>
              </a:lnSpc>
              <a:buFont typeface="Arial" panose="020B0604020202020204" pitchFamily="34" charset="0"/>
              <a:buChar char="•"/>
            </a:pPr>
            <a:r>
              <a:rPr lang="en-US" dirty="0" smtClean="0"/>
              <a:t>SDLC Models</a:t>
            </a:r>
          </a:p>
          <a:p>
            <a:pPr marL="342900" indent="-342900" algn="l">
              <a:lnSpc>
                <a:spcPct val="150000"/>
              </a:lnSpc>
              <a:buFont typeface="Arial" panose="020B0604020202020204" pitchFamily="34" charset="0"/>
              <a:buChar char="•"/>
            </a:pPr>
            <a:r>
              <a:rPr lang="en-US" dirty="0"/>
              <a:t>DevOps </a:t>
            </a:r>
            <a:r>
              <a:rPr lang="en-US" dirty="0" smtClean="0"/>
              <a:t>SDLC</a:t>
            </a:r>
            <a:endParaRPr lang="en-US" dirty="0"/>
          </a:p>
        </p:txBody>
      </p:sp>
      <p:sp>
        <p:nvSpPr>
          <p:cNvPr id="4" name="Slide Number Placeholder 3"/>
          <p:cNvSpPr>
            <a:spLocks noGrp="1"/>
          </p:cNvSpPr>
          <p:nvPr>
            <p:ph type="sldNum" sz="quarter" idx="12"/>
          </p:nvPr>
        </p:nvSpPr>
        <p:spPr>
          <a:xfrm>
            <a:off x="8871855" y="6087608"/>
            <a:ext cx="2743200" cy="365125"/>
          </a:xfrm>
        </p:spPr>
        <p:txBody>
          <a:bodyPr/>
          <a:lstStyle/>
          <a:p>
            <a:fld id="{18925C6B-C1FE-4297-863E-68E85899D6B2}" type="slidenum">
              <a:rPr lang="en-US" smtClean="0"/>
              <a:t>2</a:t>
            </a:fld>
            <a:endParaRPr lang="en-US" dirty="0"/>
          </a:p>
        </p:txBody>
      </p:sp>
    </p:spTree>
    <p:extLst>
      <p:ext uri="{BB962C8B-B14F-4D97-AF65-F5344CB8AC3E}">
        <p14:creationId xmlns:p14="http://schemas.microsoft.com/office/powerpoint/2010/main" val="234371601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Software </a:t>
            </a:r>
            <a:r>
              <a:rPr lang="en-US" sz="4000" b="1" i="1" dirty="0"/>
              <a:t>Development Life Cycle</a:t>
            </a:r>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buFont typeface="Wingdings" panose="05000000000000000000" pitchFamily="2" charset="2"/>
              <a:buChar char="Ø"/>
            </a:pPr>
            <a:r>
              <a:rPr lang="en-US" sz="2400" dirty="0"/>
              <a:t>The Software Development Life Cycle (SDLC) is a structured process that enables the production of high-quality, low-cost software, in the shortest possible production time.</a:t>
            </a:r>
          </a:p>
          <a:p>
            <a:pPr>
              <a:lnSpc>
                <a:spcPct val="150000"/>
              </a:lnSpc>
              <a:buFont typeface="Wingdings" panose="05000000000000000000" pitchFamily="2" charset="2"/>
              <a:buChar char="Ø"/>
            </a:pPr>
            <a:r>
              <a:rPr lang="en-US" sz="2400" dirty="0"/>
              <a:t>The SDLC process involves several distinct stages, including planning, analysis, design, building, testing, deployment and maintenance.</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3</a:t>
            </a:fld>
            <a:endParaRPr lang="en-US" dirty="0"/>
          </a:p>
        </p:txBody>
      </p:sp>
    </p:spTree>
    <p:extLst>
      <p:ext uri="{BB962C8B-B14F-4D97-AF65-F5344CB8AC3E}">
        <p14:creationId xmlns:p14="http://schemas.microsoft.com/office/powerpoint/2010/main" val="143658432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Software </a:t>
            </a:r>
            <a:r>
              <a:rPr lang="en-US" sz="4000" b="1" i="1" dirty="0"/>
              <a:t>Development Life </a:t>
            </a:r>
            <a:r>
              <a:rPr lang="en-US" sz="4000" b="1" i="1" dirty="0" smtClean="0"/>
              <a:t>Cycle (Cont.)</a:t>
            </a:r>
            <a:endParaRPr lang="en-US" sz="4000" b="1" i="1" dirty="0"/>
          </a:p>
        </p:txBody>
      </p:sp>
      <p:sp>
        <p:nvSpPr>
          <p:cNvPr id="3" name="Content Placeholder 2"/>
          <p:cNvSpPr>
            <a:spLocks noGrp="1"/>
          </p:cNvSpPr>
          <p:nvPr>
            <p:ph idx="1"/>
          </p:nvPr>
        </p:nvSpPr>
        <p:spPr>
          <a:xfrm>
            <a:off x="574766" y="1425620"/>
            <a:ext cx="11025049" cy="5103282"/>
          </a:xfrm>
        </p:spPr>
        <p:txBody>
          <a:bodyPr>
            <a:normAutofit/>
          </a:bodyPr>
          <a:lstStyle/>
          <a:p>
            <a:pPr marL="0" indent="0">
              <a:lnSpc>
                <a:spcPct val="150000"/>
              </a:lnSpc>
              <a:buNone/>
            </a:pPr>
            <a:r>
              <a:rPr lang="en-US" dirty="0"/>
              <a:t> </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4</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29654" y="1425620"/>
            <a:ext cx="6705404" cy="5129088"/>
          </a:xfrm>
          <a:prstGeom prst="rect">
            <a:avLst/>
          </a:prstGeom>
          <a:ln>
            <a:solidFill>
              <a:schemeClr val="bg1">
                <a:lumMod val="95000"/>
              </a:schemeClr>
            </a:solidFill>
          </a:ln>
        </p:spPr>
      </p:pic>
    </p:spTree>
    <p:extLst>
      <p:ext uri="{BB962C8B-B14F-4D97-AF65-F5344CB8AC3E}">
        <p14:creationId xmlns:p14="http://schemas.microsoft.com/office/powerpoint/2010/main" val="231584485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Planning and Requirement Analysis </a:t>
            </a:r>
            <a:endParaRPr lang="en-US" sz="4000" b="1" i="1" dirty="0"/>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buFont typeface="Wingdings" panose="05000000000000000000" pitchFamily="2" charset="2"/>
              <a:buChar char="Ø"/>
            </a:pPr>
            <a:r>
              <a:rPr lang="en-US" sz="2400" b="1" i="1" dirty="0" smtClean="0"/>
              <a:t>“</a:t>
            </a:r>
            <a:r>
              <a:rPr lang="en-US" sz="2400" b="1" i="1" dirty="0"/>
              <a:t>What do we want</a:t>
            </a:r>
            <a:r>
              <a:rPr lang="en-US" sz="2400" b="1" i="1" dirty="0" smtClean="0"/>
              <a:t>?”</a:t>
            </a:r>
          </a:p>
          <a:p>
            <a:pPr>
              <a:lnSpc>
                <a:spcPct val="150000"/>
              </a:lnSpc>
              <a:buFont typeface="Wingdings" panose="05000000000000000000" pitchFamily="2" charset="2"/>
              <a:buChar char="Ø"/>
            </a:pPr>
            <a:r>
              <a:rPr lang="en-US" sz="2400" dirty="0" smtClean="0"/>
              <a:t>In </a:t>
            </a:r>
            <a:r>
              <a:rPr lang="en-US" sz="2400" dirty="0"/>
              <a:t>this stage of the SDLC, the team determines the cost and resources required for implementing the analyzed requirements</a:t>
            </a:r>
            <a:r>
              <a:rPr lang="en-US" sz="2400" dirty="0" smtClean="0"/>
              <a:t>.</a:t>
            </a:r>
          </a:p>
          <a:p>
            <a:pPr>
              <a:lnSpc>
                <a:spcPct val="150000"/>
              </a:lnSpc>
              <a:buFont typeface="Wingdings" panose="05000000000000000000" pitchFamily="2" charset="2"/>
              <a:buChar char="Ø"/>
            </a:pPr>
            <a:r>
              <a:rPr lang="en-US" sz="2400" dirty="0"/>
              <a:t>Requirement analysis is the most important and fundamental stage in SDLC.</a:t>
            </a:r>
          </a:p>
          <a:p>
            <a:pPr>
              <a:lnSpc>
                <a:spcPct val="150000"/>
              </a:lnSpc>
              <a:buFont typeface="Wingdings" panose="05000000000000000000" pitchFamily="2" charset="2"/>
              <a:buChar char="Ø"/>
            </a:pPr>
            <a:r>
              <a:rPr lang="en-US" sz="2400" dirty="0"/>
              <a:t>It is performed by the senior members of the team with inputs from the customer, the sales department, market surveys and domain experts in the industry</a:t>
            </a:r>
            <a:r>
              <a:rPr lang="en-US" sz="2400" dirty="0" smtClean="0"/>
              <a:t>.</a:t>
            </a:r>
            <a:endParaRPr lang="en-US" sz="2400" dirty="0"/>
          </a:p>
          <a:p>
            <a:pPr>
              <a:lnSpc>
                <a:spcPct val="150000"/>
              </a:lnSpc>
              <a:buFont typeface="Wingdings" panose="05000000000000000000" pitchFamily="2" charset="2"/>
              <a:buChar char="Ø"/>
            </a:pPr>
            <a:endParaRPr lang="en-US" sz="24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5</a:t>
            </a:fld>
            <a:endParaRPr lang="en-US" dirty="0"/>
          </a:p>
        </p:txBody>
      </p:sp>
    </p:spTree>
    <p:extLst>
      <p:ext uri="{BB962C8B-B14F-4D97-AF65-F5344CB8AC3E}">
        <p14:creationId xmlns:p14="http://schemas.microsoft.com/office/powerpoint/2010/main" val="21082719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Defining </a:t>
            </a:r>
            <a:r>
              <a:rPr lang="en-US" sz="4000" b="1" i="1" dirty="0"/>
              <a:t>Requirements</a:t>
            </a:r>
            <a:endParaRPr lang="en-US" sz="4000" b="1" i="1" dirty="0"/>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buFont typeface="Wingdings" panose="05000000000000000000" pitchFamily="2" charset="2"/>
              <a:buChar char="Ø"/>
            </a:pPr>
            <a:r>
              <a:rPr lang="en-US" sz="2400" dirty="0" smtClean="0"/>
              <a:t>Once </a:t>
            </a:r>
            <a:r>
              <a:rPr lang="en-US" sz="2400" dirty="0"/>
              <a:t>the requirement analysis is done the next step is to clearly define and document the product requirements and get them approved from the customer or the market </a:t>
            </a:r>
            <a:r>
              <a:rPr lang="en-US" sz="2400" dirty="0" smtClean="0"/>
              <a:t>analysts.</a:t>
            </a:r>
          </a:p>
          <a:p>
            <a:pPr>
              <a:lnSpc>
                <a:spcPct val="150000"/>
              </a:lnSpc>
              <a:buFont typeface="Wingdings" panose="05000000000000000000" pitchFamily="2" charset="2"/>
              <a:buChar char="Ø"/>
            </a:pPr>
            <a:r>
              <a:rPr lang="en-US" sz="2400" dirty="0" smtClean="0"/>
              <a:t>This </a:t>
            </a:r>
            <a:r>
              <a:rPr lang="en-US" sz="2400" dirty="0"/>
              <a:t>is done through an </a:t>
            </a:r>
            <a:r>
              <a:rPr lang="en-US" sz="2400" b="1" i="1" dirty="0"/>
              <a:t>SRS (Software Requirement Specification)</a:t>
            </a:r>
            <a:r>
              <a:rPr lang="en-US" sz="2400" dirty="0"/>
              <a:t> document which consists of all the product requirements to be designed and developed during the project life cycle.</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6</a:t>
            </a:fld>
            <a:endParaRPr lang="en-US" dirty="0"/>
          </a:p>
        </p:txBody>
      </p:sp>
    </p:spTree>
    <p:extLst>
      <p:ext uri="{BB962C8B-B14F-4D97-AF65-F5344CB8AC3E}">
        <p14:creationId xmlns:p14="http://schemas.microsoft.com/office/powerpoint/2010/main" val="354502993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Designing</a:t>
            </a:r>
            <a:endParaRPr lang="en-US" sz="4000" b="1" i="1" dirty="0"/>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buFont typeface="Wingdings" panose="05000000000000000000" pitchFamily="2" charset="2"/>
              <a:buChar char="Ø"/>
            </a:pPr>
            <a:r>
              <a:rPr lang="en-US" sz="2400" b="1" i="1" dirty="0"/>
              <a:t>“How will we get what we want</a:t>
            </a:r>
            <a:r>
              <a:rPr lang="en-US" sz="2400" b="1" i="1" dirty="0" smtClean="0"/>
              <a:t>?”</a:t>
            </a:r>
          </a:p>
          <a:p>
            <a:pPr>
              <a:lnSpc>
                <a:spcPct val="150000"/>
              </a:lnSpc>
              <a:buFont typeface="Wingdings" panose="05000000000000000000" pitchFamily="2" charset="2"/>
              <a:buChar char="Ø"/>
            </a:pPr>
            <a:r>
              <a:rPr lang="en-US" sz="2400" dirty="0" smtClean="0"/>
              <a:t>This </a:t>
            </a:r>
            <a:r>
              <a:rPr lang="en-US" sz="2400" dirty="0"/>
              <a:t>phase of the SDLC starts by turning the software specifications into a design plan called the Design Specification</a:t>
            </a:r>
            <a:r>
              <a:rPr lang="en-US" sz="2400" dirty="0" smtClean="0"/>
              <a:t>.</a:t>
            </a:r>
          </a:p>
          <a:p>
            <a:pPr>
              <a:lnSpc>
                <a:spcPct val="150000"/>
              </a:lnSpc>
              <a:buFont typeface="Wingdings" panose="05000000000000000000" pitchFamily="2" charset="2"/>
              <a:buChar char="Ø"/>
            </a:pPr>
            <a:r>
              <a:rPr lang="en-US" sz="2400" dirty="0" smtClean="0"/>
              <a:t>A </a:t>
            </a:r>
            <a:r>
              <a:rPr lang="en-US" sz="2400" dirty="0"/>
              <a:t>design approach clearly defines all the architectural modules of the product along with its communication and data flow representation with the external and third party modules (if any). The internal design of all the modules of the proposed architecture should be clearly defined with the minutest of the details in </a:t>
            </a:r>
            <a:r>
              <a:rPr lang="en-US" sz="2400" i="1" dirty="0" smtClean="0"/>
              <a:t>DDS (</a:t>
            </a:r>
            <a:r>
              <a:rPr lang="en-US" i="1" dirty="0"/>
              <a:t>Design Document </a:t>
            </a:r>
            <a:r>
              <a:rPr lang="en-US" i="1" dirty="0" smtClean="0"/>
              <a:t>Specification)</a:t>
            </a:r>
            <a:r>
              <a:rPr lang="en-US" sz="2400" i="1" dirty="0" smtClean="0"/>
              <a:t>.</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7</a:t>
            </a:fld>
            <a:endParaRPr lang="en-US" dirty="0"/>
          </a:p>
        </p:txBody>
      </p:sp>
    </p:spTree>
    <p:extLst>
      <p:ext uri="{BB962C8B-B14F-4D97-AF65-F5344CB8AC3E}">
        <p14:creationId xmlns:p14="http://schemas.microsoft.com/office/powerpoint/2010/main" val="359957562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Building </a:t>
            </a:r>
            <a:r>
              <a:rPr lang="en-US" sz="4000" b="1" i="1" dirty="0"/>
              <a:t>or Developing the </a:t>
            </a:r>
            <a:r>
              <a:rPr lang="en-US" sz="4000" b="1" i="1" dirty="0"/>
              <a:t>Product</a:t>
            </a:r>
            <a:endParaRPr lang="en-US" sz="4000" b="1" i="1" dirty="0"/>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buFont typeface="Wingdings" panose="05000000000000000000" pitchFamily="2" charset="2"/>
              <a:buChar char="Ø"/>
            </a:pPr>
            <a:r>
              <a:rPr lang="en-US" sz="2400" b="1" i="1" dirty="0" smtClean="0"/>
              <a:t>“</a:t>
            </a:r>
            <a:r>
              <a:rPr lang="en-US" sz="2400" b="1" i="1" dirty="0"/>
              <a:t>Let’s create what we want</a:t>
            </a:r>
            <a:r>
              <a:rPr lang="en-US" sz="2400" b="1" i="1" dirty="0" smtClean="0"/>
              <a:t>.”</a:t>
            </a:r>
          </a:p>
          <a:p>
            <a:pPr>
              <a:lnSpc>
                <a:spcPct val="150000"/>
              </a:lnSpc>
              <a:buFont typeface="Wingdings" panose="05000000000000000000" pitchFamily="2" charset="2"/>
              <a:buChar char="Ø"/>
            </a:pPr>
            <a:r>
              <a:rPr lang="en-US" sz="2400" dirty="0" smtClean="0"/>
              <a:t>At </a:t>
            </a:r>
            <a:r>
              <a:rPr lang="en-US" sz="2400" dirty="0"/>
              <a:t>this stage, the actual development starts. </a:t>
            </a:r>
            <a:r>
              <a:rPr lang="en-US" sz="2400" dirty="0"/>
              <a:t>It’s important that every developer sticks to the agreed blueprint. Also, make sure you have proper guidelines in place about the code style and practices.</a:t>
            </a:r>
          </a:p>
          <a:p>
            <a:pPr>
              <a:lnSpc>
                <a:spcPct val="150000"/>
              </a:lnSpc>
              <a:buFont typeface="Wingdings" panose="05000000000000000000" pitchFamily="2" charset="2"/>
              <a:buChar char="Ø"/>
            </a:pPr>
            <a:endParaRPr lang="en-US" sz="2400" i="1"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8</a:t>
            </a:fld>
            <a:endParaRPr lang="en-US" dirty="0"/>
          </a:p>
        </p:txBody>
      </p:sp>
    </p:spTree>
    <p:extLst>
      <p:ext uri="{BB962C8B-B14F-4D97-AF65-F5344CB8AC3E}">
        <p14:creationId xmlns:p14="http://schemas.microsoft.com/office/powerpoint/2010/main" val="120601748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Testing </a:t>
            </a:r>
            <a:r>
              <a:rPr lang="en-US" sz="4000" b="1" i="1" dirty="0"/>
              <a:t>the </a:t>
            </a:r>
            <a:r>
              <a:rPr lang="en-US" sz="4000" b="1" i="1" dirty="0"/>
              <a:t>Product</a:t>
            </a:r>
            <a:endParaRPr lang="en-US" sz="4000" b="1" i="1" dirty="0"/>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buFont typeface="Wingdings" panose="05000000000000000000" pitchFamily="2" charset="2"/>
              <a:buChar char="Ø"/>
            </a:pPr>
            <a:r>
              <a:rPr lang="en-US" sz="2400" b="1" i="1" dirty="0" smtClean="0"/>
              <a:t>“</a:t>
            </a:r>
            <a:r>
              <a:rPr lang="en-US" sz="2400" b="1" i="1" dirty="0"/>
              <a:t>Did we get what we want</a:t>
            </a:r>
            <a:r>
              <a:rPr lang="en-US" sz="2400" b="1" i="1" dirty="0" smtClean="0"/>
              <a:t>?”</a:t>
            </a:r>
          </a:p>
          <a:p>
            <a:pPr>
              <a:lnSpc>
                <a:spcPct val="150000"/>
              </a:lnSpc>
              <a:buFont typeface="Wingdings" panose="05000000000000000000" pitchFamily="2" charset="2"/>
              <a:buChar char="Ø"/>
            </a:pPr>
            <a:r>
              <a:rPr lang="en-US" sz="2400" dirty="0" smtClean="0"/>
              <a:t>In </a:t>
            </a:r>
            <a:r>
              <a:rPr lang="en-US" sz="2400" dirty="0"/>
              <a:t>this stage, we test for defects and deficiencies. We fix those issues until the product meets the original </a:t>
            </a:r>
            <a:r>
              <a:rPr lang="en-US" sz="2400" dirty="0" smtClean="0"/>
              <a:t>specifications.</a:t>
            </a:r>
          </a:p>
          <a:p>
            <a:pPr>
              <a:lnSpc>
                <a:spcPct val="150000"/>
              </a:lnSpc>
              <a:buFont typeface="Wingdings" panose="05000000000000000000" pitchFamily="2" charset="2"/>
              <a:buChar char="Ø"/>
            </a:pPr>
            <a:r>
              <a:rPr lang="en-US" sz="2400" dirty="0" smtClean="0"/>
              <a:t>In </a:t>
            </a:r>
            <a:r>
              <a:rPr lang="en-US" sz="2400" dirty="0"/>
              <a:t>short, we want to verify if the code meets the defined requirements.</a:t>
            </a:r>
          </a:p>
          <a:p>
            <a:pPr>
              <a:lnSpc>
                <a:spcPct val="150000"/>
              </a:lnSpc>
              <a:buFont typeface="Wingdings" panose="05000000000000000000" pitchFamily="2" charset="2"/>
              <a:buChar char="Ø"/>
            </a:pPr>
            <a:endParaRPr lang="en-US" sz="2400" dirty="0"/>
          </a:p>
          <a:p>
            <a:pPr>
              <a:lnSpc>
                <a:spcPct val="150000"/>
              </a:lnSpc>
              <a:buFont typeface="Wingdings" panose="05000000000000000000" pitchFamily="2" charset="2"/>
              <a:buChar char="Ø"/>
            </a:pPr>
            <a:endParaRPr lang="en-US" sz="2400" i="1"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9</a:t>
            </a:fld>
            <a:endParaRPr lang="en-US" dirty="0"/>
          </a:p>
        </p:txBody>
      </p:sp>
    </p:spTree>
    <p:extLst>
      <p:ext uri="{BB962C8B-B14F-4D97-AF65-F5344CB8AC3E}">
        <p14:creationId xmlns:p14="http://schemas.microsoft.com/office/powerpoint/2010/main" val="120717824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dirty="0"/>
              <a:t>Installation </a:t>
            </a:r>
            <a:r>
              <a:rPr lang="en-US" sz="4000" b="1" dirty="0" smtClean="0"/>
              <a:t>/ </a:t>
            </a:r>
            <a:r>
              <a:rPr lang="en-US" sz="4000" b="1" i="1" dirty="0" smtClean="0"/>
              <a:t>Deployment in </a:t>
            </a:r>
            <a:r>
              <a:rPr lang="en-US" sz="4000" b="1" i="1" dirty="0"/>
              <a:t>the </a:t>
            </a:r>
            <a:r>
              <a:rPr lang="en-US" sz="4000" b="1" i="1" dirty="0" smtClean="0"/>
              <a:t>Market</a:t>
            </a:r>
            <a:endParaRPr lang="en-US" sz="4000" b="1" i="1" dirty="0"/>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buFont typeface="Wingdings" panose="05000000000000000000" pitchFamily="2" charset="2"/>
              <a:buChar char="Ø"/>
            </a:pPr>
            <a:r>
              <a:rPr lang="en-US" sz="2400" b="1" i="1" dirty="0" smtClean="0"/>
              <a:t>“</a:t>
            </a:r>
            <a:r>
              <a:rPr lang="en-US" sz="2400" b="1" i="1" dirty="0"/>
              <a:t>Let’s start using what we got</a:t>
            </a:r>
            <a:r>
              <a:rPr lang="en-US" sz="2400" b="1" i="1" dirty="0"/>
              <a:t>.”</a:t>
            </a:r>
          </a:p>
          <a:p>
            <a:pPr>
              <a:lnSpc>
                <a:spcPct val="150000"/>
              </a:lnSpc>
              <a:buFont typeface="Wingdings" panose="05000000000000000000" pitchFamily="2" charset="2"/>
              <a:buChar char="Ø"/>
            </a:pPr>
            <a:r>
              <a:rPr lang="en-US" sz="2400" dirty="0"/>
              <a:t>At </a:t>
            </a:r>
            <a:r>
              <a:rPr lang="en-US" sz="2400" dirty="0"/>
              <a:t>this stage, the goal is to deploy the software to the production environment so users can start using the product. However, many organizations choose to move the product through different deployment environments such as a testing or staging environment</a:t>
            </a:r>
            <a:r>
              <a:rPr lang="en-US" sz="2400" dirty="0"/>
              <a:t>.</a:t>
            </a:r>
            <a:endParaRPr lang="en-US" sz="2400" dirty="0"/>
          </a:p>
          <a:p>
            <a:pPr>
              <a:lnSpc>
                <a:spcPct val="150000"/>
              </a:lnSpc>
              <a:buFont typeface="Wingdings" panose="05000000000000000000" pitchFamily="2" charset="2"/>
              <a:buChar char="Ø"/>
            </a:pPr>
            <a:endParaRPr lang="en-US" sz="2400" dirty="0"/>
          </a:p>
          <a:p>
            <a:pPr>
              <a:lnSpc>
                <a:spcPct val="150000"/>
              </a:lnSpc>
              <a:buFont typeface="Wingdings" panose="05000000000000000000" pitchFamily="2" charset="2"/>
              <a:buChar char="Ø"/>
            </a:pPr>
            <a:endParaRPr lang="en-US" sz="2400" i="1"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10</a:t>
            </a:fld>
            <a:endParaRPr lang="en-US" dirty="0"/>
          </a:p>
        </p:txBody>
      </p:sp>
    </p:spTree>
    <p:extLst>
      <p:ext uri="{BB962C8B-B14F-4D97-AF65-F5344CB8AC3E}">
        <p14:creationId xmlns:p14="http://schemas.microsoft.com/office/powerpoint/2010/main" val="350065176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Application Maintenance</a:t>
            </a:r>
            <a:endParaRPr lang="en-US" sz="4000" b="1" i="1" dirty="0"/>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buFont typeface="Wingdings" panose="05000000000000000000" pitchFamily="2" charset="2"/>
              <a:buChar char="Ø"/>
            </a:pPr>
            <a:r>
              <a:rPr lang="en-US" sz="2400" b="1" i="1" dirty="0" smtClean="0"/>
              <a:t>“</a:t>
            </a:r>
            <a:r>
              <a:rPr lang="en-US" sz="2400" b="1" i="1" dirty="0"/>
              <a:t>Let’s </a:t>
            </a:r>
            <a:r>
              <a:rPr lang="en-US" sz="2400" b="1" i="1" dirty="0"/>
              <a:t>get this closer to what we want.” </a:t>
            </a:r>
          </a:p>
          <a:p>
            <a:pPr>
              <a:lnSpc>
                <a:spcPct val="150000"/>
              </a:lnSpc>
              <a:buFont typeface="Wingdings" panose="05000000000000000000" pitchFamily="2" charset="2"/>
              <a:buChar char="Ø"/>
            </a:pPr>
            <a:r>
              <a:rPr lang="en-US" sz="2400" dirty="0"/>
              <a:t>Once </a:t>
            </a:r>
            <a:r>
              <a:rPr lang="en-US" sz="2400" dirty="0"/>
              <a:t>the system is deployed, and customers start using the developed system, following 3 activities </a:t>
            </a:r>
            <a:r>
              <a:rPr lang="en-US" sz="2400" dirty="0"/>
              <a:t>occur:</a:t>
            </a:r>
          </a:p>
          <a:p>
            <a:pPr lvl="1">
              <a:lnSpc>
                <a:spcPct val="150000"/>
              </a:lnSpc>
              <a:buFont typeface="Wingdings" panose="05000000000000000000" pitchFamily="2" charset="2"/>
              <a:buChar char="Ø"/>
            </a:pPr>
            <a:r>
              <a:rPr lang="en-US" sz="2200" dirty="0"/>
              <a:t>Bug </a:t>
            </a:r>
            <a:r>
              <a:rPr lang="en-US" sz="2200" dirty="0"/>
              <a:t>fixing – bugs are reported because of some scenarios which are not tested at </a:t>
            </a:r>
            <a:r>
              <a:rPr lang="en-US" sz="2200" dirty="0"/>
              <a:t>all</a:t>
            </a:r>
          </a:p>
          <a:p>
            <a:pPr lvl="1">
              <a:lnSpc>
                <a:spcPct val="150000"/>
              </a:lnSpc>
              <a:buFont typeface="Wingdings" panose="05000000000000000000" pitchFamily="2" charset="2"/>
              <a:buChar char="Ø"/>
            </a:pPr>
            <a:r>
              <a:rPr lang="en-US" sz="2200" dirty="0"/>
              <a:t>Upgrade </a:t>
            </a:r>
            <a:r>
              <a:rPr lang="en-US" sz="2200" dirty="0"/>
              <a:t>– Upgrading the application to the newer versions of the </a:t>
            </a:r>
            <a:r>
              <a:rPr lang="en-US" sz="2200" dirty="0"/>
              <a:t>Software</a:t>
            </a:r>
          </a:p>
          <a:p>
            <a:pPr lvl="1">
              <a:lnSpc>
                <a:spcPct val="150000"/>
              </a:lnSpc>
              <a:buFont typeface="Wingdings" panose="05000000000000000000" pitchFamily="2" charset="2"/>
              <a:buChar char="Ø"/>
            </a:pPr>
            <a:r>
              <a:rPr lang="en-US" sz="2200" dirty="0"/>
              <a:t>Enhancement </a:t>
            </a:r>
            <a:r>
              <a:rPr lang="en-US" sz="2200" dirty="0"/>
              <a:t>– Adding some new features into the existing </a:t>
            </a:r>
            <a:r>
              <a:rPr lang="en-US" sz="2200" dirty="0" smtClean="0"/>
              <a:t>software</a:t>
            </a:r>
            <a:endParaRPr lang="en-US" sz="2400" dirty="0"/>
          </a:p>
          <a:p>
            <a:pPr>
              <a:lnSpc>
                <a:spcPct val="150000"/>
              </a:lnSpc>
              <a:buFont typeface="Wingdings" panose="05000000000000000000" pitchFamily="2" charset="2"/>
              <a:buChar char="Ø"/>
            </a:pPr>
            <a:endParaRPr lang="en-US" sz="2400" i="1"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11</a:t>
            </a:fld>
            <a:endParaRPr lang="en-US" dirty="0"/>
          </a:p>
        </p:txBody>
      </p:sp>
    </p:spTree>
    <p:extLst>
      <p:ext uri="{BB962C8B-B14F-4D97-AF65-F5344CB8AC3E}">
        <p14:creationId xmlns:p14="http://schemas.microsoft.com/office/powerpoint/2010/main" val="339382817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SDLC Goals  </a:t>
            </a:r>
            <a:endParaRPr lang="en-US" sz="4000" b="1" i="1" dirty="0"/>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buFont typeface="Wingdings" panose="05000000000000000000" pitchFamily="2" charset="2"/>
              <a:buChar char="Ø"/>
            </a:pPr>
            <a:r>
              <a:rPr lang="en-US" sz="2400" dirty="0" smtClean="0"/>
              <a:t>The </a:t>
            </a:r>
            <a:r>
              <a:rPr lang="en-US" sz="2400" dirty="0"/>
              <a:t>goal of the SDLC is to produce superior software that meets and exceeds all customer expectations and </a:t>
            </a:r>
            <a:r>
              <a:rPr lang="en-US" sz="2400" dirty="0" smtClean="0"/>
              <a:t>demands.</a:t>
            </a:r>
          </a:p>
          <a:p>
            <a:pPr>
              <a:lnSpc>
                <a:spcPct val="150000"/>
              </a:lnSpc>
              <a:buFont typeface="Wingdings" panose="05000000000000000000" pitchFamily="2" charset="2"/>
              <a:buChar char="Ø"/>
            </a:pPr>
            <a:r>
              <a:rPr lang="en-US" sz="2400" dirty="0" smtClean="0"/>
              <a:t>The </a:t>
            </a:r>
            <a:r>
              <a:rPr lang="en-US" sz="2400" dirty="0"/>
              <a:t>SDLC defines and outlines a detailed plan with stages, or phases, that each encompass their own process and deliverables</a:t>
            </a:r>
            <a:r>
              <a:rPr lang="en-US" sz="2400" dirty="0" smtClean="0"/>
              <a:t>.</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12</a:t>
            </a:fld>
            <a:endParaRPr lang="en-US" dirty="0"/>
          </a:p>
        </p:txBody>
      </p:sp>
    </p:spTree>
    <p:extLst>
      <p:ext uri="{BB962C8B-B14F-4D97-AF65-F5344CB8AC3E}">
        <p14:creationId xmlns:p14="http://schemas.microsoft.com/office/powerpoint/2010/main" val="106889882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Software </a:t>
            </a:r>
            <a:r>
              <a:rPr lang="en-US" sz="4000" b="1" i="1" dirty="0"/>
              <a:t>Development Life Cycle </a:t>
            </a:r>
            <a:r>
              <a:rPr lang="en-US" sz="4000" b="1" i="1" dirty="0" smtClean="0"/>
              <a:t>Models</a:t>
            </a:r>
            <a:endParaRPr lang="en-US" sz="4000" b="1" i="1" dirty="0"/>
          </a:p>
        </p:txBody>
      </p:sp>
      <p:sp>
        <p:nvSpPr>
          <p:cNvPr id="3" name="Content Placeholder 2"/>
          <p:cNvSpPr>
            <a:spLocks noGrp="1"/>
          </p:cNvSpPr>
          <p:nvPr>
            <p:ph idx="1"/>
          </p:nvPr>
        </p:nvSpPr>
        <p:spPr>
          <a:xfrm>
            <a:off x="574766" y="1425620"/>
            <a:ext cx="11025049" cy="5103282"/>
          </a:xfrm>
        </p:spPr>
        <p:txBody>
          <a:bodyPr>
            <a:normAutofit/>
          </a:bodyPr>
          <a:lstStyle/>
          <a:p>
            <a:pPr marL="971550" lvl="1" indent="-514350">
              <a:lnSpc>
                <a:spcPct val="150000"/>
              </a:lnSpc>
              <a:buFont typeface="+mj-lt"/>
              <a:buAutoNum type="arabicPeriod"/>
            </a:pPr>
            <a:r>
              <a:rPr lang="en-US" b="1" i="1" dirty="0">
                <a:latin typeface="Calibri (Body)"/>
              </a:rPr>
              <a:t>Agile</a:t>
            </a:r>
          </a:p>
          <a:p>
            <a:pPr marL="971550" lvl="1" indent="-514350">
              <a:lnSpc>
                <a:spcPct val="150000"/>
              </a:lnSpc>
              <a:buFont typeface="+mj-lt"/>
              <a:buAutoNum type="arabicPeriod"/>
            </a:pPr>
            <a:r>
              <a:rPr lang="en-US" b="1" i="1" dirty="0">
                <a:latin typeface="Calibri (Body)"/>
              </a:rPr>
              <a:t>Waterfall</a:t>
            </a:r>
          </a:p>
          <a:p>
            <a:pPr marL="971550" lvl="1" indent="-514350">
              <a:lnSpc>
                <a:spcPct val="150000"/>
              </a:lnSpc>
              <a:buFont typeface="+mj-lt"/>
              <a:buAutoNum type="arabicPeriod"/>
            </a:pPr>
            <a:r>
              <a:rPr lang="en-US" b="1" i="1" dirty="0">
                <a:latin typeface="Calibri (Body)"/>
              </a:rPr>
              <a:t>DevOps</a:t>
            </a:r>
          </a:p>
          <a:p>
            <a:pPr marL="971550" lvl="1" indent="-514350">
              <a:lnSpc>
                <a:spcPct val="150000"/>
              </a:lnSpc>
              <a:buFont typeface="+mj-lt"/>
              <a:buAutoNum type="arabicPeriod"/>
            </a:pPr>
            <a:r>
              <a:rPr lang="en-US" dirty="0" smtClean="0">
                <a:latin typeface="Calibri (Body)"/>
              </a:rPr>
              <a:t>And so on…</a:t>
            </a:r>
            <a:endParaRPr lang="en-US" dirty="0">
              <a:latin typeface="Calibri (Body)"/>
            </a:endParaRPr>
          </a:p>
          <a:p>
            <a:pPr>
              <a:lnSpc>
                <a:spcPct val="150000"/>
              </a:lnSpc>
            </a:pPr>
            <a:r>
              <a:rPr lang="en-US" dirty="0" smtClean="0">
                <a:latin typeface="Calibri (Body)"/>
              </a:rPr>
              <a:t>Each </a:t>
            </a:r>
            <a:r>
              <a:rPr lang="en-US" dirty="0">
                <a:latin typeface="Calibri (Body)"/>
              </a:rPr>
              <a:t>of these approaches varies in some ways from the others, but all have a common purpose: to help teams deliver high-quality software as quickly and cost-effectively as possible.</a:t>
            </a:r>
            <a:endParaRPr lang="en-US" dirty="0" smtClean="0">
              <a:latin typeface="Calibri (Body)"/>
            </a:endParaRP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13</a:t>
            </a:fld>
            <a:endParaRPr lang="en-US" dirty="0"/>
          </a:p>
        </p:txBody>
      </p:sp>
    </p:spTree>
    <p:extLst>
      <p:ext uri="{BB962C8B-B14F-4D97-AF65-F5344CB8AC3E}">
        <p14:creationId xmlns:p14="http://schemas.microsoft.com/office/powerpoint/2010/main" val="323149076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a:t>Software Development Life Cycle </a:t>
            </a:r>
            <a:r>
              <a:rPr lang="en-US" sz="4000" b="1" i="1" dirty="0" smtClean="0"/>
              <a:t>Models (Cont.)</a:t>
            </a:r>
            <a:endParaRPr lang="en-US" sz="4000" b="1" i="1" dirty="0"/>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pPr>
            <a:r>
              <a:rPr lang="en-US" dirty="0" smtClean="0"/>
              <a:t>The</a:t>
            </a:r>
            <a:r>
              <a:rPr lang="en-US" dirty="0"/>
              <a:t> </a:t>
            </a:r>
            <a:r>
              <a:rPr lang="en-US" b="1" i="1" dirty="0"/>
              <a:t>waterfall or sequential model</a:t>
            </a:r>
            <a:r>
              <a:rPr lang="en-US" dirty="0"/>
              <a:t> was a pioneering approach in the Software Development Life Cycle (SDLC</a:t>
            </a:r>
            <a:r>
              <a:rPr lang="en-US" dirty="0" smtClean="0"/>
              <a:t>).</a:t>
            </a:r>
          </a:p>
          <a:p>
            <a:pPr>
              <a:lnSpc>
                <a:spcPct val="150000"/>
              </a:lnSpc>
            </a:pPr>
            <a:r>
              <a:rPr lang="en-US" dirty="0" smtClean="0"/>
              <a:t>With </a:t>
            </a:r>
            <a:r>
              <a:rPr lang="en-US" dirty="0"/>
              <a:t>this model, software development becomes a linear process where different phases and tasks are positioned successively. </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14</a:t>
            </a:fld>
            <a:endParaRPr lang="en-US" dirty="0"/>
          </a:p>
        </p:txBody>
      </p:sp>
    </p:spTree>
    <p:extLst>
      <p:ext uri="{BB962C8B-B14F-4D97-AF65-F5344CB8AC3E}">
        <p14:creationId xmlns:p14="http://schemas.microsoft.com/office/powerpoint/2010/main" val="27389251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a:t>Software Development Life Cycle Models (Cont.)</a:t>
            </a:r>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pPr>
            <a:r>
              <a:rPr lang="en-US" b="1" i="1" dirty="0" smtClean="0"/>
              <a:t>Agile</a:t>
            </a:r>
            <a:r>
              <a:rPr lang="en-US" dirty="0" smtClean="0"/>
              <a:t> SDLC model is a combination of iterative and incremental process models with focus on process adaptability and customer satisfaction by rapid delivery of working software product.</a:t>
            </a:r>
          </a:p>
          <a:p>
            <a:pPr>
              <a:lnSpc>
                <a:spcPct val="150000"/>
              </a:lnSpc>
            </a:pPr>
            <a:r>
              <a:rPr lang="en-US" dirty="0" smtClean="0"/>
              <a:t>Agile </a:t>
            </a:r>
            <a:r>
              <a:rPr lang="en-US" dirty="0"/>
              <a:t>Methods break the product into small incremental </a:t>
            </a:r>
            <a:r>
              <a:rPr lang="en-US" dirty="0" smtClean="0"/>
              <a:t>builds.</a:t>
            </a:r>
          </a:p>
          <a:p>
            <a:pPr>
              <a:lnSpc>
                <a:spcPct val="150000"/>
              </a:lnSpc>
            </a:pPr>
            <a:r>
              <a:rPr lang="en-US" dirty="0" smtClean="0"/>
              <a:t>These </a:t>
            </a:r>
            <a:r>
              <a:rPr lang="en-US" dirty="0"/>
              <a:t>builds are provided in </a:t>
            </a:r>
            <a:r>
              <a:rPr lang="en-US" dirty="0" smtClean="0"/>
              <a:t>iterations.</a:t>
            </a:r>
          </a:p>
          <a:p>
            <a:pPr>
              <a:lnSpc>
                <a:spcPct val="150000"/>
              </a:lnSpc>
            </a:pPr>
            <a:r>
              <a:rPr lang="en-US" dirty="0" smtClean="0"/>
              <a:t>Each </a:t>
            </a:r>
            <a:r>
              <a:rPr lang="en-US" dirty="0"/>
              <a:t>iteration typically lasts from about one to three </a:t>
            </a:r>
            <a:r>
              <a:rPr lang="en-US" dirty="0" smtClean="0"/>
              <a:t>weeks.</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15</a:t>
            </a:fld>
            <a:endParaRPr lang="en-US" dirty="0"/>
          </a:p>
        </p:txBody>
      </p:sp>
    </p:spTree>
    <p:extLst>
      <p:ext uri="{BB962C8B-B14F-4D97-AF65-F5344CB8AC3E}">
        <p14:creationId xmlns:p14="http://schemas.microsoft.com/office/powerpoint/2010/main" val="329549159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a:t>Software Development Life Cycle Models (Cont.)</a:t>
            </a:r>
          </a:p>
        </p:txBody>
      </p:sp>
      <p:sp>
        <p:nvSpPr>
          <p:cNvPr id="3" name="Content Placeholder 2"/>
          <p:cNvSpPr>
            <a:spLocks noGrp="1"/>
          </p:cNvSpPr>
          <p:nvPr>
            <p:ph idx="1"/>
          </p:nvPr>
        </p:nvSpPr>
        <p:spPr>
          <a:xfrm>
            <a:off x="574766" y="1425620"/>
            <a:ext cx="11025049" cy="5103282"/>
          </a:xfrm>
        </p:spPr>
        <p:txBody>
          <a:bodyPr>
            <a:normAutofit fontScale="77500" lnSpcReduction="20000"/>
          </a:bodyPr>
          <a:lstStyle/>
          <a:p>
            <a:pPr>
              <a:lnSpc>
                <a:spcPct val="150000"/>
              </a:lnSpc>
            </a:pPr>
            <a:r>
              <a:rPr lang="en-US" dirty="0"/>
              <a:t>The Agile involves continuous iteration of development and testing in the </a:t>
            </a:r>
            <a:r>
              <a:rPr lang="en-US" b="1" i="1" dirty="0"/>
              <a:t>SDLC</a:t>
            </a:r>
            <a:r>
              <a:rPr lang="en-US" dirty="0"/>
              <a:t> process. </a:t>
            </a:r>
            <a:endParaRPr lang="en-US" dirty="0" smtClean="0"/>
          </a:p>
          <a:p>
            <a:pPr>
              <a:lnSpc>
                <a:spcPct val="150000"/>
              </a:lnSpc>
            </a:pPr>
            <a:r>
              <a:rPr lang="en-US" dirty="0"/>
              <a:t>It can be implemented in many ways, such as </a:t>
            </a:r>
            <a:r>
              <a:rPr lang="en-US" b="1" dirty="0"/>
              <a:t>Kanban, XP, Scrum</a:t>
            </a:r>
            <a:r>
              <a:rPr lang="en-US" dirty="0"/>
              <a:t>, etc.</a:t>
            </a:r>
          </a:p>
          <a:p>
            <a:pPr>
              <a:lnSpc>
                <a:spcPct val="150000"/>
              </a:lnSpc>
            </a:pPr>
            <a:r>
              <a:rPr lang="en-US" dirty="0"/>
              <a:t>Every iteration involves cross functional teams working simultaneously on various areas like </a:t>
            </a:r>
            <a:r>
              <a:rPr lang="en-US" dirty="0" smtClean="0"/>
              <a:t>−</a:t>
            </a:r>
          </a:p>
          <a:p>
            <a:pPr lvl="1">
              <a:lnSpc>
                <a:spcPct val="150000"/>
              </a:lnSpc>
            </a:pPr>
            <a:r>
              <a:rPr lang="en-US" dirty="0"/>
              <a:t>Planning</a:t>
            </a:r>
          </a:p>
          <a:p>
            <a:pPr lvl="1">
              <a:lnSpc>
                <a:spcPct val="150000"/>
              </a:lnSpc>
            </a:pPr>
            <a:r>
              <a:rPr lang="en-US" dirty="0"/>
              <a:t>Requirements Analysis</a:t>
            </a:r>
          </a:p>
          <a:p>
            <a:pPr lvl="1">
              <a:lnSpc>
                <a:spcPct val="150000"/>
              </a:lnSpc>
            </a:pPr>
            <a:r>
              <a:rPr lang="en-US" dirty="0"/>
              <a:t>Design</a:t>
            </a:r>
          </a:p>
          <a:p>
            <a:pPr lvl="1">
              <a:lnSpc>
                <a:spcPct val="150000"/>
              </a:lnSpc>
            </a:pPr>
            <a:r>
              <a:rPr lang="en-US" dirty="0"/>
              <a:t>Coding</a:t>
            </a:r>
          </a:p>
          <a:p>
            <a:pPr lvl="1">
              <a:lnSpc>
                <a:spcPct val="150000"/>
              </a:lnSpc>
            </a:pPr>
            <a:r>
              <a:rPr lang="en-US" dirty="0"/>
              <a:t>Unit Testing and</a:t>
            </a:r>
          </a:p>
          <a:p>
            <a:pPr lvl="1">
              <a:lnSpc>
                <a:spcPct val="150000"/>
              </a:lnSpc>
            </a:pPr>
            <a:r>
              <a:rPr lang="en-US" dirty="0"/>
              <a:t>Acceptance </a:t>
            </a:r>
            <a:r>
              <a:rPr lang="en-US" dirty="0" smtClean="0"/>
              <a:t>Testing</a:t>
            </a:r>
            <a:endParaRPr lang="en-US" dirty="0">
              <a:latin typeface="Calibri (Body)"/>
            </a:endParaRP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16</a:t>
            </a:fld>
            <a:endParaRPr lang="en-US" dirty="0"/>
          </a:p>
        </p:txBody>
      </p:sp>
    </p:spTree>
    <p:extLst>
      <p:ext uri="{BB962C8B-B14F-4D97-AF65-F5344CB8AC3E}">
        <p14:creationId xmlns:p14="http://schemas.microsoft.com/office/powerpoint/2010/main" val="328192665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DevOps SDLC</a:t>
            </a:r>
            <a:endParaRPr lang="en-US" sz="4000" b="1" i="1" dirty="0"/>
          </a:p>
        </p:txBody>
      </p:sp>
      <p:sp>
        <p:nvSpPr>
          <p:cNvPr id="3" name="Content Placeholder 2"/>
          <p:cNvSpPr>
            <a:spLocks noGrp="1"/>
          </p:cNvSpPr>
          <p:nvPr>
            <p:ph idx="1"/>
          </p:nvPr>
        </p:nvSpPr>
        <p:spPr>
          <a:xfrm>
            <a:off x="574766" y="1425620"/>
            <a:ext cx="11025049" cy="5103282"/>
          </a:xfrm>
        </p:spPr>
        <p:txBody>
          <a:bodyPr>
            <a:normAutofit fontScale="92500" lnSpcReduction="10000"/>
          </a:bodyPr>
          <a:lstStyle/>
          <a:p>
            <a:pPr>
              <a:lnSpc>
                <a:spcPct val="150000"/>
              </a:lnSpc>
            </a:pPr>
            <a:r>
              <a:rPr lang="en-US" dirty="0"/>
              <a:t>DevOps consists of multiple phases that collectively become the DevOps </a:t>
            </a:r>
            <a:r>
              <a:rPr lang="en-US" dirty="0" smtClean="0"/>
              <a:t>lifecycle.</a:t>
            </a:r>
          </a:p>
          <a:p>
            <a:pPr marL="914400" lvl="1" indent="-457200">
              <a:lnSpc>
                <a:spcPct val="150000"/>
              </a:lnSpc>
              <a:buFont typeface="+mj-lt"/>
              <a:buAutoNum type="arabicPeriod"/>
            </a:pPr>
            <a:r>
              <a:rPr lang="en-US" dirty="0" smtClean="0"/>
              <a:t>Continuous Development</a:t>
            </a:r>
          </a:p>
          <a:p>
            <a:pPr marL="914400" lvl="1" indent="-457200">
              <a:lnSpc>
                <a:spcPct val="150000"/>
              </a:lnSpc>
              <a:buFont typeface="+mj-lt"/>
              <a:buAutoNum type="arabicPeriod"/>
            </a:pPr>
            <a:r>
              <a:rPr lang="en-US" dirty="0" smtClean="0"/>
              <a:t>Continuous Integration</a:t>
            </a:r>
          </a:p>
          <a:p>
            <a:pPr marL="914400" lvl="1" indent="-457200">
              <a:lnSpc>
                <a:spcPct val="150000"/>
              </a:lnSpc>
              <a:buFont typeface="+mj-lt"/>
              <a:buAutoNum type="arabicPeriod"/>
            </a:pPr>
            <a:r>
              <a:rPr lang="en-US" dirty="0" smtClean="0"/>
              <a:t>Continuous </a:t>
            </a:r>
            <a:r>
              <a:rPr lang="en-US" dirty="0"/>
              <a:t>Testing </a:t>
            </a:r>
            <a:endParaRPr lang="en-US" dirty="0" smtClean="0"/>
          </a:p>
          <a:p>
            <a:pPr marL="914400" lvl="1" indent="-457200">
              <a:lnSpc>
                <a:spcPct val="150000"/>
              </a:lnSpc>
              <a:buFont typeface="+mj-lt"/>
              <a:buAutoNum type="arabicPeriod"/>
            </a:pPr>
            <a:r>
              <a:rPr lang="en-US" dirty="0" smtClean="0"/>
              <a:t>Continuous Feedback</a:t>
            </a:r>
          </a:p>
          <a:p>
            <a:pPr marL="914400" lvl="1" indent="-457200">
              <a:lnSpc>
                <a:spcPct val="150000"/>
              </a:lnSpc>
              <a:buFont typeface="+mj-lt"/>
              <a:buAutoNum type="arabicPeriod"/>
            </a:pPr>
            <a:r>
              <a:rPr lang="en-US" dirty="0" smtClean="0"/>
              <a:t>Continuous Monitoring</a:t>
            </a:r>
          </a:p>
          <a:p>
            <a:pPr marL="914400" lvl="1" indent="-457200">
              <a:lnSpc>
                <a:spcPct val="150000"/>
              </a:lnSpc>
              <a:buFont typeface="+mj-lt"/>
              <a:buAutoNum type="arabicPeriod"/>
            </a:pPr>
            <a:r>
              <a:rPr lang="en-US" dirty="0" smtClean="0"/>
              <a:t>Continuous Deployment</a:t>
            </a:r>
          </a:p>
          <a:p>
            <a:pPr marL="914400" lvl="1" indent="-457200">
              <a:lnSpc>
                <a:spcPct val="150000"/>
              </a:lnSpc>
              <a:buFont typeface="+mj-lt"/>
              <a:buAutoNum type="arabicPeriod"/>
            </a:pPr>
            <a:r>
              <a:rPr lang="en-US" dirty="0" smtClean="0"/>
              <a:t>Continuous </a:t>
            </a:r>
            <a:r>
              <a:rPr lang="en-US" dirty="0"/>
              <a:t>Operations</a:t>
            </a:r>
          </a:p>
          <a:p>
            <a:pPr>
              <a:lnSpc>
                <a:spcPct val="150000"/>
              </a:lnSpc>
            </a:pPr>
            <a:endParaRPr lang="en-US" dirty="0" smtClean="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17</a:t>
            </a:fld>
            <a:endParaRPr lang="en-US" dirty="0"/>
          </a:p>
        </p:txBody>
      </p:sp>
    </p:spTree>
    <p:extLst>
      <p:ext uri="{BB962C8B-B14F-4D97-AF65-F5344CB8AC3E}">
        <p14:creationId xmlns:p14="http://schemas.microsoft.com/office/powerpoint/2010/main" val="158771724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DevOps Lifecycle (Cont.)</a:t>
            </a:r>
            <a:endParaRPr lang="en-US" sz="4000" b="1" i="1" dirty="0"/>
          </a:p>
        </p:txBody>
      </p:sp>
      <p:sp>
        <p:nvSpPr>
          <p:cNvPr id="3" name="Content Placeholder 2"/>
          <p:cNvSpPr>
            <a:spLocks noGrp="1"/>
          </p:cNvSpPr>
          <p:nvPr>
            <p:ph idx="1"/>
          </p:nvPr>
        </p:nvSpPr>
        <p:spPr>
          <a:xfrm>
            <a:off x="574766" y="1425620"/>
            <a:ext cx="11025049" cy="5103282"/>
          </a:xfrm>
        </p:spPr>
        <p:txBody>
          <a:bodyPr>
            <a:normAutofit/>
          </a:bodyPr>
          <a:lstStyle/>
          <a:p>
            <a:pPr marL="0" indent="0">
              <a:lnSpc>
                <a:spcPct val="150000"/>
              </a:lnSpc>
              <a:buNone/>
            </a:pPr>
            <a:r>
              <a:rPr lang="en-US" dirty="0"/>
              <a:t> </a:t>
            </a:r>
            <a:r>
              <a:rPr lang="en-US" dirty="0" smtClean="0"/>
              <a:t> </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18</a:t>
            </a:fld>
            <a:endParaRPr lang="en-US" dirty="0"/>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0766" y="1171119"/>
            <a:ext cx="6256494" cy="5612283"/>
          </a:xfrm>
          <a:prstGeom prst="rect">
            <a:avLst/>
          </a:prstGeom>
          <a:ln w="3175">
            <a:noFill/>
          </a:ln>
        </p:spPr>
      </p:pic>
    </p:spTree>
    <p:extLst>
      <p:ext uri="{BB962C8B-B14F-4D97-AF65-F5344CB8AC3E}">
        <p14:creationId xmlns:p14="http://schemas.microsoft.com/office/powerpoint/2010/main" val="110663450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DevOps Lifecycle (Cont.)</a:t>
            </a:r>
            <a:endParaRPr lang="en-US" sz="4000" b="1" i="1" dirty="0"/>
          </a:p>
        </p:txBody>
      </p:sp>
      <p:sp>
        <p:nvSpPr>
          <p:cNvPr id="3" name="Content Placeholder 2"/>
          <p:cNvSpPr>
            <a:spLocks noGrp="1"/>
          </p:cNvSpPr>
          <p:nvPr>
            <p:ph idx="1"/>
          </p:nvPr>
        </p:nvSpPr>
        <p:spPr>
          <a:xfrm>
            <a:off x="574766" y="1268863"/>
            <a:ext cx="11025049" cy="5311651"/>
          </a:xfrm>
        </p:spPr>
        <p:txBody>
          <a:bodyPr>
            <a:normAutofit/>
          </a:bodyPr>
          <a:lstStyle/>
          <a:p>
            <a:pPr>
              <a:buFont typeface="Wingdings" panose="05000000000000000000" pitchFamily="2" charset="2"/>
              <a:buChar char="Ø"/>
            </a:pPr>
            <a:r>
              <a:rPr lang="en-US" sz="3200" b="1" i="1" dirty="0">
                <a:latin typeface="+mj-lt"/>
                <a:ea typeface="+mj-ea"/>
                <a:cs typeface="+mj-cs"/>
              </a:rPr>
              <a:t>Continuous Development</a:t>
            </a:r>
          </a:p>
          <a:p>
            <a:pPr lvl="1" algn="just">
              <a:lnSpc>
                <a:spcPct val="150000"/>
              </a:lnSpc>
            </a:pPr>
            <a:r>
              <a:rPr lang="en-US" sz="2000" dirty="0"/>
              <a:t>This phase involves the planning and coding of the software. The vision of the project is decided during the planning phase. And the developers begin developing the code for the application. There are no DevOps tools that are required for planning, but there are several tools for maintaining the code</a:t>
            </a:r>
            <a:r>
              <a:rPr lang="en-US" sz="2000" dirty="0" smtClean="0"/>
              <a:t>.</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19</a:t>
            </a:fld>
            <a:endParaRPr lang="en-US" dirty="0"/>
          </a:p>
        </p:txBody>
      </p:sp>
    </p:spTree>
    <p:extLst>
      <p:ext uri="{BB962C8B-B14F-4D97-AF65-F5344CB8AC3E}">
        <p14:creationId xmlns:p14="http://schemas.microsoft.com/office/powerpoint/2010/main" val="54463636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DevOps Lifecycle (Cont.)</a:t>
            </a:r>
            <a:endParaRPr lang="en-US" sz="4000" b="1" i="1" dirty="0"/>
          </a:p>
        </p:txBody>
      </p:sp>
      <p:sp>
        <p:nvSpPr>
          <p:cNvPr id="3" name="Content Placeholder 2"/>
          <p:cNvSpPr>
            <a:spLocks noGrp="1"/>
          </p:cNvSpPr>
          <p:nvPr>
            <p:ph idx="1"/>
          </p:nvPr>
        </p:nvSpPr>
        <p:spPr>
          <a:xfrm>
            <a:off x="574766" y="1268863"/>
            <a:ext cx="11025049" cy="5311651"/>
          </a:xfrm>
        </p:spPr>
        <p:txBody>
          <a:bodyPr>
            <a:normAutofit/>
          </a:bodyPr>
          <a:lstStyle/>
          <a:p>
            <a:pPr>
              <a:spcBef>
                <a:spcPts val="600"/>
              </a:spcBef>
              <a:spcAft>
                <a:spcPts val="600"/>
              </a:spcAft>
              <a:buFont typeface="Wingdings" panose="05000000000000000000" pitchFamily="2" charset="2"/>
              <a:buChar char="Ø"/>
            </a:pPr>
            <a:r>
              <a:rPr lang="en-US" sz="3200" b="1" i="1" dirty="0">
                <a:latin typeface="+mj-lt"/>
                <a:ea typeface="+mj-ea"/>
                <a:cs typeface="+mj-cs"/>
              </a:rPr>
              <a:t>Continuous Integration</a:t>
            </a:r>
          </a:p>
          <a:p>
            <a:pPr lvl="1">
              <a:lnSpc>
                <a:spcPct val="150000"/>
              </a:lnSpc>
            </a:pPr>
            <a:r>
              <a:rPr lang="en-US" sz="2000" dirty="0"/>
              <a:t>This phase involves the build and coding of the software. The code supporting new functionality is continuously integrated with the existing code. The updated code needs to be integrated continuously and smoothly with the systems to reflect changes to the end-users.</a:t>
            </a:r>
          </a:p>
          <a:p>
            <a:pPr lvl="1">
              <a:lnSpc>
                <a:spcPct val="150000"/>
              </a:lnSpc>
            </a:pPr>
            <a:r>
              <a:rPr lang="en-US" sz="2000" dirty="0"/>
              <a:t>Whenever there is a change in the </a:t>
            </a:r>
            <a:r>
              <a:rPr lang="en-US" sz="2000" dirty="0" err="1"/>
              <a:t>Git</a:t>
            </a:r>
            <a:r>
              <a:rPr lang="en-US" sz="2000" dirty="0"/>
              <a:t> repository, then Jenkins fetches the updated code and prepares a build of that code, which is an executable file in the form of war or jar. Then this build is forwarded to the test server or the production server.</a:t>
            </a:r>
          </a:p>
          <a:p>
            <a:pPr lvl="1">
              <a:lnSpc>
                <a:spcPct val="150000"/>
              </a:lnSpc>
            </a:pPr>
            <a:r>
              <a:rPr lang="en-US" sz="2000" dirty="0"/>
              <a:t>Jenkins is a popular tool used </a:t>
            </a:r>
            <a:r>
              <a:rPr lang="en-US" sz="2000" dirty="0" smtClean="0"/>
              <a:t>to automate this </a:t>
            </a:r>
            <a:r>
              <a:rPr lang="en-US" sz="2000" dirty="0"/>
              <a:t>phase.</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20</a:t>
            </a:fld>
            <a:endParaRPr lang="en-US" dirty="0"/>
          </a:p>
        </p:txBody>
      </p:sp>
    </p:spTree>
    <p:extLst>
      <p:ext uri="{BB962C8B-B14F-4D97-AF65-F5344CB8AC3E}">
        <p14:creationId xmlns:p14="http://schemas.microsoft.com/office/powerpoint/2010/main" val="239009543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DevOps Lifecycle (Cont.)</a:t>
            </a:r>
            <a:endParaRPr lang="en-US" sz="4000" b="1" i="1" dirty="0"/>
          </a:p>
        </p:txBody>
      </p:sp>
      <p:sp>
        <p:nvSpPr>
          <p:cNvPr id="3" name="Content Placeholder 2"/>
          <p:cNvSpPr>
            <a:spLocks noGrp="1"/>
          </p:cNvSpPr>
          <p:nvPr>
            <p:ph idx="1"/>
          </p:nvPr>
        </p:nvSpPr>
        <p:spPr>
          <a:xfrm>
            <a:off x="574766" y="1268863"/>
            <a:ext cx="11025049" cy="5311651"/>
          </a:xfrm>
        </p:spPr>
        <p:txBody>
          <a:bodyPr>
            <a:normAutofit/>
          </a:bodyPr>
          <a:lstStyle/>
          <a:p>
            <a:pPr>
              <a:lnSpc>
                <a:spcPct val="150000"/>
              </a:lnSpc>
              <a:buFont typeface="Wingdings" panose="05000000000000000000" pitchFamily="2" charset="2"/>
              <a:buChar char="Ø"/>
            </a:pPr>
            <a:r>
              <a:rPr lang="en-US" sz="3200" b="1" i="1" dirty="0">
                <a:latin typeface="+mj-lt"/>
                <a:ea typeface="+mj-ea"/>
                <a:cs typeface="+mj-cs"/>
              </a:rPr>
              <a:t>Continuous </a:t>
            </a:r>
            <a:r>
              <a:rPr lang="en-US" sz="3200" b="1" i="1" dirty="0">
                <a:latin typeface="+mj-lt"/>
                <a:ea typeface="+mj-ea"/>
                <a:cs typeface="+mj-cs"/>
              </a:rPr>
              <a:t>Testing</a:t>
            </a:r>
          </a:p>
          <a:p>
            <a:pPr lvl="1">
              <a:lnSpc>
                <a:spcPct val="150000"/>
              </a:lnSpc>
            </a:pPr>
            <a:r>
              <a:rPr lang="en-US" sz="2000" dirty="0" smtClean="0"/>
              <a:t>This </a:t>
            </a:r>
            <a:r>
              <a:rPr lang="en-US" sz="2000" dirty="0"/>
              <a:t>phase, where the developed software is continuously testing for bugs. For constant testing, automation testing tools such as </a:t>
            </a:r>
            <a:r>
              <a:rPr lang="en-US" sz="2000" dirty="0" err="1"/>
              <a:t>TestNG</a:t>
            </a:r>
            <a:r>
              <a:rPr lang="en-US" sz="2000" dirty="0"/>
              <a:t>, JUnit, Selenium, </a:t>
            </a:r>
            <a:r>
              <a:rPr lang="en-US" sz="2000" dirty="0" err="1"/>
              <a:t>etc</a:t>
            </a:r>
            <a:r>
              <a:rPr lang="en-US" sz="2000" dirty="0"/>
              <a:t> are used. These tools allow QAs to test multiple code-bases thoroughly in parallel to ensure that there is no flaw in the functionality.</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21</a:t>
            </a:fld>
            <a:endParaRPr lang="en-US" dirty="0"/>
          </a:p>
        </p:txBody>
      </p:sp>
    </p:spTree>
    <p:extLst>
      <p:ext uri="{BB962C8B-B14F-4D97-AF65-F5344CB8AC3E}">
        <p14:creationId xmlns:p14="http://schemas.microsoft.com/office/powerpoint/2010/main" val="261524240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DevOps Lifecycle (Cont.)</a:t>
            </a:r>
            <a:endParaRPr lang="en-US" sz="4000" b="1" i="1" dirty="0"/>
          </a:p>
        </p:txBody>
      </p:sp>
      <p:sp>
        <p:nvSpPr>
          <p:cNvPr id="3" name="Content Placeholder 2"/>
          <p:cNvSpPr>
            <a:spLocks noGrp="1"/>
          </p:cNvSpPr>
          <p:nvPr>
            <p:ph idx="1"/>
          </p:nvPr>
        </p:nvSpPr>
        <p:spPr>
          <a:xfrm>
            <a:off x="574766" y="1268863"/>
            <a:ext cx="11025049" cy="5311651"/>
          </a:xfrm>
        </p:spPr>
        <p:txBody>
          <a:bodyPr>
            <a:normAutofit/>
          </a:bodyPr>
          <a:lstStyle/>
          <a:p>
            <a:pPr>
              <a:lnSpc>
                <a:spcPct val="150000"/>
              </a:lnSpc>
              <a:buFont typeface="Wingdings" panose="05000000000000000000" pitchFamily="2" charset="2"/>
              <a:buChar char="Ø"/>
            </a:pPr>
            <a:r>
              <a:rPr lang="en-US" sz="3200" b="1" i="1" dirty="0">
                <a:latin typeface="+mj-lt"/>
                <a:ea typeface="+mj-ea"/>
                <a:cs typeface="+mj-cs"/>
              </a:rPr>
              <a:t>Continuous </a:t>
            </a:r>
            <a:r>
              <a:rPr lang="en-US" sz="3200" b="1" i="1" dirty="0">
                <a:latin typeface="+mj-lt"/>
                <a:ea typeface="+mj-ea"/>
                <a:cs typeface="+mj-cs"/>
              </a:rPr>
              <a:t>Monitoring</a:t>
            </a:r>
          </a:p>
          <a:p>
            <a:pPr lvl="1">
              <a:lnSpc>
                <a:spcPct val="150000"/>
              </a:lnSpc>
            </a:pPr>
            <a:r>
              <a:rPr lang="en-US" sz="2000" dirty="0"/>
              <a:t>Monitoring is a phase that involves all the operational factors of the entire DevOps process, where important information about the use of the software is recorded and carefully processed to find out trends and identify problem areas. Usually, the monitoring is integrated within the operational capabilities of the software application.</a:t>
            </a:r>
          </a:p>
          <a:p>
            <a:pPr lvl="1">
              <a:lnSpc>
                <a:spcPct val="150000"/>
              </a:lnSpc>
            </a:pPr>
            <a:r>
              <a:rPr lang="en-US" sz="2000" dirty="0"/>
              <a:t>The system errors such as server not reachable, low memory, </a:t>
            </a:r>
            <a:r>
              <a:rPr lang="en-US" sz="2000" dirty="0" err="1"/>
              <a:t>etc</a:t>
            </a:r>
            <a:r>
              <a:rPr lang="en-US" sz="2000" dirty="0"/>
              <a:t> are resolved in this phase. It maintains the security and availability of the service.</a:t>
            </a:r>
          </a:p>
          <a:p>
            <a:pPr lvl="1">
              <a:lnSpc>
                <a:spcPct val="150000"/>
              </a:lnSpc>
            </a:pPr>
            <a:endParaRPr lang="en-US" sz="20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22</a:t>
            </a:fld>
            <a:endParaRPr lang="en-US" dirty="0"/>
          </a:p>
        </p:txBody>
      </p:sp>
    </p:spTree>
    <p:extLst>
      <p:ext uri="{BB962C8B-B14F-4D97-AF65-F5344CB8AC3E}">
        <p14:creationId xmlns:p14="http://schemas.microsoft.com/office/powerpoint/2010/main" val="273401105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DevOps Lifecycle (Cont.)</a:t>
            </a:r>
            <a:endParaRPr lang="en-US" sz="4000" b="1" i="1" dirty="0"/>
          </a:p>
        </p:txBody>
      </p:sp>
      <p:sp>
        <p:nvSpPr>
          <p:cNvPr id="3" name="Content Placeholder 2"/>
          <p:cNvSpPr>
            <a:spLocks noGrp="1"/>
          </p:cNvSpPr>
          <p:nvPr>
            <p:ph idx="1"/>
          </p:nvPr>
        </p:nvSpPr>
        <p:spPr>
          <a:xfrm>
            <a:off x="574766" y="1294989"/>
            <a:ext cx="11025049" cy="5311651"/>
          </a:xfrm>
        </p:spPr>
        <p:txBody>
          <a:bodyPr>
            <a:normAutofit/>
          </a:bodyPr>
          <a:lstStyle/>
          <a:p>
            <a:pPr>
              <a:buFont typeface="Wingdings" panose="05000000000000000000" pitchFamily="2" charset="2"/>
              <a:buChar char="Ø"/>
            </a:pPr>
            <a:r>
              <a:rPr lang="en-US" sz="3200" b="1" i="1" dirty="0">
                <a:latin typeface="+mj-lt"/>
                <a:ea typeface="+mj-ea"/>
                <a:cs typeface="+mj-cs"/>
              </a:rPr>
              <a:t>Continuous </a:t>
            </a:r>
            <a:r>
              <a:rPr lang="en-US" sz="3200" b="1" i="1" dirty="0">
                <a:latin typeface="+mj-lt"/>
                <a:ea typeface="+mj-ea"/>
                <a:cs typeface="+mj-cs"/>
              </a:rPr>
              <a:t>Feedback</a:t>
            </a:r>
            <a:endParaRPr lang="en-US" sz="3200" b="1" i="1" dirty="0">
              <a:latin typeface="+mj-lt"/>
              <a:ea typeface="+mj-ea"/>
              <a:cs typeface="+mj-cs"/>
            </a:endParaRPr>
          </a:p>
          <a:p>
            <a:pPr lvl="1">
              <a:lnSpc>
                <a:spcPct val="150000"/>
              </a:lnSpc>
            </a:pPr>
            <a:r>
              <a:rPr lang="en-US" sz="2000" dirty="0"/>
              <a:t>The application development is consistently improved by analyzing the results from the operations of the software. This is carried out by placing the critical phase of constant feedback between the operations and the development of the next version of the current software application.</a:t>
            </a:r>
          </a:p>
          <a:p>
            <a:pPr lvl="1">
              <a:lnSpc>
                <a:spcPct val="150000"/>
              </a:lnSpc>
            </a:pPr>
            <a:endParaRPr lang="en-US" sz="20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23</a:t>
            </a:fld>
            <a:endParaRPr lang="en-US" dirty="0"/>
          </a:p>
        </p:txBody>
      </p:sp>
    </p:spTree>
    <p:extLst>
      <p:ext uri="{BB962C8B-B14F-4D97-AF65-F5344CB8AC3E}">
        <p14:creationId xmlns:p14="http://schemas.microsoft.com/office/powerpoint/2010/main" val="155952678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DevOps Lifecycle (Cont.)</a:t>
            </a:r>
            <a:endParaRPr lang="en-US" sz="4000" b="1" i="1" dirty="0"/>
          </a:p>
        </p:txBody>
      </p:sp>
      <p:sp>
        <p:nvSpPr>
          <p:cNvPr id="3" name="Content Placeholder 2"/>
          <p:cNvSpPr>
            <a:spLocks noGrp="1"/>
          </p:cNvSpPr>
          <p:nvPr>
            <p:ph idx="1"/>
          </p:nvPr>
        </p:nvSpPr>
        <p:spPr>
          <a:xfrm>
            <a:off x="574766" y="1321115"/>
            <a:ext cx="11025049" cy="5311651"/>
          </a:xfrm>
        </p:spPr>
        <p:txBody>
          <a:bodyPr>
            <a:normAutofit/>
          </a:bodyPr>
          <a:lstStyle/>
          <a:p>
            <a:pPr>
              <a:buFont typeface="Wingdings" panose="05000000000000000000" pitchFamily="2" charset="2"/>
              <a:buChar char="Ø"/>
            </a:pPr>
            <a:r>
              <a:rPr lang="en-US" sz="3200" b="1" i="1" dirty="0">
                <a:latin typeface="+mj-lt"/>
                <a:ea typeface="+mj-ea"/>
                <a:cs typeface="+mj-cs"/>
              </a:rPr>
              <a:t>Continuous </a:t>
            </a:r>
            <a:r>
              <a:rPr lang="en-US" sz="3200" b="1" i="1" dirty="0">
                <a:latin typeface="+mj-lt"/>
                <a:ea typeface="+mj-ea"/>
                <a:cs typeface="+mj-cs"/>
              </a:rPr>
              <a:t>Deployment</a:t>
            </a:r>
          </a:p>
          <a:p>
            <a:pPr lvl="1">
              <a:lnSpc>
                <a:spcPct val="150000"/>
              </a:lnSpc>
            </a:pPr>
            <a:r>
              <a:rPr lang="en-US" sz="2000" dirty="0" smtClean="0"/>
              <a:t>In </a:t>
            </a:r>
            <a:r>
              <a:rPr lang="en-US" sz="2000" dirty="0"/>
              <a:t>this phase, the code is deployed to the production servers. Also, it is essential to ensure that the code is correctly used on all the servers.</a:t>
            </a:r>
          </a:p>
          <a:p>
            <a:pPr lvl="1">
              <a:lnSpc>
                <a:spcPct val="150000"/>
              </a:lnSpc>
            </a:pPr>
            <a:r>
              <a:rPr lang="en-US" sz="2000" dirty="0"/>
              <a:t>Here are some popular tools which are used in this phase, such as Chef, Puppet, </a:t>
            </a:r>
            <a:r>
              <a:rPr lang="en-US" sz="2000" dirty="0" err="1"/>
              <a:t>Ansible</a:t>
            </a:r>
            <a:r>
              <a:rPr lang="en-US" sz="2000" dirty="0"/>
              <a:t>, and </a:t>
            </a:r>
            <a:r>
              <a:rPr lang="en-US" sz="2000" dirty="0" err="1"/>
              <a:t>SaltStack</a:t>
            </a:r>
            <a:r>
              <a:rPr lang="en-US" sz="2000" dirty="0"/>
              <a:t>.</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24</a:t>
            </a:fld>
            <a:endParaRPr lang="en-US" dirty="0"/>
          </a:p>
        </p:txBody>
      </p:sp>
    </p:spTree>
    <p:extLst>
      <p:ext uri="{BB962C8B-B14F-4D97-AF65-F5344CB8AC3E}">
        <p14:creationId xmlns:p14="http://schemas.microsoft.com/office/powerpoint/2010/main" val="296560474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DevOps Lifecycle (Cont.)</a:t>
            </a:r>
            <a:endParaRPr lang="en-US" sz="4000" b="1" i="1" dirty="0"/>
          </a:p>
        </p:txBody>
      </p:sp>
      <p:sp>
        <p:nvSpPr>
          <p:cNvPr id="3" name="Content Placeholder 2"/>
          <p:cNvSpPr>
            <a:spLocks noGrp="1"/>
          </p:cNvSpPr>
          <p:nvPr>
            <p:ph idx="1"/>
          </p:nvPr>
        </p:nvSpPr>
        <p:spPr>
          <a:xfrm>
            <a:off x="574766" y="1360304"/>
            <a:ext cx="11025049" cy="5311651"/>
          </a:xfrm>
        </p:spPr>
        <p:txBody>
          <a:bodyPr>
            <a:normAutofit/>
          </a:bodyPr>
          <a:lstStyle/>
          <a:p>
            <a:pPr>
              <a:buFont typeface="Wingdings" panose="05000000000000000000" pitchFamily="2" charset="2"/>
              <a:buChar char="Ø"/>
            </a:pPr>
            <a:r>
              <a:rPr lang="en-US" sz="3200" b="1" i="1" dirty="0">
                <a:latin typeface="+mj-lt"/>
                <a:ea typeface="+mj-ea"/>
                <a:cs typeface="+mj-cs"/>
              </a:rPr>
              <a:t>Continuous </a:t>
            </a:r>
            <a:r>
              <a:rPr lang="en-US" sz="3200" b="1" i="1" dirty="0">
                <a:latin typeface="+mj-lt"/>
                <a:ea typeface="+mj-ea"/>
                <a:cs typeface="+mj-cs"/>
              </a:rPr>
              <a:t>Operations</a:t>
            </a:r>
          </a:p>
          <a:p>
            <a:pPr lvl="1">
              <a:lnSpc>
                <a:spcPct val="150000"/>
              </a:lnSpc>
            </a:pPr>
            <a:r>
              <a:rPr lang="en-US" sz="2000" dirty="0" smtClean="0"/>
              <a:t>Its last phase where all </a:t>
            </a:r>
            <a:r>
              <a:rPr lang="en-US" sz="2000" dirty="0"/>
              <a:t>DevOps operations are based on continuity with complete automation of the release process and allow the organization to accelerate the overall time to market </a:t>
            </a:r>
            <a:r>
              <a:rPr lang="en-US" sz="2000" dirty="0" smtClean="0"/>
              <a:t>continuingly.</a:t>
            </a:r>
            <a:endParaRPr lang="en-US" sz="20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25</a:t>
            </a:fld>
            <a:endParaRPr lang="en-US" dirty="0"/>
          </a:p>
        </p:txBody>
      </p:sp>
    </p:spTree>
    <p:extLst>
      <p:ext uri="{BB962C8B-B14F-4D97-AF65-F5344CB8AC3E}">
        <p14:creationId xmlns:p14="http://schemas.microsoft.com/office/powerpoint/2010/main" val="131682025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8000" b="1" i="1" dirty="0"/>
              <a:t>Thanks</a:t>
            </a:r>
            <a:endParaRPr lang="en-US" sz="3600" b="1" i="1" dirty="0"/>
          </a:p>
        </p:txBody>
      </p:sp>
      <p:sp>
        <p:nvSpPr>
          <p:cNvPr id="3" name="Content Placeholder 2"/>
          <p:cNvSpPr>
            <a:spLocks noGrp="1"/>
          </p:cNvSpPr>
          <p:nvPr>
            <p:ph idx="1"/>
          </p:nvPr>
        </p:nvSpPr>
        <p:spPr/>
        <p:txBody>
          <a:bodyPr>
            <a:noAutofit/>
          </a:bodyPr>
          <a:lstStyle/>
          <a:p>
            <a:pPr marL="0" indent="0" algn="ctr">
              <a:buNone/>
            </a:pPr>
            <a:r>
              <a:rPr lang="en-US" sz="23900" dirty="0" smtClean="0"/>
              <a:t>…?</a:t>
            </a:r>
            <a:endParaRPr lang="en-US" sz="23900" dirty="0"/>
          </a:p>
        </p:txBody>
      </p:sp>
      <p:sp>
        <p:nvSpPr>
          <p:cNvPr id="4" name="Slide Number Placeholder 3"/>
          <p:cNvSpPr>
            <a:spLocks noGrp="1"/>
          </p:cNvSpPr>
          <p:nvPr>
            <p:ph type="sldNum" sz="quarter" idx="12"/>
          </p:nvPr>
        </p:nvSpPr>
        <p:spPr/>
        <p:txBody>
          <a:bodyPr/>
          <a:lstStyle/>
          <a:p>
            <a:fld id="{18925C6B-C1FE-4297-863E-68E85899D6B2}" type="slidenum">
              <a:rPr lang="en-US" smtClean="0"/>
              <a:t>26</a:t>
            </a:fld>
            <a:endParaRPr lang="en-US"/>
          </a:p>
        </p:txBody>
      </p:sp>
    </p:spTree>
    <p:extLst>
      <p:ext uri="{BB962C8B-B14F-4D97-AF65-F5344CB8AC3E}">
        <p14:creationId xmlns:p14="http://schemas.microsoft.com/office/powerpoint/2010/main" val="170208858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8906</TotalTime>
  <Words>1203</Words>
  <Application>Microsoft Office PowerPoint</Application>
  <PresentationFormat>Widescreen</PresentationFormat>
  <Paragraphs>131</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(Body)</vt:lpstr>
      <vt:lpstr>Calibri Light</vt:lpstr>
      <vt:lpstr>Wingdings</vt:lpstr>
      <vt:lpstr>Office Theme</vt:lpstr>
      <vt:lpstr>Lecture-11</vt:lpstr>
      <vt:lpstr>Contents</vt:lpstr>
      <vt:lpstr>Software Development Life Cycle</vt:lpstr>
      <vt:lpstr>Software Development Life Cycle (Cont.)</vt:lpstr>
      <vt:lpstr>Planning and Requirement Analysis </vt:lpstr>
      <vt:lpstr>Defining Requirements</vt:lpstr>
      <vt:lpstr>Designing</vt:lpstr>
      <vt:lpstr>Building or Developing the Product</vt:lpstr>
      <vt:lpstr>Testing the Product</vt:lpstr>
      <vt:lpstr>Installation / Deployment in the Market</vt:lpstr>
      <vt:lpstr>Application Maintenance</vt:lpstr>
      <vt:lpstr>SDLC Goals  </vt:lpstr>
      <vt:lpstr>Software Development Life Cycle Models</vt:lpstr>
      <vt:lpstr>Software Development Life Cycle Models (Cont.)</vt:lpstr>
      <vt:lpstr>Software Development Life Cycle Models (Cont.)</vt:lpstr>
      <vt:lpstr>Software Development Life Cycle Models (Cont.)</vt:lpstr>
      <vt:lpstr>DevOps SDLC</vt:lpstr>
      <vt:lpstr>DevOps Lifecycle (Cont.)</vt:lpstr>
      <vt:lpstr>DevOps Lifecycle (Cont.)</vt:lpstr>
      <vt:lpstr>DevOps Lifecycle (Cont.)</vt:lpstr>
      <vt:lpstr>DevOps Lifecycle (Cont.)</vt:lpstr>
      <vt:lpstr>DevOps Lifecycle (Cont.)</vt:lpstr>
      <vt:lpstr>DevOps Lifecycle (Cont.)</vt:lpstr>
      <vt:lpstr>DevOps Lifecycle (Cont.)</vt:lpstr>
      <vt:lpstr>DevOps Lifecycle (Cont.)</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Muhammad Hanif</dc:creator>
  <cp:lastModifiedBy>Sharif Hussain</cp:lastModifiedBy>
  <cp:revision>1169</cp:revision>
  <dcterms:created xsi:type="dcterms:W3CDTF">2017-02-21T04:58:17Z</dcterms:created>
  <dcterms:modified xsi:type="dcterms:W3CDTF">2022-05-15T19:21:00Z</dcterms:modified>
</cp:coreProperties>
</file>