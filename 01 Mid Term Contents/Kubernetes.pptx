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55" r:id="rId3"/>
    <p:sldId id="324" r:id="rId4"/>
    <p:sldId id="354" r:id="rId5"/>
    <p:sldId id="361" r:id="rId6"/>
    <p:sldId id="356" r:id="rId7"/>
    <p:sldId id="358" r:id="rId8"/>
    <p:sldId id="359" r:id="rId9"/>
    <p:sldId id="360" r:id="rId10"/>
    <p:sldId id="372" r:id="rId11"/>
    <p:sldId id="373" r:id="rId12"/>
    <p:sldId id="364" r:id="rId13"/>
    <p:sldId id="363" r:id="rId14"/>
    <p:sldId id="362" r:id="rId15"/>
    <p:sldId id="365" r:id="rId16"/>
    <p:sldId id="366" r:id="rId17"/>
    <p:sldId id="367" r:id="rId18"/>
    <p:sldId id="368" r:id="rId19"/>
    <p:sldId id="369" r:id="rId20"/>
    <p:sldId id="370" r:id="rId21"/>
    <p:sldId id="371" r:id="rId22"/>
    <p:sldId id="374" r:id="rId23"/>
    <p:sldId id="375" r:id="rId24"/>
    <p:sldId id="376" r:id="rId25"/>
    <p:sldId id="3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94660"/>
  </p:normalViewPr>
  <p:slideViewPr>
    <p:cSldViewPr snapToGrid="0">
      <p:cViewPr varScale="1">
        <p:scale>
          <a:sx n="86" d="100"/>
          <a:sy n="86" d="100"/>
        </p:scale>
        <p:origin x="58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8DA0F82-837D-4582-8679-71A595E2155B}"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1221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DA0F82-837D-4582-8679-71A595E2155B}"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52774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8DA0F82-837D-4582-8679-71A595E2155B}"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60752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DA0F82-837D-4582-8679-71A595E2155B}"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20775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DA0F82-837D-4582-8679-71A595E2155B}" type="datetimeFigureOut">
              <a:rPr lang="en-US" smtClean="0"/>
              <a:t>4/24/2025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129466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DA0F82-837D-4582-8679-71A595E2155B}" type="datetimeFigureOut">
              <a:rPr lang="en-US" smtClean="0"/>
              <a:t>4/24/2025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54822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DA0F82-837D-4582-8679-71A595E2155B}" type="datetimeFigureOut">
              <a:rPr lang="en-US" smtClean="0"/>
              <a:t>4/24/2025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427668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8DA0F82-837D-4582-8679-71A595E2155B}"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78110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8DA0F82-837D-4582-8679-71A595E2155B}" type="datetimeFigureOut">
              <a:rPr lang="en-US" smtClean="0"/>
              <a:t>4/24/2025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15177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DA0F82-837D-4582-8679-71A595E2155B}"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2803771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DA0F82-837D-4582-8679-71A595E2155B}" type="datetimeFigureOut">
              <a:rPr lang="en-US" smtClean="0"/>
              <a:t>4/24/2025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25C6B-C1FE-4297-863E-68E85899D6B2}" type="slidenum">
              <a:rPr lang="en-US" smtClean="0"/>
              <a:t>‹#›</a:t>
            </a:fld>
            <a:endParaRPr lang="en-US"/>
          </a:p>
        </p:txBody>
      </p:sp>
    </p:spTree>
    <p:extLst>
      <p:ext uri="{BB962C8B-B14F-4D97-AF65-F5344CB8AC3E}">
        <p14:creationId xmlns:p14="http://schemas.microsoft.com/office/powerpoint/2010/main" val="307678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DA0F82-837D-4582-8679-71A595E2155B}" type="datetimeFigureOut">
              <a:rPr lang="en-US" smtClean="0"/>
              <a:t>4/24/2025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25C6B-C1FE-4297-863E-68E85899D6B2}" type="slidenum">
              <a:rPr lang="en-US" smtClean="0"/>
              <a:t>‹#›</a:t>
            </a:fld>
            <a:endParaRPr lang="en-US"/>
          </a:p>
        </p:txBody>
      </p:sp>
    </p:spTree>
    <p:extLst>
      <p:ext uri="{BB962C8B-B14F-4D97-AF65-F5344CB8AC3E}">
        <p14:creationId xmlns:p14="http://schemas.microsoft.com/office/powerpoint/2010/main" val="969021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697" y="3081496"/>
            <a:ext cx="9144000" cy="962706"/>
          </a:xfrm>
        </p:spPr>
        <p:txBody>
          <a:bodyPr>
            <a:normAutofit/>
          </a:bodyPr>
          <a:lstStyle/>
          <a:p>
            <a:r>
              <a:rPr lang="en-US" b="1" i="1" dirty="0"/>
              <a:t>Kubernetes</a:t>
            </a:r>
            <a:endParaRPr lang="en-US" dirty="0"/>
          </a:p>
        </p:txBody>
      </p:sp>
      <p:sp>
        <p:nvSpPr>
          <p:cNvPr id="3" name="Subtitle 2"/>
          <p:cNvSpPr>
            <a:spLocks noGrp="1"/>
          </p:cNvSpPr>
          <p:nvPr>
            <p:ph type="subTitle" idx="1"/>
          </p:nvPr>
        </p:nvSpPr>
        <p:spPr>
          <a:xfrm>
            <a:off x="1876697" y="3562849"/>
            <a:ext cx="9144000" cy="1655762"/>
          </a:xfrm>
        </p:spPr>
        <p:txBody>
          <a:bodyPr/>
          <a:lstStyle/>
          <a:p>
            <a:r>
              <a:rPr lang="en-US" i="1" dirty="0"/>
              <a:t> </a:t>
            </a:r>
          </a:p>
        </p:txBody>
      </p:sp>
    </p:spTree>
    <p:extLst>
      <p:ext uri="{BB962C8B-B14F-4D97-AF65-F5344CB8AC3E}">
        <p14:creationId xmlns:p14="http://schemas.microsoft.com/office/powerpoint/2010/main" val="2434583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Previous Lecture summary:</a:t>
            </a:r>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buFont typeface="Wingdings" panose="05000000000000000000" pitchFamily="2" charset="2"/>
              <a:buChar char="Ø"/>
            </a:pPr>
            <a:r>
              <a:rPr lang="en-US" sz="2400" b="1" i="1" dirty="0"/>
              <a:t>Containerization</a:t>
            </a:r>
            <a:r>
              <a:rPr lang="en-US" sz="2400" dirty="0"/>
              <a:t> is a type of virtualization at the application level, which allows for multiple isolated user space instances on a single kernel. These instances are called containers.</a:t>
            </a:r>
          </a:p>
          <a:p>
            <a:pPr>
              <a:lnSpc>
                <a:spcPct val="150000"/>
              </a:lnSpc>
              <a:buFont typeface="Wingdings" panose="05000000000000000000" pitchFamily="2" charset="2"/>
              <a:buChar char="Ø"/>
            </a:pPr>
            <a:r>
              <a:rPr lang="en-US" sz="2400" b="1" i="1" dirty="0"/>
              <a:t>Containers</a:t>
            </a:r>
            <a:r>
              <a:rPr lang="en-US" sz="2400" dirty="0"/>
              <a:t> provide a standard method of packaging an application's code, runtime, system tools, system libraries, and configurations into one </a:t>
            </a:r>
            <a:r>
              <a:rPr lang="en-US" sz="2400" b="1" i="1" dirty="0"/>
              <a:t>instance</a:t>
            </a:r>
            <a:r>
              <a:rPr lang="en-US" sz="2400" dirty="0"/>
              <a:t>. Containers share one </a:t>
            </a:r>
            <a:r>
              <a:rPr lang="en-US" sz="2400" b="1" i="1" dirty="0"/>
              <a:t>kernel</a:t>
            </a:r>
            <a:r>
              <a:rPr lang="en-US" sz="2400" dirty="0"/>
              <a:t> (operating system), which is installed on the hardware.</a:t>
            </a:r>
          </a:p>
          <a:p>
            <a:pPr>
              <a:lnSpc>
                <a:spcPct val="150000"/>
              </a:lnSpc>
              <a:buFont typeface="Wingdings" panose="05000000000000000000" pitchFamily="2" charset="2"/>
              <a:buChar char="Ø"/>
            </a:pPr>
            <a:r>
              <a:rPr lang="en-US" sz="2400" b="1" i="1" dirty="0"/>
              <a:t>Docker</a:t>
            </a:r>
            <a:r>
              <a:rPr lang="en-US" sz="2400" b="1" dirty="0"/>
              <a:t> </a:t>
            </a:r>
            <a:r>
              <a:rPr lang="en-US" sz="2400" dirty="0"/>
              <a:t>is a software platform that allows you to build, test, and deploy applications quickly, packaging software into standardized units called containers.</a:t>
            </a:r>
          </a:p>
          <a:p>
            <a:endParaRPr lang="en-US" sz="2400" dirty="0"/>
          </a:p>
        </p:txBody>
      </p:sp>
    </p:spTree>
    <p:extLst>
      <p:ext uri="{BB962C8B-B14F-4D97-AF65-F5344CB8AC3E}">
        <p14:creationId xmlns:p14="http://schemas.microsoft.com/office/powerpoint/2010/main" val="2760257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6434" y="377780"/>
            <a:ext cx="9144000" cy="967694"/>
          </a:xfrm>
        </p:spPr>
        <p:txBody>
          <a:bodyPr/>
          <a:lstStyle/>
          <a:p>
            <a:pPr algn="l"/>
            <a:r>
              <a:rPr lang="en-US" dirty="0"/>
              <a:t>Contents</a:t>
            </a:r>
          </a:p>
        </p:txBody>
      </p:sp>
      <p:sp>
        <p:nvSpPr>
          <p:cNvPr id="3" name="Subtitle 2"/>
          <p:cNvSpPr>
            <a:spLocks noGrp="1"/>
          </p:cNvSpPr>
          <p:nvPr>
            <p:ph type="subTitle" idx="1"/>
          </p:nvPr>
        </p:nvSpPr>
        <p:spPr>
          <a:xfrm>
            <a:off x="1510937" y="1929989"/>
            <a:ext cx="9144000" cy="4340182"/>
          </a:xfrm>
        </p:spPr>
        <p:txBody>
          <a:bodyPr>
            <a:noAutofit/>
          </a:bodyPr>
          <a:lstStyle/>
          <a:p>
            <a:pPr marL="342900" indent="-342900" algn="l">
              <a:buFont typeface="Arial" panose="020B0604020202020204" pitchFamily="34" charset="0"/>
              <a:buChar char="•"/>
            </a:pPr>
            <a:r>
              <a:rPr lang="en-US" dirty="0"/>
              <a:t>Container Orchestration</a:t>
            </a:r>
          </a:p>
          <a:p>
            <a:pPr marL="342900" indent="-342900" algn="l">
              <a:buFont typeface="Arial" panose="020B0604020202020204" pitchFamily="34" charset="0"/>
              <a:buChar char="•"/>
            </a:pPr>
            <a:r>
              <a:rPr lang="en-US" dirty="0"/>
              <a:t>Orchestration Tools</a:t>
            </a:r>
          </a:p>
          <a:p>
            <a:pPr marL="342900" indent="-342900" algn="l">
              <a:buFont typeface="Arial" panose="020B0604020202020204" pitchFamily="34" charset="0"/>
              <a:buChar char="•"/>
            </a:pPr>
            <a:r>
              <a:rPr lang="en-US" dirty="0"/>
              <a:t>Kubernetes</a:t>
            </a:r>
          </a:p>
          <a:p>
            <a:pPr marL="342900" indent="-342900" algn="l">
              <a:buFont typeface="Arial" panose="020B0604020202020204" pitchFamily="34" charset="0"/>
              <a:buChar char="•"/>
            </a:pPr>
            <a:r>
              <a:rPr lang="en-US" dirty="0"/>
              <a:t>Kubernetes Architecture</a:t>
            </a:r>
          </a:p>
          <a:p>
            <a:pPr marL="342900" indent="-342900" algn="l">
              <a:buFont typeface="Arial" panose="020B0604020202020204" pitchFamily="34" charset="0"/>
              <a:buChar char="•"/>
            </a:pPr>
            <a:r>
              <a:rPr lang="en-US" dirty="0"/>
              <a:t>Kubernetes Features</a:t>
            </a:r>
          </a:p>
          <a:p>
            <a:pPr marL="342900" indent="-342900" algn="l">
              <a:buFont typeface="Arial" panose="020B0604020202020204" pitchFamily="34" charset="0"/>
              <a:buChar char="•"/>
            </a:pPr>
            <a:r>
              <a:rPr lang="en-US" dirty="0"/>
              <a:t>Docker Vs Kubernetes </a:t>
            </a:r>
          </a:p>
        </p:txBody>
      </p:sp>
    </p:spTree>
    <p:extLst>
      <p:ext uri="{BB962C8B-B14F-4D97-AF65-F5344CB8AC3E}">
        <p14:creationId xmlns:p14="http://schemas.microsoft.com/office/powerpoint/2010/main" val="3881960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1461" y="4441371"/>
            <a:ext cx="4082339" cy="2174027"/>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4296273"/>
            <a:ext cx="3420292" cy="2319125"/>
          </a:xfrm>
          <a:prstGeom prst="rect">
            <a:avLst/>
          </a:prstGeom>
        </p:spPr>
      </p:pic>
      <p:sp>
        <p:nvSpPr>
          <p:cNvPr id="2" name="Title 1"/>
          <p:cNvSpPr>
            <a:spLocks noGrp="1"/>
          </p:cNvSpPr>
          <p:nvPr>
            <p:ph type="title"/>
          </p:nvPr>
        </p:nvSpPr>
        <p:spPr/>
        <p:txBody>
          <a:bodyPr>
            <a:noAutofit/>
          </a:bodyPr>
          <a:lstStyle/>
          <a:p>
            <a:r>
              <a:rPr lang="en-US" sz="3600" b="1" i="1" dirty="0"/>
              <a:t>Container Orchestration</a:t>
            </a:r>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pPr>
            <a:r>
              <a:rPr lang="en-US" sz="2400" dirty="0"/>
              <a:t>Container orchestration automates the provisioning, scaling, deployment, availability, and lifecycle management of containers.</a:t>
            </a:r>
          </a:p>
          <a:p>
            <a:pPr>
              <a:lnSpc>
                <a:spcPct val="150000"/>
              </a:lnSpc>
            </a:pPr>
            <a:r>
              <a:rPr lang="en-US" sz="2400" dirty="0"/>
              <a:t>Container orchestration is a tool that use to automate the Containers management.</a:t>
            </a:r>
          </a:p>
          <a:p>
            <a:pPr>
              <a:lnSpc>
                <a:spcPct val="150000"/>
              </a:lnSpc>
            </a:pPr>
            <a:endParaRPr lang="en-US" sz="2400" dirty="0"/>
          </a:p>
        </p:txBody>
      </p:sp>
    </p:spTree>
    <p:extLst>
      <p:ext uri="{BB962C8B-B14F-4D97-AF65-F5344CB8AC3E}">
        <p14:creationId xmlns:p14="http://schemas.microsoft.com/office/powerpoint/2010/main" val="3300789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Provisioning</a:t>
            </a:r>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pPr>
            <a:r>
              <a:rPr lang="en-US" sz="2400" dirty="0"/>
              <a:t>Provisioning is the process of setting up IT infrastructure. It can also refer to the steps required to manage access to data and resources, and make them available to users and systems. </a:t>
            </a:r>
          </a:p>
          <a:p>
            <a:pPr>
              <a:lnSpc>
                <a:spcPct val="150000"/>
              </a:lnSpc>
            </a:pPr>
            <a:r>
              <a:rPr lang="en-US" sz="2400" dirty="0"/>
              <a:t>When the term “provisioning” is used, it can mean many different types of provisioning, such as server provisioning, network provisioning, user provisioning, service provisioning, and more.</a:t>
            </a:r>
          </a:p>
        </p:txBody>
      </p:sp>
    </p:spTree>
    <p:extLst>
      <p:ext uri="{BB962C8B-B14F-4D97-AF65-F5344CB8AC3E}">
        <p14:creationId xmlns:p14="http://schemas.microsoft.com/office/powerpoint/2010/main" val="455043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0"/>
            <a:ext cx="10515600" cy="1325563"/>
          </a:xfrm>
        </p:spPr>
        <p:txBody>
          <a:bodyPr>
            <a:noAutofit/>
          </a:bodyPr>
          <a:lstStyle/>
          <a:p>
            <a:r>
              <a:rPr lang="en-US" sz="3600" b="1" i="1" dirty="0"/>
              <a:t>Scaling</a:t>
            </a:r>
          </a:p>
        </p:txBody>
      </p:sp>
      <p:sp>
        <p:nvSpPr>
          <p:cNvPr id="3" name="Content Placeholder 2"/>
          <p:cNvSpPr>
            <a:spLocks noGrp="1"/>
          </p:cNvSpPr>
          <p:nvPr>
            <p:ph idx="1"/>
          </p:nvPr>
        </p:nvSpPr>
        <p:spPr>
          <a:xfrm>
            <a:off x="838199" y="1325563"/>
            <a:ext cx="10761617" cy="5271180"/>
          </a:xfrm>
        </p:spPr>
        <p:txBody>
          <a:bodyPr>
            <a:normAutofit lnSpcReduction="10000"/>
          </a:bodyPr>
          <a:lstStyle/>
          <a:p>
            <a:pPr>
              <a:lnSpc>
                <a:spcPct val="150000"/>
              </a:lnSpc>
            </a:pPr>
            <a:r>
              <a:rPr lang="en-US" sz="2000" dirty="0"/>
              <a:t>In cloud computing, scaling is the process of adding or removing compute, storage, and network services to meet the demands a workload makes for resources in order to maintain availability and performance as utilization increases.</a:t>
            </a:r>
          </a:p>
          <a:p>
            <a:pPr>
              <a:lnSpc>
                <a:spcPct val="150000"/>
              </a:lnSpc>
            </a:pPr>
            <a:r>
              <a:rPr lang="en-US" sz="2000" dirty="0"/>
              <a:t> </a:t>
            </a:r>
            <a:r>
              <a:rPr lang="en-US" sz="2200" b="1" dirty="0"/>
              <a:t>Scale Up (Vertical Scaling)</a:t>
            </a:r>
          </a:p>
          <a:p>
            <a:pPr lvl="1">
              <a:lnSpc>
                <a:spcPct val="160000"/>
              </a:lnSpc>
            </a:pPr>
            <a:r>
              <a:rPr lang="en-US" sz="1700" dirty="0"/>
              <a:t>Scaling up is the process of resizing a server (or replacing it with another server) to give it supplemental or fewer CPUs, memory, or network capacity.</a:t>
            </a:r>
          </a:p>
          <a:p>
            <a:r>
              <a:rPr lang="en-US" sz="2200" b="1" dirty="0"/>
              <a:t>Scale Out (Horizontal Scaling)</a:t>
            </a:r>
          </a:p>
          <a:p>
            <a:pPr lvl="1">
              <a:lnSpc>
                <a:spcPct val="150000"/>
              </a:lnSpc>
            </a:pPr>
            <a:r>
              <a:rPr lang="en-US" sz="1700" dirty="0"/>
              <a:t>Instead of resizing an application to a bigger server, scaling out splits the workload across multiple servers that work in parallel.</a:t>
            </a:r>
          </a:p>
          <a:p>
            <a:pPr>
              <a:lnSpc>
                <a:spcPct val="150000"/>
              </a:lnSpc>
            </a:pPr>
            <a:r>
              <a:rPr lang="en-US" b="1" i="1" dirty="0"/>
              <a:t>Auto-scaling</a:t>
            </a:r>
            <a:r>
              <a:rPr lang="en-US" dirty="0"/>
              <a:t> </a:t>
            </a:r>
            <a:r>
              <a:rPr lang="en-US" sz="1700" dirty="0"/>
              <a:t>is the process of automatically increasing or decreasing the computational resources delivered to a cloud workload based on need. </a:t>
            </a:r>
          </a:p>
        </p:txBody>
      </p:sp>
    </p:spTree>
    <p:extLst>
      <p:ext uri="{BB962C8B-B14F-4D97-AF65-F5344CB8AC3E}">
        <p14:creationId xmlns:p14="http://schemas.microsoft.com/office/powerpoint/2010/main" val="3740376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Deployment</a:t>
            </a:r>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pPr>
            <a:r>
              <a:rPr lang="en-US" sz="2400" dirty="0"/>
              <a:t>Software deployment is all of the processes that make a software system available for use.</a:t>
            </a:r>
          </a:p>
          <a:p>
            <a:pPr>
              <a:lnSpc>
                <a:spcPct val="150000"/>
              </a:lnSpc>
            </a:pPr>
            <a:r>
              <a:rPr lang="en-US" sz="2400" dirty="0"/>
              <a:t>Cloud deployment is the process of deploying an application through one or more hosting models—software as a service (SaaS), platform as a service (PaaS) and/or infrastructure as a service (IaaS).</a:t>
            </a:r>
          </a:p>
        </p:txBody>
      </p:sp>
    </p:spTree>
    <p:extLst>
      <p:ext uri="{BB962C8B-B14F-4D97-AF65-F5344CB8AC3E}">
        <p14:creationId xmlns:p14="http://schemas.microsoft.com/office/powerpoint/2010/main" val="1712954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Container Orchestration Tools</a:t>
            </a:r>
          </a:p>
        </p:txBody>
      </p:sp>
      <p:sp>
        <p:nvSpPr>
          <p:cNvPr id="3" name="Content Placeholder 2"/>
          <p:cNvSpPr>
            <a:spLocks noGrp="1"/>
          </p:cNvSpPr>
          <p:nvPr>
            <p:ph idx="1"/>
          </p:nvPr>
        </p:nvSpPr>
        <p:spPr>
          <a:xfrm>
            <a:off x="838199" y="1812561"/>
            <a:ext cx="10761617" cy="4802837"/>
          </a:xfrm>
        </p:spPr>
        <p:txBody>
          <a:bodyPr>
            <a:normAutofit/>
          </a:bodyPr>
          <a:lstStyle/>
          <a:p>
            <a:pPr>
              <a:lnSpc>
                <a:spcPct val="150000"/>
              </a:lnSpc>
            </a:pPr>
            <a:r>
              <a:rPr lang="en-US" sz="2400" dirty="0"/>
              <a:t>Some popular open source container orchestration tools include</a:t>
            </a:r>
          </a:p>
          <a:p>
            <a:pPr>
              <a:lnSpc>
                <a:spcPct val="150000"/>
              </a:lnSpc>
            </a:pPr>
            <a:r>
              <a:rPr lang="en-US" sz="2400" b="1" i="1" dirty="0"/>
              <a:t>Kubernetes</a:t>
            </a:r>
          </a:p>
          <a:p>
            <a:pPr>
              <a:lnSpc>
                <a:spcPct val="150000"/>
              </a:lnSpc>
            </a:pPr>
            <a:r>
              <a:rPr lang="en-US" sz="2400" b="1" i="1" dirty="0"/>
              <a:t>Docker Swarm</a:t>
            </a:r>
          </a:p>
        </p:txBody>
      </p:sp>
    </p:spTree>
    <p:extLst>
      <p:ext uri="{BB962C8B-B14F-4D97-AF65-F5344CB8AC3E}">
        <p14:creationId xmlns:p14="http://schemas.microsoft.com/office/powerpoint/2010/main" val="3391807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Kubernetes</a:t>
            </a:r>
          </a:p>
        </p:txBody>
      </p:sp>
      <p:sp>
        <p:nvSpPr>
          <p:cNvPr id="3" name="Content Placeholder 2"/>
          <p:cNvSpPr>
            <a:spLocks noGrp="1"/>
          </p:cNvSpPr>
          <p:nvPr>
            <p:ph idx="1"/>
          </p:nvPr>
        </p:nvSpPr>
        <p:spPr>
          <a:xfrm>
            <a:off x="838199" y="1812561"/>
            <a:ext cx="10761617" cy="4802837"/>
          </a:xfrm>
        </p:spPr>
        <p:txBody>
          <a:bodyPr>
            <a:normAutofit fontScale="92500" lnSpcReduction="20000"/>
          </a:bodyPr>
          <a:lstStyle/>
          <a:p>
            <a:pPr>
              <a:lnSpc>
                <a:spcPct val="150000"/>
              </a:lnSpc>
            </a:pPr>
            <a:r>
              <a:rPr lang="en-US" sz="2400" dirty="0"/>
              <a:t>Kubernetes is an open-source container orchestration tool for automating deployment, scaling, Load-balancing, scheduling the run isolated containers and management of containerized applications.</a:t>
            </a:r>
          </a:p>
          <a:p>
            <a:pPr>
              <a:lnSpc>
                <a:spcPct val="150000"/>
              </a:lnSpc>
            </a:pPr>
            <a:r>
              <a:rPr lang="en-US" sz="2400" dirty="0"/>
              <a:t>This platform is designed and developed by Google in 2014 built in </a:t>
            </a:r>
            <a:r>
              <a:rPr lang="en-US" sz="2400" b="1" i="1" dirty="0"/>
              <a:t>GO programming language</a:t>
            </a:r>
            <a:r>
              <a:rPr lang="en-US" sz="2400" dirty="0"/>
              <a:t>.</a:t>
            </a:r>
          </a:p>
          <a:p>
            <a:pPr>
              <a:lnSpc>
                <a:spcPct val="150000"/>
              </a:lnSpc>
            </a:pPr>
            <a:r>
              <a:rPr lang="en-US" sz="2400" dirty="0"/>
              <a:t>Sport </a:t>
            </a:r>
            <a:r>
              <a:rPr lang="en-US" sz="2400" dirty="0" err="1"/>
              <a:t>Json</a:t>
            </a:r>
            <a:r>
              <a:rPr lang="en-US" sz="2400" dirty="0"/>
              <a:t> or </a:t>
            </a:r>
            <a:r>
              <a:rPr lang="en-US" sz="2400" b="1" dirty="0"/>
              <a:t>YAML</a:t>
            </a:r>
            <a:r>
              <a:rPr lang="en-US" sz="2400" dirty="0"/>
              <a:t> (</a:t>
            </a:r>
            <a:r>
              <a:rPr lang="en-US" sz="2400" dirty="0" err="1"/>
              <a:t>Ain't</a:t>
            </a:r>
            <a:r>
              <a:rPr lang="en-US" sz="2400" dirty="0"/>
              <a:t> Markup Language) YAML is a human-readable data-serialization language.</a:t>
            </a:r>
          </a:p>
          <a:p>
            <a:pPr>
              <a:lnSpc>
                <a:spcPct val="150000"/>
              </a:lnSpc>
            </a:pPr>
            <a:r>
              <a:rPr lang="en-US" sz="2400" dirty="0"/>
              <a:t>Kubernetes is also known as </a:t>
            </a:r>
            <a:r>
              <a:rPr lang="en-US" sz="2400" b="1" i="1" dirty="0"/>
              <a:t>'k8s‘</a:t>
            </a:r>
            <a:r>
              <a:rPr lang="en-US" sz="2400" dirty="0"/>
              <a:t>. </a:t>
            </a:r>
          </a:p>
          <a:p>
            <a:pPr>
              <a:lnSpc>
                <a:spcPct val="150000"/>
              </a:lnSpc>
            </a:pPr>
            <a:r>
              <a:rPr lang="en-US" sz="2400" dirty="0"/>
              <a:t>The open-source project is hosted by the Cloud Native Computing Foundation (CNCF).</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591891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Docker vs. Kubernetes</a:t>
            </a:r>
          </a:p>
        </p:txBody>
      </p:sp>
      <p:sp>
        <p:nvSpPr>
          <p:cNvPr id="3" name="Content Placeholder 2"/>
          <p:cNvSpPr>
            <a:spLocks noGrp="1"/>
          </p:cNvSpPr>
          <p:nvPr>
            <p:ph idx="1"/>
          </p:nvPr>
        </p:nvSpPr>
        <p:spPr>
          <a:xfrm>
            <a:off x="838199" y="1585550"/>
            <a:ext cx="10761617" cy="5050382"/>
          </a:xfrm>
        </p:spPr>
        <p:txBody>
          <a:bodyPr>
            <a:normAutofit/>
          </a:bodyPr>
          <a:lstStyle/>
          <a:p>
            <a:r>
              <a:rPr lang="en-US" b="1" dirty="0"/>
              <a:t>Difference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0169" y="2017375"/>
            <a:ext cx="7297676" cy="4459692"/>
          </a:xfrm>
          <a:prstGeom prst="rect">
            <a:avLst/>
          </a:prstGeom>
        </p:spPr>
      </p:pic>
    </p:spTree>
    <p:extLst>
      <p:ext uri="{BB962C8B-B14F-4D97-AF65-F5344CB8AC3E}">
        <p14:creationId xmlns:p14="http://schemas.microsoft.com/office/powerpoint/2010/main" val="1556575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Docker vs. Kubernetes (Cont.)</a:t>
            </a:r>
          </a:p>
        </p:txBody>
      </p:sp>
      <p:sp>
        <p:nvSpPr>
          <p:cNvPr id="3" name="Content Placeholder 2"/>
          <p:cNvSpPr>
            <a:spLocks noGrp="1"/>
          </p:cNvSpPr>
          <p:nvPr>
            <p:ph idx="1"/>
          </p:nvPr>
        </p:nvSpPr>
        <p:spPr>
          <a:xfrm>
            <a:off x="838199" y="1815736"/>
            <a:ext cx="10761617" cy="4820196"/>
          </a:xfrm>
        </p:spPr>
        <p:txBody>
          <a:bodyPr>
            <a:normAutofit/>
          </a:bodyPr>
          <a:lstStyle/>
          <a:p>
            <a:pPr marL="0" indent="0">
              <a:buNone/>
            </a:pPr>
            <a:r>
              <a:rPr lang="en-US" b="1" dirty="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7090" y="0"/>
            <a:ext cx="1815736" cy="1815736"/>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391979261"/>
              </p:ext>
            </p:extLst>
          </p:nvPr>
        </p:nvGraphicFramePr>
        <p:xfrm>
          <a:off x="715189" y="1724365"/>
          <a:ext cx="10761620" cy="5030234"/>
        </p:xfrm>
        <a:graphic>
          <a:graphicData uri="http://schemas.openxmlformats.org/drawingml/2006/table">
            <a:tbl>
              <a:tblPr/>
              <a:tblGrid>
                <a:gridCol w="5316942">
                  <a:extLst>
                    <a:ext uri="{9D8B030D-6E8A-4147-A177-3AD203B41FA5}">
                      <a16:colId xmlns:a16="http://schemas.microsoft.com/office/drawing/2014/main" val="3728391086"/>
                    </a:ext>
                  </a:extLst>
                </a:gridCol>
                <a:gridCol w="5444678">
                  <a:extLst>
                    <a:ext uri="{9D8B030D-6E8A-4147-A177-3AD203B41FA5}">
                      <a16:colId xmlns:a16="http://schemas.microsoft.com/office/drawing/2014/main" val="2441841338"/>
                    </a:ext>
                  </a:extLst>
                </a:gridCol>
              </a:tblGrid>
              <a:tr h="494203">
                <a:tc>
                  <a:txBody>
                    <a:bodyPr/>
                    <a:lstStyle/>
                    <a:p>
                      <a:pPr algn="l" fontAlgn="t">
                        <a:lnSpc>
                          <a:spcPct val="150000"/>
                        </a:lnSpc>
                      </a:pPr>
                      <a:r>
                        <a:rPr lang="en-US" sz="1400" b="1" dirty="0">
                          <a:solidFill>
                            <a:srgbClr val="000000"/>
                          </a:solidFill>
                          <a:effectLst/>
                          <a:latin typeface="Calibri (Body)"/>
                        </a:rPr>
                        <a:t>Docker</a:t>
                      </a:r>
                    </a:p>
                  </a:txBody>
                  <a:tcPr marL="71411" marR="71411" marT="71411" marB="71411">
                    <a:lnL w="9525" cap="flat" cmpd="sng" algn="ctr">
                      <a:solidFill>
                        <a:srgbClr val="40F0DD"/>
                      </a:solidFill>
                      <a:prstDash val="solid"/>
                      <a:round/>
                      <a:headEnd type="none" w="med" len="med"/>
                      <a:tailEnd type="none" w="med" len="med"/>
                    </a:lnL>
                    <a:lnR w="9525" cap="flat" cmpd="sng" algn="ctr">
                      <a:solidFill>
                        <a:srgbClr val="40F0DD"/>
                      </a:solidFill>
                      <a:prstDash val="solid"/>
                      <a:round/>
                      <a:headEnd type="none" w="med" len="med"/>
                      <a:tailEnd type="none" w="med" len="med"/>
                    </a:lnR>
                    <a:lnT w="9525" cap="flat" cmpd="sng" algn="ctr">
                      <a:solidFill>
                        <a:srgbClr val="40F0D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lnSpc>
                          <a:spcPct val="150000"/>
                        </a:lnSpc>
                      </a:pPr>
                      <a:r>
                        <a:rPr lang="en-US" sz="1400" b="1" dirty="0">
                          <a:solidFill>
                            <a:srgbClr val="000000"/>
                          </a:solidFill>
                          <a:effectLst/>
                          <a:latin typeface="Calibri (Body)"/>
                        </a:rPr>
                        <a:t>Kubernetes</a:t>
                      </a:r>
                    </a:p>
                  </a:txBody>
                  <a:tcPr marL="71411" marR="71411" marT="71411" marB="71411">
                    <a:lnL w="9525" cap="flat" cmpd="sng" algn="ctr">
                      <a:solidFill>
                        <a:srgbClr val="40F0DD"/>
                      </a:solidFill>
                      <a:prstDash val="solid"/>
                      <a:round/>
                      <a:headEnd type="none" w="med" len="med"/>
                      <a:tailEnd type="none" w="med" len="med"/>
                    </a:lnL>
                    <a:lnR w="9525" cap="flat" cmpd="sng" algn="ctr">
                      <a:solidFill>
                        <a:srgbClr val="40F0DD"/>
                      </a:solidFill>
                      <a:prstDash val="solid"/>
                      <a:round/>
                      <a:headEnd type="none" w="med" len="med"/>
                      <a:tailEnd type="none" w="med" len="med"/>
                    </a:lnR>
                    <a:lnT w="9525" cap="flat" cmpd="sng" algn="ctr">
                      <a:solidFill>
                        <a:srgbClr val="40F0D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4206860929"/>
                  </a:ext>
                </a:extLst>
              </a:tr>
              <a:tr h="452295">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Docker is developed by </a:t>
                      </a:r>
                      <a:r>
                        <a:rPr lang="en-US" sz="1400" b="1" dirty="0">
                          <a:solidFill>
                            <a:srgbClr val="333333"/>
                          </a:solidFill>
                          <a:effectLst/>
                          <a:latin typeface="Calibri (Body)"/>
                        </a:rPr>
                        <a:t>Docker Inc</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Kubernetes is developed by </a:t>
                      </a:r>
                      <a:r>
                        <a:rPr lang="en-US" sz="1400" b="1" dirty="0">
                          <a:solidFill>
                            <a:srgbClr val="333333"/>
                          </a:solidFill>
                          <a:effectLst/>
                          <a:latin typeface="Calibri (Body)"/>
                        </a:rPr>
                        <a:t>Google</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660840716"/>
                  </a:ext>
                </a:extLst>
              </a:tr>
              <a:tr h="214075">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was first released in </a:t>
                      </a:r>
                      <a:r>
                        <a:rPr lang="en-US" sz="1400" b="1" dirty="0">
                          <a:solidFill>
                            <a:srgbClr val="333333"/>
                          </a:solidFill>
                          <a:effectLst/>
                          <a:latin typeface="Calibri (Body)"/>
                        </a:rPr>
                        <a:t>2013</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was first released in </a:t>
                      </a:r>
                      <a:r>
                        <a:rPr lang="en-US" sz="1400" b="1" dirty="0">
                          <a:solidFill>
                            <a:srgbClr val="333333"/>
                          </a:solidFill>
                          <a:effectLst/>
                          <a:latin typeface="Calibri (Body)"/>
                        </a:rPr>
                        <a:t>2014</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2455871622"/>
                  </a:ext>
                </a:extLst>
              </a:tr>
              <a:tr h="214075">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Docker create containers / Images</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Kubernetes</a:t>
                      </a:r>
                      <a:r>
                        <a:rPr lang="en-US" sz="1400" baseline="0" dirty="0">
                          <a:solidFill>
                            <a:srgbClr val="333333"/>
                          </a:solidFill>
                          <a:effectLst/>
                          <a:latin typeface="Calibri (Body)"/>
                        </a:rPr>
                        <a:t> Create Clusters</a:t>
                      </a:r>
                      <a:endParaRPr lang="en-US" sz="1400" dirty="0">
                        <a:solidFill>
                          <a:srgbClr val="333333"/>
                        </a:solidFill>
                        <a:effectLst/>
                        <a:latin typeface="Calibri (Body)"/>
                      </a:endParaRP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1155972276"/>
                  </a:ext>
                </a:extLst>
              </a:tr>
              <a:tr h="514222">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Container based technology used to create isolated environment for applications.</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is an infrastructure for managing multiple containers.</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1086207339"/>
                  </a:ext>
                </a:extLst>
              </a:tr>
              <a:tr h="404123">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Its public cloud service provider is </a:t>
                      </a:r>
                      <a:r>
                        <a:rPr lang="en-US" sz="1400" b="1" dirty="0">
                          <a:solidFill>
                            <a:srgbClr val="333333"/>
                          </a:solidFill>
                          <a:effectLst/>
                          <a:latin typeface="Calibri (Body)"/>
                        </a:rPr>
                        <a:t>only Azure</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Its public cloud service providers are </a:t>
                      </a:r>
                      <a:r>
                        <a:rPr lang="en-US" sz="1400" b="1" dirty="0">
                          <a:solidFill>
                            <a:srgbClr val="333333"/>
                          </a:solidFill>
                          <a:effectLst/>
                          <a:latin typeface="Calibri (Body)"/>
                        </a:rPr>
                        <a:t>Google</a:t>
                      </a:r>
                      <a:r>
                        <a:rPr lang="en-US" sz="1400" dirty="0">
                          <a:solidFill>
                            <a:srgbClr val="333333"/>
                          </a:solidFill>
                          <a:effectLst/>
                          <a:latin typeface="Calibri (Body)"/>
                        </a:rPr>
                        <a:t>, </a:t>
                      </a:r>
                      <a:r>
                        <a:rPr lang="en-US" sz="1400" b="1" dirty="0">
                          <a:solidFill>
                            <a:srgbClr val="333333"/>
                          </a:solidFill>
                          <a:effectLst/>
                          <a:latin typeface="Calibri (Body)"/>
                        </a:rPr>
                        <a:t>Azure</a:t>
                      </a:r>
                      <a:r>
                        <a:rPr lang="en-US" sz="1400" dirty="0">
                          <a:solidFill>
                            <a:srgbClr val="333333"/>
                          </a:solidFill>
                          <a:effectLst/>
                          <a:latin typeface="Calibri (Body)"/>
                        </a:rPr>
                        <a:t>, and </a:t>
                      </a:r>
                      <a:r>
                        <a:rPr lang="en-US" sz="1400" b="1" dirty="0">
                          <a:solidFill>
                            <a:srgbClr val="333333"/>
                          </a:solidFill>
                          <a:effectLst/>
                          <a:latin typeface="Calibri (Body)"/>
                        </a:rPr>
                        <a:t>AWS</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1620885466"/>
                  </a:ext>
                </a:extLst>
              </a:tr>
              <a:tr h="297846">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is </a:t>
                      </a:r>
                      <a:r>
                        <a:rPr lang="en-US" sz="1400" b="1" dirty="0">
                          <a:solidFill>
                            <a:srgbClr val="333333"/>
                          </a:solidFill>
                          <a:effectLst/>
                          <a:latin typeface="Calibri (Body)"/>
                        </a:rPr>
                        <a:t>less customizable</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is </a:t>
                      </a:r>
                      <a:r>
                        <a:rPr lang="en-US" sz="1400" b="1" dirty="0">
                          <a:solidFill>
                            <a:srgbClr val="333333"/>
                          </a:solidFill>
                          <a:effectLst/>
                          <a:latin typeface="Calibri (Body)"/>
                        </a:rPr>
                        <a:t>highly customizable</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4077711424"/>
                  </a:ext>
                </a:extLst>
              </a:tr>
              <a:tr h="428150">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is </a:t>
                      </a:r>
                      <a:r>
                        <a:rPr lang="en-US" sz="1400" b="1" dirty="0">
                          <a:solidFill>
                            <a:srgbClr val="333333"/>
                          </a:solidFill>
                          <a:effectLst/>
                          <a:latin typeface="Calibri (Body)"/>
                        </a:rPr>
                        <a:t>easy</a:t>
                      </a:r>
                      <a:r>
                        <a:rPr lang="en-US" sz="1400" dirty="0">
                          <a:solidFill>
                            <a:srgbClr val="333333"/>
                          </a:solidFill>
                          <a:effectLst/>
                          <a:latin typeface="Calibri (Body)"/>
                        </a:rPr>
                        <a:t> to install.</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is </a:t>
                      </a:r>
                      <a:r>
                        <a:rPr lang="en-US" sz="1400" b="1" dirty="0">
                          <a:solidFill>
                            <a:srgbClr val="333333"/>
                          </a:solidFill>
                          <a:effectLst/>
                          <a:latin typeface="Calibri (Body)"/>
                        </a:rPr>
                        <a:t>complex</a:t>
                      </a:r>
                      <a:r>
                        <a:rPr lang="en-US" sz="1400" dirty="0">
                          <a:solidFill>
                            <a:srgbClr val="333333"/>
                          </a:solidFill>
                          <a:effectLst/>
                          <a:latin typeface="Calibri (Body)"/>
                        </a:rPr>
                        <a:t> to install.</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3843717001"/>
                  </a:ext>
                </a:extLst>
              </a:tr>
              <a:tr h="428150">
                <a:tc>
                  <a:txBody>
                    <a:bodyPr/>
                    <a:lstStyle/>
                    <a:p>
                      <a:pPr marL="182880" algn="l" fontAlgn="t">
                        <a:lnSpc>
                          <a:spcPct val="150000"/>
                        </a:lnSpc>
                        <a:spcBef>
                          <a:spcPts val="600"/>
                        </a:spcBef>
                        <a:spcAft>
                          <a:spcPts val="600"/>
                        </a:spcAft>
                      </a:pPr>
                      <a:r>
                        <a:rPr lang="en-US" sz="1400">
                          <a:solidFill>
                            <a:srgbClr val="333333"/>
                          </a:solidFill>
                          <a:effectLst/>
                          <a:latin typeface="Calibri (Body)"/>
                        </a:rPr>
                        <a:t>It </a:t>
                      </a:r>
                      <a:r>
                        <a:rPr lang="en-US" sz="1400" b="1">
                          <a:solidFill>
                            <a:srgbClr val="333333"/>
                          </a:solidFill>
                          <a:effectLst/>
                          <a:latin typeface="Calibri (Body)"/>
                        </a:rPr>
                        <a:t>cannot</a:t>
                      </a:r>
                      <a:r>
                        <a:rPr lang="en-US" sz="1400">
                          <a:solidFill>
                            <a:srgbClr val="333333"/>
                          </a:solidFill>
                          <a:effectLst/>
                          <a:latin typeface="Calibri (Body)"/>
                        </a:rPr>
                        <a:t> do </a:t>
                      </a:r>
                      <a:r>
                        <a:rPr lang="en-US" sz="1400" b="1">
                          <a:solidFill>
                            <a:srgbClr val="333333"/>
                          </a:solidFill>
                          <a:effectLst/>
                          <a:latin typeface="Calibri (Body)"/>
                        </a:rPr>
                        <a:t>auto-scaling.</a:t>
                      </a:r>
                      <a:endParaRPr lang="en-US" sz="1400">
                        <a:solidFill>
                          <a:srgbClr val="333333"/>
                        </a:solidFill>
                        <a:effectLst/>
                        <a:latin typeface="Calibri (Body)"/>
                      </a:endParaRP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can </a:t>
                      </a:r>
                      <a:r>
                        <a:rPr lang="en-US" sz="1400" b="1" dirty="0">
                          <a:solidFill>
                            <a:srgbClr val="333333"/>
                          </a:solidFill>
                          <a:effectLst/>
                          <a:latin typeface="Calibri (Body)"/>
                        </a:rPr>
                        <a:t>do auto-scaling</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3301598927"/>
                  </a:ext>
                </a:extLst>
              </a:tr>
              <a:tr h="415860">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a:t>
                      </a:r>
                      <a:r>
                        <a:rPr lang="en-US" sz="1400" b="1" dirty="0">
                          <a:solidFill>
                            <a:srgbClr val="333333"/>
                          </a:solidFill>
                          <a:effectLst/>
                          <a:latin typeface="Calibri (Body)"/>
                        </a:rPr>
                        <a:t>does not</a:t>
                      </a:r>
                      <a:r>
                        <a:rPr lang="en-US" sz="1400" dirty="0">
                          <a:solidFill>
                            <a:srgbClr val="333333"/>
                          </a:solidFill>
                          <a:effectLst/>
                          <a:latin typeface="Calibri (Body)"/>
                        </a:rPr>
                        <a:t> provide any </a:t>
                      </a:r>
                      <a:r>
                        <a:rPr lang="en-US" sz="1400" b="1" dirty="0">
                          <a:solidFill>
                            <a:srgbClr val="333333"/>
                          </a:solidFill>
                          <a:effectLst/>
                          <a:latin typeface="Calibri (Body)"/>
                        </a:rPr>
                        <a:t>dashboard.</a:t>
                      </a:r>
                      <a:endParaRPr lang="en-US" sz="1400" dirty="0">
                        <a:solidFill>
                          <a:srgbClr val="333333"/>
                        </a:solidFill>
                        <a:effectLst/>
                        <a:latin typeface="Calibri (Body)"/>
                      </a:endParaRP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 provides a </a:t>
                      </a:r>
                      <a:r>
                        <a:rPr lang="en-US" sz="1400" b="1" dirty="0">
                          <a:solidFill>
                            <a:srgbClr val="333333"/>
                          </a:solidFill>
                          <a:effectLst/>
                          <a:latin typeface="Calibri (Body)"/>
                        </a:rPr>
                        <a:t>Web UI dashboard</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2137591682"/>
                  </a:ext>
                </a:extLst>
              </a:tr>
              <a:tr h="300251">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Its container limit is </a:t>
                      </a:r>
                      <a:r>
                        <a:rPr lang="en-US" sz="1400" b="1" dirty="0">
                          <a:solidFill>
                            <a:srgbClr val="333333"/>
                          </a:solidFill>
                          <a:effectLst/>
                          <a:latin typeface="Calibri (Body)"/>
                        </a:rPr>
                        <a:t>95000</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tc>
                  <a:txBody>
                    <a:bodyPr/>
                    <a:lstStyle/>
                    <a:p>
                      <a:pPr marL="182880" algn="l" fontAlgn="t">
                        <a:lnSpc>
                          <a:spcPct val="150000"/>
                        </a:lnSpc>
                        <a:spcBef>
                          <a:spcPts val="600"/>
                        </a:spcBef>
                        <a:spcAft>
                          <a:spcPts val="600"/>
                        </a:spcAft>
                      </a:pPr>
                      <a:r>
                        <a:rPr lang="en-US" sz="1400" dirty="0">
                          <a:solidFill>
                            <a:srgbClr val="333333"/>
                          </a:solidFill>
                          <a:effectLst/>
                          <a:latin typeface="Calibri (Body)"/>
                        </a:rPr>
                        <a:t>Its container limit is </a:t>
                      </a:r>
                      <a:r>
                        <a:rPr lang="en-US" sz="1400" b="1" dirty="0">
                          <a:solidFill>
                            <a:srgbClr val="333333"/>
                          </a:solidFill>
                          <a:effectLst/>
                          <a:latin typeface="Calibri (Body)"/>
                        </a:rPr>
                        <a:t>300000</a:t>
                      </a:r>
                      <a:r>
                        <a:rPr lang="en-US" sz="1400" dirty="0">
                          <a:solidFill>
                            <a:srgbClr val="333333"/>
                          </a:solidFill>
                          <a:effectLst/>
                          <a:latin typeface="Calibri (Body)"/>
                        </a:rPr>
                        <a:t>.</a:t>
                      </a:r>
                    </a:p>
                  </a:txBody>
                  <a:tcPr marL="47608" marR="47608" marT="47608" marB="47608">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chemeClr val="bg1"/>
                    </a:solidFill>
                  </a:tcPr>
                </a:tc>
                <a:extLst>
                  <a:ext uri="{0D108BD9-81ED-4DB2-BD59-A6C34878D82A}">
                    <a16:rowId xmlns:a16="http://schemas.microsoft.com/office/drawing/2014/main" val="2435402114"/>
                  </a:ext>
                </a:extLst>
              </a:tr>
            </a:tbl>
          </a:graphicData>
        </a:graphic>
      </p:graphicFrame>
    </p:spTree>
    <p:extLst>
      <p:ext uri="{BB962C8B-B14F-4D97-AF65-F5344CB8AC3E}">
        <p14:creationId xmlns:p14="http://schemas.microsoft.com/office/powerpoint/2010/main" val="1056632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Kubernetes Architecture</a:t>
            </a:r>
          </a:p>
        </p:txBody>
      </p:sp>
      <p:sp>
        <p:nvSpPr>
          <p:cNvPr id="3" name="Content Placeholder 2"/>
          <p:cNvSpPr>
            <a:spLocks noGrp="1"/>
          </p:cNvSpPr>
          <p:nvPr>
            <p:ph idx="1"/>
          </p:nvPr>
        </p:nvSpPr>
        <p:spPr>
          <a:xfrm>
            <a:off x="838199" y="1812561"/>
            <a:ext cx="10761617" cy="4888685"/>
          </a:xfrm>
        </p:spPr>
        <p:txBody>
          <a:bodyPr>
            <a:normAutofit/>
          </a:bodyPr>
          <a:lstStyle/>
          <a:p>
            <a:pPr marL="0" indent="0">
              <a:lnSpc>
                <a:spcPct val="150000"/>
              </a:lnSpc>
              <a:buNone/>
            </a:pPr>
            <a:r>
              <a:rPr lang="en-US" sz="2400" dirty="0"/>
              <a:t>The architecture of Kubernetes actually follows the client-server architecture.</a:t>
            </a:r>
          </a:p>
          <a:p>
            <a:pPr marL="0" indent="0">
              <a:lnSpc>
                <a:spcPct val="150000"/>
              </a:lnSpc>
              <a:buNone/>
            </a:pPr>
            <a:r>
              <a:rPr lang="en-US" sz="2400" dirty="0"/>
              <a:t>It consists of two main components:</a:t>
            </a:r>
          </a:p>
          <a:p>
            <a:pPr>
              <a:lnSpc>
                <a:spcPct val="150000"/>
              </a:lnSpc>
            </a:pPr>
            <a:r>
              <a:rPr lang="en-US" sz="2400" b="1" dirty="0"/>
              <a:t>Master Node (Control Plane)</a:t>
            </a:r>
          </a:p>
          <a:p>
            <a:pPr>
              <a:lnSpc>
                <a:spcPct val="150000"/>
              </a:lnSpc>
            </a:pPr>
            <a:r>
              <a:rPr lang="en-US" sz="2400" b="1" dirty="0"/>
              <a:t>Slave/worker node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3182079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5684" y="261257"/>
            <a:ext cx="10761617" cy="6439989"/>
          </a:xfrm>
        </p:spPr>
        <p:txBody>
          <a:bodyPr>
            <a:normAutofit/>
          </a:bodyPr>
          <a:lstStyle/>
          <a:p>
            <a:pPr marL="457200" lvl="1" indent="0">
              <a:lnSpc>
                <a:spcPct val="150000"/>
              </a:lnSpc>
              <a:buNone/>
            </a:pPr>
            <a:r>
              <a:rPr lang="en-US" sz="3600" b="1" i="1" dirty="0">
                <a:latin typeface="+mj-lt"/>
                <a:ea typeface="+mj-ea"/>
                <a:cs typeface="+mj-cs"/>
              </a:rPr>
              <a:t>Kubernetes Architecture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55734" y="-45718"/>
            <a:ext cx="1815736" cy="181573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6757" y="1272994"/>
            <a:ext cx="7719469" cy="5253384"/>
          </a:xfrm>
          <a:prstGeom prst="rect">
            <a:avLst/>
          </a:prstGeom>
          <a:ln>
            <a:solidFill>
              <a:schemeClr val="accent1">
                <a:lumMod val="40000"/>
                <a:lumOff val="60000"/>
              </a:schemeClr>
            </a:solidFill>
          </a:ln>
        </p:spPr>
      </p:pic>
      <p:sp>
        <p:nvSpPr>
          <p:cNvPr id="7" name="Title 6"/>
          <p:cNvSpPr>
            <a:spLocks noGrp="1"/>
          </p:cNvSpPr>
          <p:nvPr>
            <p:ph type="title"/>
          </p:nvPr>
        </p:nvSpPr>
        <p:spPr>
          <a:xfrm>
            <a:off x="315684" y="6277866"/>
            <a:ext cx="10515600" cy="497024"/>
          </a:xfrm>
        </p:spPr>
        <p:txBody>
          <a:bodyPr>
            <a:normAutofit fontScale="90000"/>
          </a:bodyPr>
          <a:lstStyle/>
          <a:p>
            <a:r>
              <a:rPr lang="en-US" dirty="0"/>
              <a:t> </a:t>
            </a:r>
          </a:p>
        </p:txBody>
      </p:sp>
    </p:spTree>
    <p:extLst>
      <p:ext uri="{BB962C8B-B14F-4D97-AF65-F5344CB8AC3E}">
        <p14:creationId xmlns:p14="http://schemas.microsoft.com/office/powerpoint/2010/main" val="1978010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Key Components of Kubernetes</a:t>
            </a:r>
          </a:p>
        </p:txBody>
      </p:sp>
      <p:sp>
        <p:nvSpPr>
          <p:cNvPr id="3" name="Content Placeholder 2"/>
          <p:cNvSpPr>
            <a:spLocks noGrp="1"/>
          </p:cNvSpPr>
          <p:nvPr>
            <p:ph idx="1"/>
          </p:nvPr>
        </p:nvSpPr>
        <p:spPr>
          <a:xfrm>
            <a:off x="838199" y="1812561"/>
            <a:ext cx="10761617" cy="4888685"/>
          </a:xfrm>
        </p:spPr>
        <p:txBody>
          <a:bodyPr>
            <a:normAutofit lnSpcReduction="10000"/>
          </a:bodyPr>
          <a:lstStyle/>
          <a:p>
            <a:pPr>
              <a:lnSpc>
                <a:spcPct val="100000"/>
              </a:lnSpc>
            </a:pPr>
            <a:r>
              <a:rPr lang="en-US" b="1" dirty="0"/>
              <a:t>Pod</a:t>
            </a:r>
          </a:p>
          <a:p>
            <a:pPr lvl="1">
              <a:lnSpc>
                <a:spcPct val="150000"/>
              </a:lnSpc>
            </a:pPr>
            <a:r>
              <a:rPr lang="en-US" dirty="0"/>
              <a:t>It is the smallest and simplest basic unit of the Kubernetes application. This object indicates the processes which are running in the cluster.</a:t>
            </a:r>
          </a:p>
          <a:p>
            <a:pPr>
              <a:lnSpc>
                <a:spcPct val="100000"/>
              </a:lnSpc>
            </a:pPr>
            <a:r>
              <a:rPr lang="en-US" b="1" dirty="0"/>
              <a:t>Node</a:t>
            </a:r>
          </a:p>
          <a:p>
            <a:pPr lvl="1">
              <a:lnSpc>
                <a:spcPct val="150000"/>
              </a:lnSpc>
            </a:pPr>
            <a:r>
              <a:rPr lang="en-US" dirty="0"/>
              <a:t>A node is nothing but a single host, which is used to run the virtual or physical machines. A node in the Kubernetes cluster is also known as a minion.</a:t>
            </a:r>
          </a:p>
          <a:p>
            <a:r>
              <a:rPr lang="en-US" b="1" dirty="0"/>
              <a:t>Service</a:t>
            </a:r>
          </a:p>
          <a:p>
            <a:pPr lvl="1">
              <a:lnSpc>
                <a:spcPct val="150000"/>
              </a:lnSpc>
            </a:pPr>
            <a:r>
              <a:rPr lang="en-US" dirty="0"/>
              <a:t>A service in a Kubernetes is a logical set of pods, which works together. With the help of services, users can easily manage load balancing configurations.</a:t>
            </a:r>
          </a:p>
          <a:p>
            <a:pPr lvl="1">
              <a:lnSpc>
                <a:spcPct val="150000"/>
              </a:lnSpc>
            </a:pPr>
            <a:endParaRPr lang="en-US" sz="2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1485376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Master Node or Kubernetes Control Plane</a:t>
            </a:r>
          </a:p>
        </p:txBody>
      </p:sp>
      <p:sp>
        <p:nvSpPr>
          <p:cNvPr id="3" name="Content Placeholder 2"/>
          <p:cNvSpPr>
            <a:spLocks noGrp="1"/>
          </p:cNvSpPr>
          <p:nvPr>
            <p:ph idx="1"/>
          </p:nvPr>
        </p:nvSpPr>
        <p:spPr>
          <a:xfrm>
            <a:off x="838199" y="1812561"/>
            <a:ext cx="10761617" cy="4888685"/>
          </a:xfrm>
        </p:spPr>
        <p:txBody>
          <a:bodyPr>
            <a:normAutofit/>
          </a:bodyPr>
          <a:lstStyle/>
          <a:p>
            <a:pPr>
              <a:lnSpc>
                <a:spcPct val="150000"/>
              </a:lnSpc>
            </a:pPr>
            <a:r>
              <a:rPr lang="en-US" sz="2400" dirty="0"/>
              <a:t>The master node in a Kubernetes architecture is used to manage the states of a cluster.</a:t>
            </a:r>
          </a:p>
          <a:p>
            <a:pPr>
              <a:lnSpc>
                <a:spcPct val="150000"/>
              </a:lnSpc>
            </a:pPr>
            <a:r>
              <a:rPr lang="en-US" sz="2400" dirty="0"/>
              <a:t>It is actually an entry point for all types of administrative tasks.</a:t>
            </a:r>
          </a:p>
          <a:p>
            <a:pPr>
              <a:lnSpc>
                <a:spcPct val="150000"/>
              </a:lnSpc>
            </a:pPr>
            <a:r>
              <a:rPr lang="en-US" sz="2400" dirty="0"/>
              <a:t>In the Kubernetes cluster, more than one master node is present for checking the fault tolerance.</a:t>
            </a:r>
            <a:endParaRPr lang="en-US" sz="2400"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2786464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Master Node Components </a:t>
            </a:r>
          </a:p>
        </p:txBody>
      </p:sp>
      <p:sp>
        <p:nvSpPr>
          <p:cNvPr id="3" name="Content Placeholder 2"/>
          <p:cNvSpPr>
            <a:spLocks noGrp="1"/>
          </p:cNvSpPr>
          <p:nvPr>
            <p:ph idx="1"/>
          </p:nvPr>
        </p:nvSpPr>
        <p:spPr>
          <a:xfrm>
            <a:off x="838199" y="1812561"/>
            <a:ext cx="10761617" cy="4888685"/>
          </a:xfrm>
        </p:spPr>
        <p:txBody>
          <a:bodyPr>
            <a:normAutofit fontScale="92500"/>
          </a:bodyPr>
          <a:lstStyle/>
          <a:p>
            <a:r>
              <a:rPr lang="en-US" dirty="0"/>
              <a:t>API Server</a:t>
            </a:r>
          </a:p>
          <a:p>
            <a:pPr lvl="1">
              <a:lnSpc>
                <a:spcPct val="150000"/>
              </a:lnSpc>
            </a:pPr>
            <a:r>
              <a:rPr lang="en-US" sz="2200" dirty="0"/>
              <a:t>The Kubernetes API server receives the REST commands which are sent by the user. After receiving, it validates the REST requests, process, and then executes them. After the execution of REST commands, the resulting state of a cluster is saved in '</a:t>
            </a:r>
            <a:r>
              <a:rPr lang="en-US" sz="2200" b="1" dirty="0" err="1"/>
              <a:t>etcd</a:t>
            </a:r>
            <a:r>
              <a:rPr lang="en-US" sz="2200" dirty="0"/>
              <a:t>' as a distributed key-value store.</a:t>
            </a:r>
          </a:p>
          <a:p>
            <a:r>
              <a:rPr lang="en-US" dirty="0"/>
              <a:t>Scheduler</a:t>
            </a:r>
          </a:p>
          <a:p>
            <a:pPr lvl="1">
              <a:lnSpc>
                <a:spcPct val="160000"/>
              </a:lnSpc>
            </a:pPr>
            <a:r>
              <a:rPr lang="en-US" sz="2200" dirty="0"/>
              <a:t>The scheduler in a master node schedules the tasks to the worker nodes. And, for every worker node, it is used to store the resource usage information.</a:t>
            </a:r>
            <a:br>
              <a:rPr lang="en-US" sz="2200" dirty="0"/>
            </a:br>
            <a:r>
              <a:rPr lang="en-US" sz="2200" dirty="0"/>
              <a:t>In other words, it is a process that is responsible for assigning pods to the available worker nodes.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3596353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Master Node Components (Cont.)</a:t>
            </a:r>
          </a:p>
        </p:txBody>
      </p:sp>
      <p:sp>
        <p:nvSpPr>
          <p:cNvPr id="3" name="Content Placeholder 2"/>
          <p:cNvSpPr>
            <a:spLocks noGrp="1"/>
          </p:cNvSpPr>
          <p:nvPr>
            <p:ph idx="1"/>
          </p:nvPr>
        </p:nvSpPr>
        <p:spPr>
          <a:xfrm>
            <a:off x="838199" y="1227909"/>
            <a:ext cx="10761617" cy="5630091"/>
          </a:xfrm>
        </p:spPr>
        <p:txBody>
          <a:bodyPr>
            <a:normAutofit/>
          </a:bodyPr>
          <a:lstStyle/>
          <a:p>
            <a:r>
              <a:rPr lang="en-US" dirty="0"/>
              <a:t>Controller Manager</a:t>
            </a:r>
          </a:p>
          <a:p>
            <a:pPr lvl="1">
              <a:lnSpc>
                <a:spcPct val="150000"/>
              </a:lnSpc>
            </a:pPr>
            <a:r>
              <a:rPr lang="en-US" sz="2200" dirty="0"/>
              <a:t>The Controller manager is also known as a controller. It is a daemon that executes in the non-terminating control loops. The controllers in a master node perform a task and manage the state of the cluster. In the Kubernetes, the controller manager executes the various types of controllers for handling the nodes, endpoints, etc.</a:t>
            </a:r>
          </a:p>
          <a:p>
            <a:r>
              <a:rPr lang="en-US" dirty="0"/>
              <a:t>ETCD</a:t>
            </a:r>
          </a:p>
          <a:p>
            <a:pPr lvl="1">
              <a:lnSpc>
                <a:spcPct val="150000"/>
              </a:lnSpc>
            </a:pPr>
            <a:r>
              <a:rPr lang="en-US" sz="2200" dirty="0"/>
              <a:t>It is an open-source, simple, distributed key-value storage.</a:t>
            </a:r>
          </a:p>
          <a:p>
            <a:pPr lvl="1">
              <a:lnSpc>
                <a:spcPct val="150000"/>
              </a:lnSpc>
            </a:pPr>
            <a:r>
              <a:rPr lang="en-US" sz="2200" dirty="0"/>
              <a:t>It is used to store the cluster data.</a:t>
            </a:r>
          </a:p>
          <a:p>
            <a:pPr lvl="1">
              <a:lnSpc>
                <a:spcPct val="150000"/>
              </a:lnSpc>
            </a:pPr>
            <a:r>
              <a:rPr lang="en-US" sz="2200" dirty="0"/>
              <a:t>It is a part of a master node which is written in a GO programming language.</a:t>
            </a:r>
          </a:p>
          <a:p>
            <a:pPr lvl="1"/>
            <a:r>
              <a:rPr lang="en-US" sz="1900" dirty="0"/>
              <a:t>(Linux directory structure: In UNIX, all system configuration files for a single system are contained in a folder called “/</a:t>
            </a:r>
            <a:r>
              <a:rPr lang="en-US" sz="1900" dirty="0" err="1"/>
              <a:t>etc</a:t>
            </a:r>
            <a:r>
              <a:rPr lang="en-US" sz="1900" dirty="0"/>
              <a:t>;” </a:t>
            </a:r>
            <a:r>
              <a:rPr lang="en-US" sz="1900" b="1" dirty="0"/>
              <a:t>“d” stands for “distributed.”)</a:t>
            </a:r>
            <a:endParaRPr lang="en-US" sz="1700"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3922905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Worker/Slave node</a:t>
            </a:r>
          </a:p>
        </p:txBody>
      </p:sp>
      <p:sp>
        <p:nvSpPr>
          <p:cNvPr id="3" name="Content Placeholder 2"/>
          <p:cNvSpPr>
            <a:spLocks noGrp="1"/>
          </p:cNvSpPr>
          <p:nvPr>
            <p:ph idx="1"/>
          </p:nvPr>
        </p:nvSpPr>
        <p:spPr>
          <a:xfrm>
            <a:off x="838199" y="1585550"/>
            <a:ext cx="10761617" cy="5050382"/>
          </a:xfrm>
        </p:spPr>
        <p:txBody>
          <a:bodyPr>
            <a:normAutofit/>
          </a:bodyPr>
          <a:lstStyle/>
          <a:p>
            <a:pPr>
              <a:lnSpc>
                <a:spcPct val="150000"/>
              </a:lnSpc>
            </a:pPr>
            <a:r>
              <a:rPr lang="en-US" sz="2400" dirty="0"/>
              <a:t>The Worker node in a Kubernetes is also known as minions.</a:t>
            </a:r>
          </a:p>
          <a:p>
            <a:pPr>
              <a:lnSpc>
                <a:spcPct val="150000"/>
              </a:lnSpc>
            </a:pPr>
            <a:r>
              <a:rPr lang="en-US" sz="2400" dirty="0"/>
              <a:t>A worker node is a physical machine that executes the applications using pods.</a:t>
            </a:r>
          </a:p>
          <a:p>
            <a:pPr>
              <a:lnSpc>
                <a:spcPct val="150000"/>
              </a:lnSpc>
            </a:pPr>
            <a:r>
              <a:rPr lang="en-US" sz="2400" dirty="0"/>
              <a:t>It contains all the essential services which allow a user to assign the resources to the scheduled containers.</a:t>
            </a:r>
            <a:endParaRPr lang="en-US" sz="2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1895678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Worker/Slave components</a:t>
            </a:r>
          </a:p>
        </p:txBody>
      </p:sp>
      <p:sp>
        <p:nvSpPr>
          <p:cNvPr id="3" name="Content Placeholder 2"/>
          <p:cNvSpPr>
            <a:spLocks noGrp="1"/>
          </p:cNvSpPr>
          <p:nvPr>
            <p:ph idx="1"/>
          </p:nvPr>
        </p:nvSpPr>
        <p:spPr>
          <a:xfrm>
            <a:off x="838199" y="1585550"/>
            <a:ext cx="10761617" cy="5050382"/>
          </a:xfrm>
        </p:spPr>
        <p:txBody>
          <a:bodyPr>
            <a:normAutofit/>
          </a:bodyPr>
          <a:lstStyle/>
          <a:p>
            <a:pPr>
              <a:lnSpc>
                <a:spcPct val="150000"/>
              </a:lnSpc>
            </a:pPr>
            <a:r>
              <a:rPr lang="en-US" b="1" dirty="0" err="1"/>
              <a:t>Kubelet</a:t>
            </a:r>
            <a:endParaRPr lang="en-US" b="1" dirty="0"/>
          </a:p>
          <a:p>
            <a:pPr lvl="1">
              <a:lnSpc>
                <a:spcPct val="150000"/>
              </a:lnSpc>
            </a:pPr>
            <a:r>
              <a:rPr lang="en-US" dirty="0"/>
              <a:t>This component is an agent service that executes on each worker node in a cluster.</a:t>
            </a:r>
          </a:p>
          <a:p>
            <a:pPr lvl="1">
              <a:lnSpc>
                <a:spcPct val="150000"/>
              </a:lnSpc>
            </a:pPr>
            <a:r>
              <a:rPr lang="en-US" dirty="0"/>
              <a:t>It ensures that the pods and their containers are running smoothly.</a:t>
            </a:r>
          </a:p>
          <a:p>
            <a:pPr lvl="1">
              <a:lnSpc>
                <a:spcPct val="150000"/>
              </a:lnSpc>
            </a:pPr>
            <a:r>
              <a:rPr lang="en-US" dirty="0"/>
              <a:t>Every </a:t>
            </a:r>
            <a:r>
              <a:rPr lang="en-US" b="1" dirty="0" err="1"/>
              <a:t>kubelet</a:t>
            </a:r>
            <a:r>
              <a:rPr lang="en-US" dirty="0"/>
              <a:t> in each worker node communicates with the master node.</a:t>
            </a:r>
          </a:p>
          <a:p>
            <a:pPr lvl="1">
              <a:lnSpc>
                <a:spcPct val="150000"/>
              </a:lnSpc>
            </a:pPr>
            <a:r>
              <a:rPr lang="en-US" dirty="0"/>
              <a:t>It also starts, stops, and maintains the containers which are organized into pods directly by the master node.</a:t>
            </a:r>
            <a:endParaRPr lang="en-US"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912398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Worker/Slave components (Cont.)</a:t>
            </a:r>
          </a:p>
        </p:txBody>
      </p:sp>
      <p:sp>
        <p:nvSpPr>
          <p:cNvPr id="3" name="Content Placeholder 2"/>
          <p:cNvSpPr>
            <a:spLocks noGrp="1"/>
          </p:cNvSpPr>
          <p:nvPr>
            <p:ph idx="1"/>
          </p:nvPr>
        </p:nvSpPr>
        <p:spPr>
          <a:xfrm>
            <a:off x="838199" y="1585550"/>
            <a:ext cx="10761617" cy="5050382"/>
          </a:xfrm>
        </p:spPr>
        <p:txBody>
          <a:bodyPr>
            <a:normAutofit/>
          </a:bodyPr>
          <a:lstStyle/>
          <a:p>
            <a:r>
              <a:rPr lang="en-US" b="1" dirty="0" err="1"/>
              <a:t>Kube</a:t>
            </a:r>
            <a:r>
              <a:rPr lang="en-US" b="1" dirty="0"/>
              <a:t>-proxy</a:t>
            </a:r>
            <a:endParaRPr lang="en-US" dirty="0"/>
          </a:p>
          <a:p>
            <a:pPr lvl="1">
              <a:lnSpc>
                <a:spcPct val="150000"/>
              </a:lnSpc>
            </a:pPr>
            <a:r>
              <a:rPr lang="en-US" dirty="0"/>
              <a:t>It is a proxy service of Kubernetes, which is executed simply on each worker node in the cluster. </a:t>
            </a:r>
          </a:p>
          <a:p>
            <a:pPr lvl="1">
              <a:lnSpc>
                <a:spcPct val="150000"/>
              </a:lnSpc>
            </a:pPr>
            <a:r>
              <a:rPr lang="en-US" dirty="0"/>
              <a:t>The main aim of this component is request forwarding.</a:t>
            </a:r>
          </a:p>
          <a:p>
            <a:pPr lvl="1">
              <a:lnSpc>
                <a:spcPct val="150000"/>
              </a:lnSpc>
            </a:pPr>
            <a:r>
              <a:rPr lang="en-US" dirty="0"/>
              <a:t>Each node interacts with the Kubernetes services through </a:t>
            </a:r>
            <a:r>
              <a:rPr lang="en-US" b="1" dirty="0" err="1"/>
              <a:t>Kube</a:t>
            </a:r>
            <a:r>
              <a:rPr lang="en-US" b="1" dirty="0"/>
              <a:t>-proxy</a:t>
            </a:r>
            <a:r>
              <a:rPr lang="en-US" dirty="0"/>
              <a:t>.</a:t>
            </a:r>
          </a:p>
          <a:p>
            <a:pPr lvl="1">
              <a:lnSpc>
                <a:spcPct val="150000"/>
              </a:lnSpc>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170940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Worker/Slave components (Cont.)</a:t>
            </a:r>
          </a:p>
        </p:txBody>
      </p:sp>
      <p:sp>
        <p:nvSpPr>
          <p:cNvPr id="3" name="Content Placeholder 2"/>
          <p:cNvSpPr>
            <a:spLocks noGrp="1"/>
          </p:cNvSpPr>
          <p:nvPr>
            <p:ph idx="1"/>
          </p:nvPr>
        </p:nvSpPr>
        <p:spPr>
          <a:xfrm>
            <a:off x="838199" y="1585550"/>
            <a:ext cx="10761617" cy="5050382"/>
          </a:xfrm>
        </p:spPr>
        <p:txBody>
          <a:bodyPr>
            <a:normAutofit/>
          </a:bodyPr>
          <a:lstStyle/>
          <a:p>
            <a:r>
              <a:rPr lang="en-US" b="1" dirty="0"/>
              <a:t>Pods</a:t>
            </a:r>
            <a:endParaRPr lang="en-US" dirty="0"/>
          </a:p>
          <a:p>
            <a:pPr lvl="1">
              <a:lnSpc>
                <a:spcPct val="150000"/>
              </a:lnSpc>
            </a:pPr>
            <a:r>
              <a:rPr lang="en-US" dirty="0"/>
              <a:t>A pod is a combination of one or more containers which logically execute together on nodes. One worker node can easily execute multiple pods.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2049721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Features of Kubernetes</a:t>
            </a:r>
          </a:p>
        </p:txBody>
      </p:sp>
      <p:sp>
        <p:nvSpPr>
          <p:cNvPr id="3" name="Content Placeholder 2"/>
          <p:cNvSpPr>
            <a:spLocks noGrp="1"/>
          </p:cNvSpPr>
          <p:nvPr>
            <p:ph idx="1"/>
          </p:nvPr>
        </p:nvSpPr>
        <p:spPr>
          <a:xfrm>
            <a:off x="838199" y="1585550"/>
            <a:ext cx="10761617" cy="5050382"/>
          </a:xfrm>
        </p:spPr>
        <p:txBody>
          <a:bodyPr>
            <a:normAutofit fontScale="70000" lnSpcReduction="20000"/>
          </a:bodyPr>
          <a:lstStyle/>
          <a:p>
            <a:r>
              <a:rPr lang="en-US" b="1" dirty="0"/>
              <a:t>Pod:</a:t>
            </a:r>
            <a:r>
              <a:rPr lang="en-US" dirty="0"/>
              <a:t> </a:t>
            </a:r>
          </a:p>
          <a:p>
            <a:pPr lvl="1">
              <a:lnSpc>
                <a:spcPct val="170000"/>
              </a:lnSpc>
            </a:pPr>
            <a:r>
              <a:rPr lang="en-US" dirty="0"/>
              <a:t>It is a deployment unit in Kubernetes with a single Internet protocol address.</a:t>
            </a:r>
          </a:p>
          <a:p>
            <a:r>
              <a:rPr lang="en-US" b="1" dirty="0"/>
              <a:t>Horizontal Scaling:</a:t>
            </a:r>
          </a:p>
          <a:p>
            <a:pPr lvl="1">
              <a:lnSpc>
                <a:spcPct val="170000"/>
              </a:lnSpc>
            </a:pPr>
            <a:r>
              <a:rPr lang="en-US" dirty="0"/>
              <a:t>It is an important feature in the Kubernetes. This feature uses a </a:t>
            </a:r>
            <a:r>
              <a:rPr lang="en-US" b="1" dirty="0" err="1"/>
              <a:t>HorizontalPodAutoscalar</a:t>
            </a:r>
            <a:r>
              <a:rPr lang="en-US" dirty="0"/>
              <a:t> to automatically increase or decrease the number of pods in a deployment, replication controller, replica set, or </a:t>
            </a:r>
            <a:r>
              <a:rPr lang="en-US" dirty="0" err="1"/>
              <a:t>statful</a:t>
            </a:r>
            <a:r>
              <a:rPr lang="en-US" dirty="0"/>
              <a:t> set on the basis of observed CPU utilization.</a:t>
            </a:r>
          </a:p>
          <a:p>
            <a:r>
              <a:rPr lang="en-US" b="1" dirty="0"/>
              <a:t>Automatic Bin Packing:</a:t>
            </a:r>
            <a:endParaRPr lang="en-US" dirty="0"/>
          </a:p>
          <a:p>
            <a:pPr lvl="1">
              <a:lnSpc>
                <a:spcPct val="170000"/>
              </a:lnSpc>
            </a:pPr>
            <a:r>
              <a:rPr lang="en-US" dirty="0"/>
              <a:t>Kubernetes helps the user to declare the maximum and minimum resources of computers for their containers.</a:t>
            </a:r>
          </a:p>
          <a:p>
            <a:r>
              <a:rPr lang="en-US" b="1" dirty="0"/>
              <a:t>Service Discovery and load balancing:</a:t>
            </a:r>
          </a:p>
          <a:p>
            <a:pPr lvl="1">
              <a:lnSpc>
                <a:spcPct val="170000"/>
              </a:lnSpc>
            </a:pPr>
            <a:r>
              <a:rPr lang="en-US" dirty="0"/>
              <a:t>Kubernetes assigns the IP addresses and a Name of DNS for a set of containers, and also balances the load across them.</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827288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Features of Kubernetes (Cont.)</a:t>
            </a:r>
          </a:p>
        </p:txBody>
      </p:sp>
      <p:sp>
        <p:nvSpPr>
          <p:cNvPr id="3" name="Content Placeholder 2"/>
          <p:cNvSpPr>
            <a:spLocks noGrp="1"/>
          </p:cNvSpPr>
          <p:nvPr>
            <p:ph idx="1"/>
          </p:nvPr>
        </p:nvSpPr>
        <p:spPr>
          <a:xfrm>
            <a:off x="838199" y="1585550"/>
            <a:ext cx="10761617" cy="5050382"/>
          </a:xfrm>
        </p:spPr>
        <p:txBody>
          <a:bodyPr>
            <a:normAutofit/>
          </a:bodyPr>
          <a:lstStyle/>
          <a:p>
            <a:r>
              <a:rPr lang="en-US" sz="2000" b="1" dirty="0"/>
              <a:t>Persistent Storage:</a:t>
            </a:r>
          </a:p>
          <a:p>
            <a:pPr lvl="1">
              <a:lnSpc>
                <a:spcPct val="150000"/>
              </a:lnSpc>
            </a:pPr>
            <a:r>
              <a:rPr lang="en-US" sz="2000" dirty="0"/>
              <a:t>Kubernetes provides an essential feature called '</a:t>
            </a:r>
            <a:r>
              <a:rPr lang="en-US" sz="2000" b="1" dirty="0"/>
              <a:t>persistent storage'</a:t>
            </a:r>
            <a:r>
              <a:rPr lang="en-US" sz="2000" dirty="0"/>
              <a:t> for storing the data, which cannot be lost after the pod is killed or rescheduled. Kubernetes supports various storage systems for storing the data, such as </a:t>
            </a:r>
            <a:r>
              <a:rPr lang="en-US" sz="2000" b="1" dirty="0"/>
              <a:t>Google Compute Engine's Persistent Disks (GCE PD) or Amazon Elastic Block Storage (EBS).</a:t>
            </a:r>
            <a:r>
              <a:rPr lang="en-US" sz="2000" dirty="0"/>
              <a:t> It also provides the distributed file systems: </a:t>
            </a:r>
            <a:r>
              <a:rPr lang="en-US" sz="2000" b="1" dirty="0"/>
              <a:t>NFS or GFS</a:t>
            </a:r>
            <a:r>
              <a:rPr lang="en-US" sz="2000" dirty="0"/>
              <a:t>.</a:t>
            </a:r>
          </a:p>
          <a:p>
            <a:r>
              <a:rPr lang="en-US" sz="2000" b="1" dirty="0"/>
              <a:t>Self-Healing:</a:t>
            </a:r>
          </a:p>
          <a:p>
            <a:pPr lvl="1">
              <a:lnSpc>
                <a:spcPct val="150000"/>
              </a:lnSpc>
            </a:pPr>
            <a:r>
              <a:rPr lang="en-US" sz="2000" dirty="0"/>
              <a:t>This feature plays an important role in the concept of Kubernetes. Those containers which are failed during the execution process, Kubernetes restarts them automatically. And, those containers which do not reply to the user-defined health check, it stops them from working automatically.</a:t>
            </a:r>
          </a:p>
          <a:p>
            <a:pPr lvl="1">
              <a:lnSpc>
                <a:spcPct val="150000"/>
              </a:lnSpc>
            </a:pP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3115512061"/>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29993"/>
            <a:ext cx="10515600" cy="1325563"/>
          </a:xfrm>
        </p:spPr>
        <p:txBody>
          <a:bodyPr>
            <a:noAutofit/>
          </a:bodyPr>
          <a:lstStyle/>
          <a:p>
            <a:r>
              <a:rPr lang="en-US" sz="3600" b="1" i="1" dirty="0"/>
              <a:t>Features of Kubernetes (Cont.)</a:t>
            </a:r>
          </a:p>
        </p:txBody>
      </p:sp>
      <p:sp>
        <p:nvSpPr>
          <p:cNvPr id="3" name="Content Placeholder 2"/>
          <p:cNvSpPr>
            <a:spLocks noGrp="1"/>
          </p:cNvSpPr>
          <p:nvPr>
            <p:ph idx="1"/>
          </p:nvPr>
        </p:nvSpPr>
        <p:spPr>
          <a:xfrm>
            <a:off x="838199" y="1585550"/>
            <a:ext cx="10761617" cy="5050382"/>
          </a:xfrm>
        </p:spPr>
        <p:txBody>
          <a:bodyPr>
            <a:normAutofit/>
          </a:bodyPr>
          <a:lstStyle/>
          <a:p>
            <a:r>
              <a:rPr lang="en-US" sz="2000" b="1" dirty="0"/>
              <a:t>Automated rollouts and rollbacks:</a:t>
            </a:r>
          </a:p>
          <a:p>
            <a:pPr lvl="1">
              <a:lnSpc>
                <a:spcPct val="170000"/>
              </a:lnSpc>
            </a:pPr>
            <a:r>
              <a:rPr lang="en-US" sz="2000" dirty="0"/>
              <a:t>Using the rollouts, Kubernetes distributes the changes and updates to an application or its configuration. If any problem occurs in the system, then this technique rollbacks those changes for you immediately.</a:t>
            </a:r>
          </a:p>
          <a:p>
            <a:pPr marL="457200" lvl="1" indent="0">
              <a:buNone/>
            </a:pPr>
            <a:endParaRPr lang="en-US" dirty="0"/>
          </a:p>
          <a:p>
            <a:pPr lvl="1">
              <a:lnSpc>
                <a:spcPct val="150000"/>
              </a:lnSpc>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4080" y="0"/>
            <a:ext cx="1815736" cy="1815736"/>
          </a:xfrm>
          <a:prstGeom prst="rect">
            <a:avLst/>
          </a:prstGeom>
        </p:spPr>
      </p:pic>
    </p:spTree>
    <p:extLst>
      <p:ext uri="{BB962C8B-B14F-4D97-AF65-F5344CB8AC3E}">
        <p14:creationId xmlns:p14="http://schemas.microsoft.com/office/powerpoint/2010/main" val="3803879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b="1" i="1" dirty="0"/>
              <a:t>Thanks</a:t>
            </a:r>
            <a:endParaRPr lang="en-US" sz="3600" b="1" i="1" dirty="0"/>
          </a:p>
        </p:txBody>
      </p:sp>
      <p:sp>
        <p:nvSpPr>
          <p:cNvPr id="3" name="Content Placeholder 2"/>
          <p:cNvSpPr>
            <a:spLocks noGrp="1"/>
          </p:cNvSpPr>
          <p:nvPr>
            <p:ph idx="1"/>
          </p:nvPr>
        </p:nvSpPr>
        <p:spPr/>
        <p:txBody>
          <a:bodyPr>
            <a:noAutofit/>
          </a:bodyPr>
          <a:lstStyle/>
          <a:p>
            <a:pPr marL="0" indent="0" algn="ctr">
              <a:buNone/>
            </a:pPr>
            <a:r>
              <a:rPr lang="en-US" sz="23900" dirty="0"/>
              <a:t>…?</a:t>
            </a:r>
          </a:p>
        </p:txBody>
      </p:sp>
    </p:spTree>
    <p:extLst>
      <p:ext uri="{BB962C8B-B14F-4D97-AF65-F5344CB8AC3E}">
        <p14:creationId xmlns:p14="http://schemas.microsoft.com/office/powerpoint/2010/main" val="1702088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4531</TotalTime>
  <Words>1570</Words>
  <Application>Microsoft Office PowerPoint</Application>
  <PresentationFormat>Widescreen</PresentationFormat>
  <Paragraphs>133</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(Body)</vt:lpstr>
      <vt:lpstr>Calibri Light</vt:lpstr>
      <vt:lpstr>Wingdings</vt:lpstr>
      <vt:lpstr>Office Theme</vt:lpstr>
      <vt:lpstr>Kubernetes</vt:lpstr>
      <vt:lpstr>Previous Lecture summary:</vt:lpstr>
      <vt:lpstr>Contents</vt:lpstr>
      <vt:lpstr>Container Orchestration</vt:lpstr>
      <vt:lpstr>Provisioning</vt:lpstr>
      <vt:lpstr>Scaling</vt:lpstr>
      <vt:lpstr>Deployment</vt:lpstr>
      <vt:lpstr>Container Orchestration Tools</vt:lpstr>
      <vt:lpstr>Kubernetes</vt:lpstr>
      <vt:lpstr>Docker vs. Kubernetes</vt:lpstr>
      <vt:lpstr>Docker vs. Kubernetes (Cont.)</vt:lpstr>
      <vt:lpstr>Kubernetes Architecture</vt:lpstr>
      <vt:lpstr> </vt:lpstr>
      <vt:lpstr>Key Components of Kubernetes</vt:lpstr>
      <vt:lpstr>Master Node or Kubernetes Control Plane</vt:lpstr>
      <vt:lpstr>Master Node Components </vt:lpstr>
      <vt:lpstr>Master Node Components (Cont.)</vt:lpstr>
      <vt:lpstr>Worker/Slave node</vt:lpstr>
      <vt:lpstr>Worker/Slave components</vt:lpstr>
      <vt:lpstr>Worker/Slave components (Cont.)</vt:lpstr>
      <vt:lpstr>Worker/Slave components (Cont.)</vt:lpstr>
      <vt:lpstr>Features of Kubernetes</vt:lpstr>
      <vt:lpstr>Features of Kubernetes (Cont.)</vt:lpstr>
      <vt:lpstr>Features of Kubernetes (Cont.)</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Muhammad Hanif</dc:creator>
  <cp:lastModifiedBy>Muhammad Ahmad Nawaz Lecturer FCSE</cp:lastModifiedBy>
  <cp:revision>437</cp:revision>
  <dcterms:created xsi:type="dcterms:W3CDTF">2017-02-21T04:58:17Z</dcterms:created>
  <dcterms:modified xsi:type="dcterms:W3CDTF">2025-04-24T13:48:43Z</dcterms:modified>
</cp:coreProperties>
</file>