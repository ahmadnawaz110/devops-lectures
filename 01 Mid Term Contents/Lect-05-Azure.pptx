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314" r:id="rId2"/>
    <p:sldId id="355" r:id="rId3"/>
    <p:sldId id="324" r:id="rId4"/>
    <p:sldId id="356" r:id="rId5"/>
    <p:sldId id="357" r:id="rId6"/>
    <p:sldId id="359" r:id="rId7"/>
    <p:sldId id="360" r:id="rId8"/>
    <p:sldId id="361" r:id="rId9"/>
    <p:sldId id="362" r:id="rId10"/>
    <p:sldId id="363" r:id="rId11"/>
    <p:sldId id="364" r:id="rId12"/>
    <p:sldId id="365" r:id="rId13"/>
    <p:sldId id="366" r:id="rId14"/>
    <p:sldId id="368" r:id="rId15"/>
    <p:sldId id="369" r:id="rId16"/>
    <p:sldId id="371" r:id="rId17"/>
    <p:sldId id="372" r:id="rId18"/>
    <p:sldId id="373" r:id="rId19"/>
    <p:sldId id="374" r:id="rId20"/>
    <p:sldId id="375" r:id="rId21"/>
    <p:sldId id="376" r:id="rId22"/>
    <p:sldId id="377" r:id="rId23"/>
    <p:sldId id="378" r:id="rId24"/>
    <p:sldId id="379" r:id="rId25"/>
    <p:sldId id="381" r:id="rId26"/>
    <p:sldId id="382" r:id="rId27"/>
    <p:sldId id="383" r:id="rId28"/>
    <p:sldId id="384" r:id="rId29"/>
    <p:sldId id="385" r:id="rId30"/>
    <p:sldId id="386" r:id="rId31"/>
    <p:sldId id="387" r:id="rId32"/>
    <p:sldId id="388" r:id="rId33"/>
    <p:sldId id="389" r:id="rId34"/>
    <p:sldId id="390" r:id="rId35"/>
    <p:sldId id="391" r:id="rId36"/>
    <p:sldId id="392" r:id="rId37"/>
    <p:sldId id="393" r:id="rId38"/>
    <p:sldId id="394" r:id="rId39"/>
    <p:sldId id="395" r:id="rId40"/>
    <p:sldId id="397" r:id="rId41"/>
    <p:sldId id="398" r:id="rId42"/>
    <p:sldId id="304"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1"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8C529-43AD-492C-BD00-7663F000CDBF}" type="datetimeFigureOut">
              <a:rPr lang="en-US" smtClean="0"/>
              <a:t>3/7/2022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5CC1E-72FA-4E57-BA7F-FC1221F7791F}" type="slidenum">
              <a:rPr lang="en-US" smtClean="0"/>
              <a:t>‹#›</a:t>
            </a:fld>
            <a:endParaRPr lang="en-US"/>
          </a:p>
        </p:txBody>
      </p:sp>
    </p:spTree>
    <p:extLst>
      <p:ext uri="{BB962C8B-B14F-4D97-AF65-F5344CB8AC3E}">
        <p14:creationId xmlns:p14="http://schemas.microsoft.com/office/powerpoint/2010/main" val="4125550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83ABFB-0481-4CC5-ABF9-2C4CE9D12409}" type="datetime1">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1221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01DBEC-91FA-447A-8AB9-A8DB16DAAB17}" type="datetime1">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2774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8C943D-2555-4A57-B8EB-75C7F91B71C6}" type="datetime1">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607521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BB08C4-1FBA-4FE5-8D28-8C27B7466E79}" type="datetime1">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20775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E682A9-2A64-4335-8BB6-EA1B5FE288A5}" type="datetime1">
              <a:rPr lang="en-US" smtClean="0"/>
              <a:t>3/7/2022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129466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8C89B2-6DED-445A-9AF5-74F690F84E78}" type="datetime1">
              <a:rPr lang="en-US" smtClean="0"/>
              <a:t>3/7/2022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548225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E7014-808B-4A34-9722-060A0C8B943A}" type="datetime1">
              <a:rPr lang="en-US" smtClean="0"/>
              <a:t>3/7/2022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4276681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158D58-A862-414E-9423-46150B41CA14}" type="datetime1">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78110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8776D00-FA0D-4D29-83D4-DD5A6DDF16E7}" type="datetime1">
              <a:rPr lang="en-US" smtClean="0"/>
              <a:t>3/7/2022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1517779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7A5918-257A-4095-BDEB-73BDDEB4A29E}" type="datetime1">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803771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10D01-121F-4BE4-9A0D-9D74E07BA582}" type="datetime1">
              <a:rPr lang="en-US" smtClean="0"/>
              <a:t>3/7/2022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07678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012F9-413F-48FB-8539-50B5C9E7D155}" type="datetime1">
              <a:rPr lang="en-US" smtClean="0"/>
              <a:t>3/7/2022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25C6B-C1FE-4297-863E-68E85899D6B2}" type="slidenum">
              <a:rPr lang="en-US" smtClean="0"/>
              <a:t>‹#›</a:t>
            </a:fld>
            <a:endParaRPr lang="en-US"/>
          </a:p>
        </p:txBody>
      </p:sp>
    </p:spTree>
    <p:extLst>
      <p:ext uri="{BB962C8B-B14F-4D97-AF65-F5344CB8AC3E}">
        <p14:creationId xmlns:p14="http://schemas.microsoft.com/office/powerpoint/2010/main" val="969021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docs.microsoft.com/en-us/azure/ak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k21academy.com/microsoft-azure/az-303/azure-active-directory-azure-ad/" TargetMode="External"/><Relationship Id="rId2" Type="http://schemas.openxmlformats.org/officeDocument/2006/relationships/hyperlink" Target="https://k21academy.com/docker-kubernetes/rbac-role-based-access-control/"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k21academy.com/microsoft-azure/az-304/virtual-networks-in-microsoft-azure-vnet-peeringexpressroutevpn-gateway/"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0388" y="2913651"/>
            <a:ext cx="9144000" cy="962706"/>
          </a:xfrm>
        </p:spPr>
        <p:txBody>
          <a:bodyPr>
            <a:normAutofit/>
          </a:bodyPr>
          <a:lstStyle/>
          <a:p>
            <a:r>
              <a:rPr lang="en-US" dirty="0" smtClean="0"/>
              <a:t>Lecture-05</a:t>
            </a:r>
            <a:endParaRPr lang="en-US" dirty="0"/>
          </a:p>
        </p:txBody>
      </p:sp>
      <p:sp>
        <p:nvSpPr>
          <p:cNvPr id="3" name="Subtitle 2"/>
          <p:cNvSpPr>
            <a:spLocks noGrp="1"/>
          </p:cNvSpPr>
          <p:nvPr>
            <p:ph type="subTitle" idx="1"/>
          </p:nvPr>
        </p:nvSpPr>
        <p:spPr>
          <a:xfrm>
            <a:off x="1876697" y="3876357"/>
            <a:ext cx="9144000" cy="1655762"/>
          </a:xfrm>
        </p:spPr>
        <p:txBody>
          <a:bodyPr/>
          <a:lstStyle/>
          <a:p>
            <a:r>
              <a:rPr lang="en-US" i="1" dirty="0" smtClean="0"/>
              <a:t> </a:t>
            </a:r>
          </a:p>
        </p:txBody>
      </p:sp>
      <p:sp>
        <p:nvSpPr>
          <p:cNvPr id="4" name="Slide Number Placeholder 3"/>
          <p:cNvSpPr>
            <a:spLocks noGrp="1"/>
          </p:cNvSpPr>
          <p:nvPr>
            <p:ph type="sldNum" sz="quarter" idx="12"/>
          </p:nvPr>
        </p:nvSpPr>
        <p:spPr>
          <a:xfrm>
            <a:off x="8987971" y="6153150"/>
            <a:ext cx="2743200" cy="365125"/>
          </a:xfrm>
        </p:spPr>
        <p:txBody>
          <a:bodyPr/>
          <a:lstStyle/>
          <a:p>
            <a:fld id="{18925C6B-C1FE-4297-863E-68E85899D6B2}" type="slidenum">
              <a:rPr lang="en-US" sz="1600" smtClean="0"/>
              <a:t>1</a:t>
            </a:fld>
            <a:endParaRPr lang="en-US" sz="1600" dirty="0"/>
          </a:p>
        </p:txBody>
      </p:sp>
    </p:spTree>
    <p:extLst>
      <p:ext uri="{BB962C8B-B14F-4D97-AF65-F5344CB8AC3E}">
        <p14:creationId xmlns:p14="http://schemas.microsoft.com/office/powerpoint/2010/main" val="24345833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Previous Lecture summary:</a:t>
            </a:r>
            <a:endParaRPr lang="en-US" sz="4000" b="1" i="1" dirty="0"/>
          </a:p>
        </p:txBody>
      </p:sp>
      <p:sp>
        <p:nvSpPr>
          <p:cNvPr id="3" name="Content Placeholder 2"/>
          <p:cNvSpPr>
            <a:spLocks noGrp="1"/>
          </p:cNvSpPr>
          <p:nvPr>
            <p:ph idx="1"/>
          </p:nvPr>
        </p:nvSpPr>
        <p:spPr>
          <a:xfrm>
            <a:off x="574766" y="1425620"/>
            <a:ext cx="11025049" cy="5103282"/>
          </a:xfrm>
        </p:spPr>
        <p:txBody>
          <a:bodyPr>
            <a:normAutofit lnSpcReduction="10000"/>
          </a:bodyPr>
          <a:lstStyle/>
          <a:p>
            <a:pPr>
              <a:lnSpc>
                <a:spcPct val="150000"/>
              </a:lnSpc>
              <a:buFont typeface="Wingdings" panose="05000000000000000000" pitchFamily="2" charset="2"/>
              <a:buChar char="Ø"/>
            </a:pPr>
            <a:r>
              <a:rPr lang="en-US" sz="2400" b="1" i="1" dirty="0"/>
              <a:t>Container orchestration </a:t>
            </a:r>
            <a:r>
              <a:rPr lang="en-US" sz="2400" dirty="0"/>
              <a:t>automates the provisioning, scaling, deployment, availability, Load-balancing, and lifecycle management of containers.</a:t>
            </a:r>
          </a:p>
          <a:p>
            <a:pPr>
              <a:lnSpc>
                <a:spcPct val="150000"/>
              </a:lnSpc>
              <a:buFont typeface="Wingdings" panose="05000000000000000000" pitchFamily="2" charset="2"/>
              <a:buChar char="Ø"/>
            </a:pPr>
            <a:r>
              <a:rPr lang="en-US" sz="2400" b="1" i="1" dirty="0"/>
              <a:t>Kubernetes</a:t>
            </a:r>
            <a:r>
              <a:rPr lang="en-US" sz="2400" dirty="0"/>
              <a:t> is orchestrates containerized </a:t>
            </a:r>
            <a:r>
              <a:rPr lang="en-US" sz="2400" dirty="0" smtClean="0"/>
              <a:t>tool </a:t>
            </a:r>
            <a:r>
              <a:rPr lang="en-US" sz="2400" dirty="0"/>
              <a:t>to run on a cluster of hosts.</a:t>
            </a:r>
          </a:p>
          <a:p>
            <a:pPr>
              <a:lnSpc>
                <a:spcPct val="150000"/>
              </a:lnSpc>
              <a:buFont typeface="Wingdings" panose="05000000000000000000" pitchFamily="2" charset="2"/>
              <a:buChar char="Ø"/>
            </a:pPr>
            <a:r>
              <a:rPr lang="en-US" sz="2400" dirty="0"/>
              <a:t>A </a:t>
            </a:r>
            <a:r>
              <a:rPr lang="en-US" sz="2400" b="1" i="1" dirty="0"/>
              <a:t>Kubernetes cluster</a:t>
            </a:r>
            <a:r>
              <a:rPr lang="en-US" sz="2400" dirty="0"/>
              <a:t> is a set of nodes that run containerized applications.</a:t>
            </a:r>
          </a:p>
          <a:p>
            <a:pPr>
              <a:lnSpc>
                <a:spcPct val="150000"/>
              </a:lnSpc>
            </a:pPr>
            <a:r>
              <a:rPr lang="en-US" sz="2400" b="1" i="1" dirty="0"/>
              <a:t>Nodes</a:t>
            </a:r>
            <a:r>
              <a:rPr lang="en-US" sz="2400" dirty="0"/>
              <a:t> are VMs or physical servers that host containerized applications</a:t>
            </a:r>
          </a:p>
          <a:p>
            <a:pPr>
              <a:lnSpc>
                <a:spcPct val="150000"/>
              </a:lnSpc>
            </a:pPr>
            <a:r>
              <a:rPr lang="en-US" sz="2400" b="1" i="1" dirty="0"/>
              <a:t>Image Registry: </a:t>
            </a:r>
            <a:r>
              <a:rPr lang="en-US" sz="2400" dirty="0"/>
              <a:t>Container images are kept in the registry and transferred to nodes by the control plane for execution in container pods.</a:t>
            </a:r>
          </a:p>
          <a:p>
            <a:pPr>
              <a:lnSpc>
                <a:spcPct val="150000"/>
              </a:lnSpc>
            </a:pPr>
            <a:r>
              <a:rPr lang="en-US" sz="2400" b="1" i="1" dirty="0" smtClean="0"/>
              <a:t>Pods</a:t>
            </a:r>
            <a:r>
              <a:rPr lang="en-US" sz="2400" dirty="0" smtClean="0"/>
              <a:t> </a:t>
            </a:r>
            <a:r>
              <a:rPr lang="en-US" sz="2400" dirty="0"/>
              <a:t>are where containerized applications run</a:t>
            </a:r>
            <a:r>
              <a:rPr lang="en-US" sz="2400" dirty="0" smtClean="0"/>
              <a:t>.</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a:t>
            </a:fld>
            <a:endParaRPr lang="en-US" dirty="0"/>
          </a:p>
        </p:txBody>
      </p:sp>
    </p:spTree>
    <p:extLst>
      <p:ext uri="{BB962C8B-B14F-4D97-AF65-F5344CB8AC3E}">
        <p14:creationId xmlns:p14="http://schemas.microsoft.com/office/powerpoint/2010/main" val="27602576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314" y="403907"/>
            <a:ext cx="10787742" cy="719500"/>
          </a:xfrm>
        </p:spPr>
        <p:txBody>
          <a:bodyPr>
            <a:normAutofit/>
          </a:bodyPr>
          <a:lstStyle/>
          <a:p>
            <a:pPr algn="l"/>
            <a:r>
              <a:rPr lang="en-US" sz="4000" b="1" i="1" dirty="0"/>
              <a:t>Contents</a:t>
            </a:r>
          </a:p>
        </p:txBody>
      </p:sp>
      <p:sp>
        <p:nvSpPr>
          <p:cNvPr id="3" name="Subtitle 2"/>
          <p:cNvSpPr>
            <a:spLocks noGrp="1"/>
          </p:cNvSpPr>
          <p:nvPr>
            <p:ph type="subTitle" idx="1"/>
          </p:nvPr>
        </p:nvSpPr>
        <p:spPr>
          <a:xfrm>
            <a:off x="827314" y="1435416"/>
            <a:ext cx="10787741" cy="4340182"/>
          </a:xfrm>
        </p:spPr>
        <p:txBody>
          <a:bodyPr>
            <a:noAutofit/>
          </a:bodyPr>
          <a:lstStyle/>
          <a:p>
            <a:pPr marL="342900" indent="-342900" algn="l">
              <a:lnSpc>
                <a:spcPct val="100000"/>
              </a:lnSpc>
              <a:buFont typeface="Arial" panose="020B0604020202020204" pitchFamily="34" charset="0"/>
              <a:buChar char="•"/>
            </a:pPr>
            <a:r>
              <a:rPr lang="en-US" dirty="0" smtClean="0"/>
              <a:t>Cloud Service Providers</a:t>
            </a:r>
          </a:p>
          <a:p>
            <a:pPr marL="342900" indent="-342900" algn="l">
              <a:lnSpc>
                <a:spcPct val="100000"/>
              </a:lnSpc>
              <a:buFont typeface="Arial" panose="020B0604020202020204" pitchFamily="34" charset="0"/>
              <a:buChar char="•"/>
            </a:pPr>
            <a:r>
              <a:rPr lang="en-US" dirty="0" smtClean="0"/>
              <a:t>Microsoft Azure</a:t>
            </a:r>
          </a:p>
          <a:p>
            <a:pPr marL="342900" indent="-342900" algn="l">
              <a:lnSpc>
                <a:spcPct val="100000"/>
              </a:lnSpc>
              <a:buFont typeface="Arial" panose="020B0604020202020204" pitchFamily="34" charset="0"/>
              <a:buChar char="•"/>
            </a:pPr>
            <a:r>
              <a:rPr lang="en-US" dirty="0" smtClean="0"/>
              <a:t>Amazon Web Services (Aws)</a:t>
            </a:r>
          </a:p>
          <a:p>
            <a:pPr marL="342900" indent="-342900" algn="l">
              <a:lnSpc>
                <a:spcPct val="100000"/>
              </a:lnSpc>
              <a:buFont typeface="Arial" panose="020B0604020202020204" pitchFamily="34" charset="0"/>
              <a:buChar char="•"/>
            </a:pPr>
            <a:r>
              <a:rPr lang="en-US" dirty="0" smtClean="0"/>
              <a:t>Google Cloud Platform</a:t>
            </a:r>
          </a:p>
          <a:p>
            <a:pPr marL="342900" indent="-342900" algn="l">
              <a:lnSpc>
                <a:spcPct val="100000"/>
              </a:lnSpc>
              <a:buFont typeface="Arial" panose="020B0604020202020204" pitchFamily="34" charset="0"/>
              <a:buChar char="•"/>
            </a:pPr>
            <a:r>
              <a:rPr lang="en-US" dirty="0"/>
              <a:t>Difference between </a:t>
            </a:r>
            <a:r>
              <a:rPr lang="en-US" dirty="0" smtClean="0"/>
              <a:t>GCP, </a:t>
            </a:r>
            <a:r>
              <a:rPr lang="en-US" dirty="0"/>
              <a:t>AWS and </a:t>
            </a:r>
            <a:r>
              <a:rPr lang="en-US" dirty="0" smtClean="0"/>
              <a:t>Azure</a:t>
            </a:r>
          </a:p>
          <a:p>
            <a:pPr marL="342900" indent="-342900" algn="l">
              <a:lnSpc>
                <a:spcPct val="100000"/>
              </a:lnSpc>
              <a:buFont typeface="Arial" panose="020B0604020202020204" pitchFamily="34" charset="0"/>
              <a:buChar char="•"/>
            </a:pPr>
            <a:r>
              <a:rPr lang="en-US" dirty="0"/>
              <a:t>Automated Deployment To Cloud Azure</a:t>
            </a:r>
          </a:p>
          <a:p>
            <a:pPr marL="342900" indent="-342900" algn="l">
              <a:lnSpc>
                <a:spcPct val="100000"/>
              </a:lnSpc>
              <a:buFont typeface="Arial" panose="020B0604020202020204" pitchFamily="34" charset="0"/>
              <a:buChar char="•"/>
            </a:pPr>
            <a:r>
              <a:rPr lang="en-US" dirty="0"/>
              <a:t>Create Azure Kubernetes Cluster</a:t>
            </a:r>
          </a:p>
        </p:txBody>
      </p:sp>
      <p:sp>
        <p:nvSpPr>
          <p:cNvPr id="4" name="Slide Number Placeholder 3"/>
          <p:cNvSpPr>
            <a:spLocks noGrp="1"/>
          </p:cNvSpPr>
          <p:nvPr>
            <p:ph type="sldNum" sz="quarter" idx="12"/>
          </p:nvPr>
        </p:nvSpPr>
        <p:spPr>
          <a:xfrm>
            <a:off x="8871855" y="6087608"/>
            <a:ext cx="2743200" cy="365125"/>
          </a:xfrm>
        </p:spPr>
        <p:txBody>
          <a:bodyPr/>
          <a:lstStyle/>
          <a:p>
            <a:fld id="{18925C6B-C1FE-4297-863E-68E85899D6B2}" type="slidenum">
              <a:rPr lang="en-US" smtClean="0"/>
              <a:t>3</a:t>
            </a:fld>
            <a:endParaRPr lang="en-US" dirty="0"/>
          </a:p>
        </p:txBody>
      </p:sp>
    </p:spTree>
    <p:extLst>
      <p:ext uri="{BB962C8B-B14F-4D97-AF65-F5344CB8AC3E}">
        <p14:creationId xmlns:p14="http://schemas.microsoft.com/office/powerpoint/2010/main" val="38819609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Cloud Service </a:t>
            </a:r>
            <a:r>
              <a:rPr lang="en-US" sz="4000" b="1" i="1" dirty="0" smtClean="0"/>
              <a:t>Providers</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400" dirty="0" smtClean="0"/>
              <a:t>Cloud </a:t>
            </a:r>
            <a:r>
              <a:rPr lang="en-US" sz="2400" dirty="0"/>
              <a:t>Service providers (CSP) offers various services such </a:t>
            </a:r>
            <a:r>
              <a:rPr lang="en-US" sz="2400" dirty="0" smtClean="0"/>
              <a:t>as:</a:t>
            </a:r>
          </a:p>
          <a:p>
            <a:pPr lvl="1">
              <a:lnSpc>
                <a:spcPct val="150000"/>
              </a:lnSpc>
              <a:buFont typeface="Wingdings" panose="05000000000000000000" pitchFamily="2" charset="2"/>
              <a:buChar char="Ø"/>
            </a:pPr>
            <a:r>
              <a:rPr lang="en-US" sz="1800" b="1" i="1" dirty="0" smtClean="0"/>
              <a:t>Software as a Service</a:t>
            </a:r>
            <a:endParaRPr lang="en-US" sz="1800" i="1" dirty="0" smtClean="0"/>
          </a:p>
          <a:p>
            <a:pPr lvl="1">
              <a:lnSpc>
                <a:spcPct val="150000"/>
              </a:lnSpc>
              <a:buFont typeface="Wingdings" panose="05000000000000000000" pitchFamily="2" charset="2"/>
              <a:buChar char="Ø"/>
            </a:pPr>
            <a:r>
              <a:rPr lang="en-US" sz="1800" b="1" i="1" dirty="0" smtClean="0"/>
              <a:t>Platform as a service</a:t>
            </a:r>
          </a:p>
          <a:p>
            <a:pPr lvl="1">
              <a:lnSpc>
                <a:spcPct val="150000"/>
              </a:lnSpc>
              <a:buFont typeface="Wingdings" panose="05000000000000000000" pitchFamily="2" charset="2"/>
              <a:buChar char="Ø"/>
            </a:pPr>
            <a:r>
              <a:rPr lang="en-US" sz="1800" b="1" i="1" dirty="0" smtClean="0"/>
              <a:t>Infrastructure as a service</a:t>
            </a:r>
          </a:p>
          <a:p>
            <a:pPr lvl="1">
              <a:lnSpc>
                <a:spcPct val="150000"/>
              </a:lnSpc>
              <a:buFont typeface="Wingdings" panose="05000000000000000000" pitchFamily="2" charset="2"/>
              <a:buChar char="Ø"/>
            </a:pPr>
            <a:r>
              <a:rPr lang="en-US" sz="1800" b="1" i="1" dirty="0" smtClean="0"/>
              <a:t>Network services</a:t>
            </a:r>
          </a:p>
          <a:p>
            <a:pPr lvl="1">
              <a:lnSpc>
                <a:spcPct val="150000"/>
              </a:lnSpc>
              <a:buFont typeface="Wingdings" panose="05000000000000000000" pitchFamily="2" charset="2"/>
              <a:buChar char="Ø"/>
            </a:pPr>
            <a:r>
              <a:rPr lang="en-US" sz="1800" b="1" i="1" dirty="0" smtClean="0"/>
              <a:t>Servers and data storage  </a:t>
            </a:r>
          </a:p>
          <a:p>
            <a:pPr>
              <a:lnSpc>
                <a:spcPct val="150000"/>
              </a:lnSpc>
              <a:buFont typeface="Wingdings" panose="05000000000000000000" pitchFamily="2" charset="2"/>
              <a:buChar char="Ø"/>
            </a:pPr>
            <a:r>
              <a:rPr lang="en-US" sz="2400" dirty="0" smtClean="0"/>
              <a:t>The </a:t>
            </a:r>
            <a:r>
              <a:rPr lang="en-US" sz="2400" dirty="0"/>
              <a:t>cloud service providers host these services in a data </a:t>
            </a:r>
            <a:r>
              <a:rPr lang="en-US" sz="2400" dirty="0" smtClean="0"/>
              <a:t>center.</a:t>
            </a:r>
          </a:p>
          <a:p>
            <a:pPr>
              <a:lnSpc>
                <a:spcPct val="150000"/>
              </a:lnSpc>
              <a:buFont typeface="Wingdings" panose="05000000000000000000" pitchFamily="2" charset="2"/>
              <a:buChar char="Ø"/>
            </a:pPr>
            <a:r>
              <a:rPr lang="en-US" sz="2400" dirty="0" smtClean="0"/>
              <a:t>Users </a:t>
            </a:r>
            <a:r>
              <a:rPr lang="en-US" sz="2400" dirty="0"/>
              <a:t>can access these services through cloud provider companies using an Internet connection.</a:t>
            </a:r>
            <a:endParaRPr lang="en-US" sz="3600" b="1" i="1" dirty="0">
              <a:latin typeface="+mj-lt"/>
              <a:ea typeface="+mj-ea"/>
              <a:cs typeface="+mj-cs"/>
            </a:endParaRP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a:t>
            </a:fld>
            <a:endParaRPr lang="en-US" dirty="0"/>
          </a:p>
        </p:txBody>
      </p:sp>
    </p:spTree>
    <p:extLst>
      <p:ext uri="{BB962C8B-B14F-4D97-AF65-F5344CB8AC3E}">
        <p14:creationId xmlns:p14="http://schemas.microsoft.com/office/powerpoint/2010/main" val="2146838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Cloud Service </a:t>
            </a:r>
            <a:r>
              <a:rPr lang="en-US" sz="4000" b="1" i="1" dirty="0" smtClean="0"/>
              <a:t>Providers (Cont.)</a:t>
            </a:r>
            <a:endParaRPr lang="en-US" sz="4000" b="1" i="1" dirty="0"/>
          </a:p>
        </p:txBody>
      </p:sp>
      <p:sp>
        <p:nvSpPr>
          <p:cNvPr id="3" name="Content Placeholder 2"/>
          <p:cNvSpPr>
            <a:spLocks noGrp="1"/>
          </p:cNvSpPr>
          <p:nvPr>
            <p:ph idx="1"/>
          </p:nvPr>
        </p:nvSpPr>
        <p:spPr>
          <a:xfrm>
            <a:off x="574766" y="1425620"/>
            <a:ext cx="11025049" cy="5103282"/>
          </a:xfrm>
        </p:spPr>
        <p:txBody>
          <a:bodyPr>
            <a:normAutofit/>
          </a:bodyPr>
          <a:lstStyle/>
          <a:p>
            <a:pPr>
              <a:lnSpc>
                <a:spcPct val="150000"/>
              </a:lnSpc>
              <a:buFont typeface="Wingdings" panose="05000000000000000000" pitchFamily="2" charset="2"/>
              <a:buChar char="Ø"/>
            </a:pPr>
            <a:r>
              <a:rPr lang="en-US" sz="2400" dirty="0" smtClean="0"/>
              <a:t>Cloud </a:t>
            </a:r>
            <a:r>
              <a:rPr lang="en-US" sz="2400" dirty="0"/>
              <a:t>Service Providers Companies -</a:t>
            </a:r>
            <a:endParaRPr lang="en-US" sz="2400" dirty="0" smtClean="0"/>
          </a:p>
          <a:p>
            <a:pPr lvl="1">
              <a:lnSpc>
                <a:spcPct val="150000"/>
              </a:lnSpc>
            </a:pPr>
            <a:r>
              <a:rPr lang="en-US" sz="2000" b="1" i="1" dirty="0"/>
              <a:t>Microsoft Azure</a:t>
            </a:r>
          </a:p>
          <a:p>
            <a:pPr lvl="1">
              <a:lnSpc>
                <a:spcPct val="150000"/>
              </a:lnSpc>
            </a:pPr>
            <a:r>
              <a:rPr lang="en-US" sz="2000" b="1" i="1" dirty="0" smtClean="0"/>
              <a:t>Amazon </a:t>
            </a:r>
            <a:r>
              <a:rPr lang="en-US" sz="2000" b="1" i="1" dirty="0"/>
              <a:t>Web Services (</a:t>
            </a:r>
            <a:r>
              <a:rPr lang="en-US" sz="2000" b="1" i="1" dirty="0" smtClean="0"/>
              <a:t>AWS)</a:t>
            </a:r>
          </a:p>
          <a:p>
            <a:pPr lvl="1">
              <a:lnSpc>
                <a:spcPct val="150000"/>
              </a:lnSpc>
            </a:pPr>
            <a:r>
              <a:rPr lang="en-US" sz="2000" b="1" i="1" dirty="0" smtClean="0"/>
              <a:t>Google </a:t>
            </a:r>
            <a:r>
              <a:rPr lang="en-US" sz="2000" b="1" i="1" dirty="0"/>
              <a:t>Cloud </a:t>
            </a:r>
            <a:r>
              <a:rPr lang="en-US" sz="2000" b="1" i="1" dirty="0" smtClean="0"/>
              <a:t>Platform</a:t>
            </a:r>
          </a:p>
          <a:p>
            <a:pPr lvl="1">
              <a:lnSpc>
                <a:spcPct val="150000"/>
              </a:lnSpc>
            </a:pPr>
            <a:r>
              <a:rPr lang="en-US" sz="2000" b="1" i="1" dirty="0" smtClean="0"/>
              <a:t>Alibaba Cloud, </a:t>
            </a:r>
            <a:r>
              <a:rPr lang="en-US" sz="1800" dirty="0" smtClean="0">
                <a:solidFill>
                  <a:srgbClr val="FF0000"/>
                </a:solidFill>
              </a:rPr>
              <a:t>and </a:t>
            </a:r>
            <a:r>
              <a:rPr lang="en-US" sz="1800" dirty="0">
                <a:solidFill>
                  <a:srgbClr val="FF0000"/>
                </a:solidFill>
              </a:rPr>
              <a:t>Many More</a:t>
            </a:r>
            <a:r>
              <a:rPr lang="en-US" sz="1800" dirty="0" smtClean="0">
                <a:solidFill>
                  <a:srgbClr val="FF0000"/>
                </a:solidFill>
              </a:rPr>
              <a:t>.</a:t>
            </a:r>
            <a:endParaRPr lang="en-US" sz="2000" i="1"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5</a:t>
            </a:fld>
            <a:endParaRPr lang="en-US" dirty="0"/>
          </a:p>
        </p:txBody>
      </p:sp>
    </p:spTree>
    <p:extLst>
      <p:ext uri="{BB962C8B-B14F-4D97-AF65-F5344CB8AC3E}">
        <p14:creationId xmlns:p14="http://schemas.microsoft.com/office/powerpoint/2010/main" val="4850695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Microsoft Azure</a:t>
            </a:r>
            <a:endParaRPr lang="en-US" sz="4000" b="1" i="1" dirty="0"/>
          </a:p>
        </p:txBody>
      </p:sp>
      <p:sp>
        <p:nvSpPr>
          <p:cNvPr id="3" name="Content Placeholder 2"/>
          <p:cNvSpPr>
            <a:spLocks noGrp="1"/>
          </p:cNvSpPr>
          <p:nvPr>
            <p:ph idx="1"/>
          </p:nvPr>
        </p:nvSpPr>
        <p:spPr>
          <a:xfrm>
            <a:off x="574765" y="1325819"/>
            <a:ext cx="11025049" cy="5466866"/>
          </a:xfrm>
        </p:spPr>
        <p:txBody>
          <a:bodyPr>
            <a:normAutofit/>
          </a:bodyPr>
          <a:lstStyle/>
          <a:p>
            <a:pPr>
              <a:lnSpc>
                <a:spcPct val="150000"/>
              </a:lnSpc>
            </a:pPr>
            <a:r>
              <a:rPr lang="en-US" sz="2400" dirty="0"/>
              <a:t>Azure is a cloud computing platform that can provide everything a business needs to run all or part of its computing operations virtually—including servers, storage, databases, networking, analytics and more.</a:t>
            </a:r>
          </a:p>
          <a:p>
            <a:pPr>
              <a:lnSpc>
                <a:spcPct val="150000"/>
              </a:lnSpc>
            </a:pPr>
            <a:r>
              <a:rPr lang="en-US" sz="2400" dirty="0"/>
              <a:t>It helps the organizations in building, testing, deploying, and managing applications and services through Microsoft-managed data centers.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6</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8216" y="2900"/>
            <a:ext cx="1541416" cy="1541416"/>
          </a:xfrm>
          <a:prstGeom prst="rect">
            <a:avLst/>
          </a:prstGeom>
        </p:spPr>
      </p:pic>
    </p:spTree>
    <p:extLst>
      <p:ext uri="{BB962C8B-B14F-4D97-AF65-F5344CB8AC3E}">
        <p14:creationId xmlns:p14="http://schemas.microsoft.com/office/powerpoint/2010/main" val="32608648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Features </a:t>
            </a:r>
            <a:r>
              <a:rPr lang="en-US" sz="4000" b="1" i="1" dirty="0"/>
              <a:t>of Microsoft Azure</a:t>
            </a:r>
          </a:p>
        </p:txBody>
      </p:sp>
      <p:sp>
        <p:nvSpPr>
          <p:cNvPr id="3" name="Content Placeholder 2"/>
          <p:cNvSpPr>
            <a:spLocks noGrp="1"/>
          </p:cNvSpPr>
          <p:nvPr>
            <p:ph idx="1"/>
          </p:nvPr>
        </p:nvSpPr>
        <p:spPr>
          <a:xfrm>
            <a:off x="574765" y="1325819"/>
            <a:ext cx="11025049" cy="5466866"/>
          </a:xfrm>
        </p:spPr>
        <p:txBody>
          <a:bodyPr>
            <a:normAutofit/>
          </a:bodyPr>
          <a:lstStyle/>
          <a:p>
            <a:pPr>
              <a:lnSpc>
                <a:spcPct val="150000"/>
              </a:lnSpc>
            </a:pPr>
            <a:r>
              <a:rPr lang="en-US" sz="2400" dirty="0" smtClean="0"/>
              <a:t>Microsoft </a:t>
            </a:r>
            <a:r>
              <a:rPr lang="en-US" sz="2400" dirty="0"/>
              <a:t>Azure provides </a:t>
            </a:r>
            <a:r>
              <a:rPr lang="en-US" sz="2400" b="1" dirty="0"/>
              <a:t>scalable</a:t>
            </a:r>
            <a:r>
              <a:rPr lang="en-US" sz="2400" dirty="0"/>
              <a:t>, </a:t>
            </a:r>
            <a:r>
              <a:rPr lang="en-US" sz="2400" b="1" dirty="0"/>
              <a:t>flexible</a:t>
            </a:r>
            <a:r>
              <a:rPr lang="en-US" sz="2400" dirty="0"/>
              <a:t>, and </a:t>
            </a:r>
            <a:r>
              <a:rPr lang="en-US" sz="2400" b="1" dirty="0"/>
              <a:t>cost-effective</a:t>
            </a:r>
            <a:endParaRPr lang="en-US" sz="2400" dirty="0"/>
          </a:p>
          <a:p>
            <a:pPr>
              <a:lnSpc>
                <a:spcPct val="150000"/>
              </a:lnSpc>
            </a:pPr>
            <a:r>
              <a:rPr lang="en-US" sz="2400" dirty="0"/>
              <a:t>It allows developers to quickly manage applications and websites.</a:t>
            </a:r>
          </a:p>
          <a:p>
            <a:pPr>
              <a:lnSpc>
                <a:spcPct val="150000"/>
              </a:lnSpc>
            </a:pPr>
            <a:r>
              <a:rPr lang="en-US" sz="2400" dirty="0"/>
              <a:t>It managed each resource individually.</a:t>
            </a:r>
          </a:p>
          <a:p>
            <a:pPr>
              <a:lnSpc>
                <a:spcPct val="150000"/>
              </a:lnSpc>
            </a:pPr>
            <a:r>
              <a:rPr lang="en-US" sz="2400" dirty="0"/>
              <a:t>Its IaaS infrastructure allows us to launch a general-purpose virtual machine in different platforms such as Windows and Linux.</a:t>
            </a:r>
          </a:p>
          <a:p>
            <a:pPr>
              <a:lnSpc>
                <a:spcPct val="150000"/>
              </a:lnSpc>
            </a:pPr>
            <a:r>
              <a:rPr lang="en-US" sz="2400" dirty="0"/>
              <a:t>It offers a </a:t>
            </a:r>
            <a:r>
              <a:rPr lang="en-US" sz="2400" b="1" dirty="0"/>
              <a:t>Content Delivery System (CDS)</a:t>
            </a:r>
            <a:r>
              <a:rPr lang="en-US" sz="2400" dirty="0"/>
              <a:t> for delivering the Images, videos, audios, and applications</a:t>
            </a:r>
            <a:r>
              <a:rPr lang="en-US" sz="2400" dirty="0" smtClean="0"/>
              <a:t>.</a:t>
            </a:r>
            <a:endParaRPr lang="en-US" sz="2000" i="1"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7</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8216" y="2900"/>
            <a:ext cx="1541416" cy="1541416"/>
          </a:xfrm>
          <a:prstGeom prst="rect">
            <a:avLst/>
          </a:prstGeom>
        </p:spPr>
      </p:pic>
    </p:spTree>
    <p:extLst>
      <p:ext uri="{BB962C8B-B14F-4D97-AF65-F5344CB8AC3E}">
        <p14:creationId xmlns:p14="http://schemas.microsoft.com/office/powerpoint/2010/main" val="17984719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Amazon </a:t>
            </a:r>
            <a:r>
              <a:rPr lang="en-US" sz="4000" b="1" i="1" dirty="0"/>
              <a:t>Web Services (AWS)</a:t>
            </a:r>
          </a:p>
        </p:txBody>
      </p:sp>
      <p:sp>
        <p:nvSpPr>
          <p:cNvPr id="3" name="Content Placeholder 2"/>
          <p:cNvSpPr>
            <a:spLocks noGrp="1"/>
          </p:cNvSpPr>
          <p:nvPr>
            <p:ph idx="1"/>
          </p:nvPr>
        </p:nvSpPr>
        <p:spPr>
          <a:xfrm>
            <a:off x="574766" y="1865461"/>
            <a:ext cx="11025049" cy="4506685"/>
          </a:xfrm>
        </p:spPr>
        <p:txBody>
          <a:bodyPr>
            <a:normAutofit/>
          </a:bodyPr>
          <a:lstStyle/>
          <a:p>
            <a:pPr>
              <a:lnSpc>
                <a:spcPct val="160000"/>
              </a:lnSpc>
            </a:pPr>
            <a:r>
              <a:rPr lang="en-US" sz="2400" dirty="0" smtClean="0"/>
              <a:t>AWS (Amazon </a:t>
            </a:r>
            <a:r>
              <a:rPr lang="en-US" sz="2400" dirty="0"/>
              <a:t>Web Services) is a </a:t>
            </a:r>
            <a:r>
              <a:rPr lang="en-US" sz="2400" b="1" dirty="0"/>
              <a:t>secure cloud service platform</a:t>
            </a:r>
            <a:r>
              <a:rPr lang="en-US" sz="2400" dirty="0"/>
              <a:t> provided by </a:t>
            </a:r>
            <a:r>
              <a:rPr lang="en-US" sz="2400" b="1" dirty="0" smtClean="0"/>
              <a:t>Amazon</a:t>
            </a:r>
            <a:r>
              <a:rPr lang="en-US" sz="2400" dirty="0" smtClean="0"/>
              <a:t>.</a:t>
            </a:r>
          </a:p>
          <a:p>
            <a:pPr>
              <a:lnSpc>
                <a:spcPct val="160000"/>
              </a:lnSpc>
            </a:pPr>
            <a:r>
              <a:rPr lang="en-US" sz="2400" dirty="0" smtClean="0"/>
              <a:t>It </a:t>
            </a:r>
            <a:r>
              <a:rPr lang="en-US" sz="2400" dirty="0"/>
              <a:t>offers various services such as database storage, computing power, content delivery, Relational Database, Simple Email, </a:t>
            </a:r>
            <a:r>
              <a:rPr lang="en-US" sz="2400" dirty="0" smtClean="0"/>
              <a:t>and </a:t>
            </a:r>
            <a:r>
              <a:rPr lang="en-US" sz="2400" dirty="0"/>
              <a:t>other functionality to increase the organization's growth</a:t>
            </a:r>
            <a:r>
              <a:rPr lang="en-US" sz="2400" dirty="0" smtClean="0"/>
              <a:t>.</a:t>
            </a:r>
          </a:p>
          <a:p>
            <a:pPr>
              <a:lnSpc>
                <a:spcPct val="160000"/>
              </a:lnSpc>
            </a:pPr>
            <a:r>
              <a:rPr lang="en-US" sz="2400" dirty="0"/>
              <a:t>AWS </a:t>
            </a:r>
            <a:r>
              <a:rPr lang="en-US" sz="2400" dirty="0" smtClean="0"/>
              <a:t>EC2 (</a:t>
            </a:r>
            <a:r>
              <a:rPr lang="en-US" sz="2400" dirty="0"/>
              <a:t>Elastic Compute Cloud</a:t>
            </a:r>
            <a:r>
              <a:rPr lang="en-US" sz="2400" dirty="0" smtClean="0"/>
              <a:t>) </a:t>
            </a:r>
            <a:r>
              <a:rPr lang="en-US" sz="2400" dirty="0"/>
              <a:t>offers core compute services.</a:t>
            </a:r>
          </a:p>
          <a:p>
            <a:pPr>
              <a:lnSpc>
                <a:spcPct val="160000"/>
              </a:lnSpc>
            </a:pPr>
            <a:r>
              <a:rPr lang="en-US" sz="2400" dirty="0" smtClean="0"/>
              <a:t>Amazon </a:t>
            </a:r>
            <a:r>
              <a:rPr lang="en-US" sz="2400" dirty="0"/>
              <a:t>EC2 is a web service that provides resizable compute capacity in the cloud</a:t>
            </a:r>
            <a:r>
              <a:rPr lang="en-US" sz="2400" dirty="0" smtClean="0"/>
              <a:t>.</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8</a:t>
            </a:fld>
            <a:endParaRPr 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5257" t="14629" r="4572" b="18934"/>
          <a:stretch/>
        </p:blipFill>
        <p:spPr>
          <a:xfrm>
            <a:off x="8756467" y="0"/>
            <a:ext cx="3435533" cy="1423852"/>
          </a:xfrm>
          <a:prstGeom prst="rect">
            <a:avLst/>
          </a:prstGeom>
        </p:spPr>
      </p:pic>
    </p:spTree>
    <p:extLst>
      <p:ext uri="{BB962C8B-B14F-4D97-AF65-F5344CB8AC3E}">
        <p14:creationId xmlns:p14="http://schemas.microsoft.com/office/powerpoint/2010/main" val="41297587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Features </a:t>
            </a:r>
            <a:r>
              <a:rPr lang="en-US" sz="4000" b="1" i="1" dirty="0"/>
              <a:t>of AWS</a:t>
            </a:r>
          </a:p>
        </p:txBody>
      </p:sp>
      <p:sp>
        <p:nvSpPr>
          <p:cNvPr id="3" name="Content Placeholder 2"/>
          <p:cNvSpPr>
            <a:spLocks noGrp="1"/>
          </p:cNvSpPr>
          <p:nvPr>
            <p:ph idx="1"/>
          </p:nvPr>
        </p:nvSpPr>
        <p:spPr>
          <a:xfrm>
            <a:off x="574765" y="1325819"/>
            <a:ext cx="11025049" cy="5466866"/>
          </a:xfrm>
        </p:spPr>
        <p:txBody>
          <a:bodyPr>
            <a:normAutofit lnSpcReduction="10000"/>
          </a:bodyPr>
          <a:lstStyle/>
          <a:p>
            <a:pPr>
              <a:lnSpc>
                <a:spcPct val="200000"/>
              </a:lnSpc>
            </a:pPr>
            <a:r>
              <a:rPr lang="en-US" sz="2400" dirty="0" smtClean="0"/>
              <a:t>AWS </a:t>
            </a:r>
            <a:r>
              <a:rPr lang="en-US" sz="2400" dirty="0"/>
              <a:t>is </a:t>
            </a:r>
            <a:r>
              <a:rPr lang="en-US" sz="2400" b="1" dirty="0"/>
              <a:t>scalable</a:t>
            </a:r>
            <a:r>
              <a:rPr lang="en-US" sz="2400" dirty="0"/>
              <a:t> because it has an ability to scale the computing resources up or down according to the organization's demand.</a:t>
            </a:r>
          </a:p>
          <a:p>
            <a:pPr>
              <a:lnSpc>
                <a:spcPct val="200000"/>
              </a:lnSpc>
            </a:pPr>
            <a:r>
              <a:rPr lang="en-US" sz="2400" dirty="0"/>
              <a:t>AWS is </a:t>
            </a:r>
            <a:r>
              <a:rPr lang="en-US" sz="2400" b="1" dirty="0"/>
              <a:t>cost-effective</a:t>
            </a:r>
            <a:r>
              <a:rPr lang="en-US" sz="2400" dirty="0"/>
              <a:t> as it works on a </a:t>
            </a:r>
            <a:r>
              <a:rPr lang="en-US" sz="2400" b="1" dirty="0"/>
              <a:t>pay-as-you-go</a:t>
            </a:r>
            <a:r>
              <a:rPr lang="en-US" sz="2400" dirty="0"/>
              <a:t> pricing model.</a:t>
            </a:r>
          </a:p>
          <a:p>
            <a:pPr>
              <a:lnSpc>
                <a:spcPct val="200000"/>
              </a:lnSpc>
            </a:pPr>
            <a:r>
              <a:rPr lang="en-US" sz="2400" dirty="0"/>
              <a:t>It provides various flexible storage options.</a:t>
            </a:r>
          </a:p>
          <a:p>
            <a:pPr>
              <a:lnSpc>
                <a:spcPct val="200000"/>
              </a:lnSpc>
            </a:pPr>
            <a:r>
              <a:rPr lang="en-US" sz="2400" dirty="0"/>
              <a:t>It offers various </a:t>
            </a:r>
            <a:r>
              <a:rPr lang="en-US" sz="2400" b="1" dirty="0"/>
              <a:t>security services</a:t>
            </a:r>
            <a:r>
              <a:rPr lang="en-US" sz="2400" dirty="0"/>
              <a:t> such as infrastructure security, data encryption, monitoring &amp; logging, identity &amp; access </a:t>
            </a:r>
            <a:r>
              <a:rPr lang="en-US" sz="2400" dirty="0" smtClean="0"/>
              <a:t>control.</a:t>
            </a:r>
            <a:endParaRPr lang="en-US" sz="2400" dirty="0"/>
          </a:p>
          <a:p>
            <a:pPr>
              <a:lnSpc>
                <a:spcPct val="200000"/>
              </a:lnSpc>
            </a:pPr>
            <a:r>
              <a:rPr lang="en-US" sz="2400" dirty="0"/>
              <a:t>It can efficiently manage and secure Windows workloads</a:t>
            </a:r>
            <a:r>
              <a:rPr lang="en-US" sz="2400" dirty="0" smtClean="0"/>
              <a:t>.</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9</a:t>
            </a:fld>
            <a:endParaRPr 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5257" t="14629" r="4572" b="18934"/>
          <a:stretch/>
        </p:blipFill>
        <p:spPr>
          <a:xfrm>
            <a:off x="8756467" y="0"/>
            <a:ext cx="3435533" cy="1423852"/>
          </a:xfrm>
          <a:prstGeom prst="rect">
            <a:avLst/>
          </a:prstGeom>
        </p:spPr>
      </p:pic>
    </p:spTree>
    <p:extLst>
      <p:ext uri="{BB962C8B-B14F-4D97-AF65-F5344CB8AC3E}">
        <p14:creationId xmlns:p14="http://schemas.microsoft.com/office/powerpoint/2010/main" val="22613352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Google </a:t>
            </a:r>
            <a:r>
              <a:rPr lang="en-US" sz="4000" b="1" i="1" dirty="0"/>
              <a:t>Cloud Platform (</a:t>
            </a:r>
            <a:r>
              <a:rPr lang="en-US" sz="4000" b="1" i="1" dirty="0" smtClean="0"/>
              <a:t>GCP)</a:t>
            </a:r>
            <a:endParaRPr lang="en-US" sz="4000" b="1" i="1" dirty="0"/>
          </a:p>
        </p:txBody>
      </p:sp>
      <p:sp>
        <p:nvSpPr>
          <p:cNvPr id="3" name="Content Placeholder 2"/>
          <p:cNvSpPr>
            <a:spLocks noGrp="1"/>
          </p:cNvSpPr>
          <p:nvPr>
            <p:ph idx="1"/>
          </p:nvPr>
        </p:nvSpPr>
        <p:spPr>
          <a:xfrm>
            <a:off x="574765" y="1325819"/>
            <a:ext cx="11025049" cy="5466866"/>
          </a:xfrm>
        </p:spPr>
        <p:txBody>
          <a:bodyPr>
            <a:normAutofit/>
          </a:bodyPr>
          <a:lstStyle/>
          <a:p>
            <a:pPr>
              <a:lnSpc>
                <a:spcPct val="150000"/>
              </a:lnSpc>
            </a:pPr>
            <a:r>
              <a:rPr lang="en-US" sz="2400" dirty="0" smtClean="0"/>
              <a:t>Google </a:t>
            </a:r>
            <a:r>
              <a:rPr lang="en-US" sz="2400" dirty="0"/>
              <a:t>Cloud Platform (GCP) is a suite of cloud computing services provided by </a:t>
            </a:r>
            <a:r>
              <a:rPr lang="en-US" sz="2400" dirty="0" smtClean="0"/>
              <a:t>Google.</a:t>
            </a:r>
          </a:p>
          <a:p>
            <a:pPr>
              <a:lnSpc>
                <a:spcPct val="150000"/>
              </a:lnSpc>
            </a:pPr>
            <a:r>
              <a:rPr lang="en-US" sz="2400" dirty="0" smtClean="0"/>
              <a:t>It </a:t>
            </a:r>
            <a:r>
              <a:rPr lang="en-US" sz="2400" dirty="0"/>
              <a:t>is a public cloud computing platform consisting of a variety of services like compute, storage, networking, application development, Big Data, and more, which run on the same cloud infrastructure that Google uses internally for its end-user products, such as Google Search, Photos, Gmail and YouTube, etc.</a:t>
            </a:r>
          </a:p>
          <a:p>
            <a:pPr>
              <a:lnSpc>
                <a:spcPct val="150000"/>
              </a:lnSpc>
            </a:pPr>
            <a:r>
              <a:rPr lang="en-US" sz="2400" dirty="0"/>
              <a:t>The services of GCP can be accessed by software developers, cloud administrators and IT professionals over the Internet or through a dedicated network connection</a:t>
            </a:r>
            <a:r>
              <a:rPr lang="en-US" sz="2400" dirty="0" smtClean="0"/>
              <a:t>.</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10</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6411" y="0"/>
            <a:ext cx="1541962" cy="1541962"/>
          </a:xfrm>
          <a:prstGeom prst="rect">
            <a:avLst/>
          </a:prstGeom>
        </p:spPr>
      </p:pic>
    </p:spTree>
    <p:extLst>
      <p:ext uri="{BB962C8B-B14F-4D97-AF65-F5344CB8AC3E}">
        <p14:creationId xmlns:p14="http://schemas.microsoft.com/office/powerpoint/2010/main" val="2679562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Features of GCP</a:t>
            </a:r>
            <a:endParaRPr lang="en-US" sz="4000" b="1" i="1" dirty="0"/>
          </a:p>
        </p:txBody>
      </p:sp>
      <p:sp>
        <p:nvSpPr>
          <p:cNvPr id="3" name="Content Placeholder 2"/>
          <p:cNvSpPr>
            <a:spLocks noGrp="1"/>
          </p:cNvSpPr>
          <p:nvPr>
            <p:ph idx="1"/>
          </p:nvPr>
        </p:nvSpPr>
        <p:spPr>
          <a:xfrm>
            <a:off x="574765" y="1325819"/>
            <a:ext cx="11025049" cy="5466866"/>
          </a:xfrm>
        </p:spPr>
        <p:txBody>
          <a:bodyPr>
            <a:noAutofit/>
          </a:bodyPr>
          <a:lstStyle/>
          <a:p>
            <a:pPr>
              <a:lnSpc>
                <a:spcPct val="150000"/>
              </a:lnSpc>
            </a:pPr>
            <a:r>
              <a:rPr lang="en-US" sz="2400" dirty="0" smtClean="0"/>
              <a:t>Google </a:t>
            </a:r>
            <a:r>
              <a:rPr lang="en-US" sz="2400" dirty="0"/>
              <a:t>cloud includes various </a:t>
            </a:r>
            <a:r>
              <a:rPr lang="en-US" sz="2400" b="1" dirty="0"/>
              <a:t>big data services</a:t>
            </a:r>
            <a:r>
              <a:rPr lang="en-US" sz="2400" dirty="0"/>
              <a:t> such as Google </a:t>
            </a:r>
            <a:r>
              <a:rPr lang="en-US" sz="2400" dirty="0" err="1"/>
              <a:t>BigQuery</a:t>
            </a:r>
            <a:r>
              <a:rPr lang="en-US" sz="2400" dirty="0"/>
              <a:t>, Google </a:t>
            </a:r>
            <a:r>
              <a:rPr lang="en-US" sz="2400" dirty="0" err="1"/>
              <a:t>CloudDataproc</a:t>
            </a:r>
            <a:r>
              <a:rPr lang="en-US" sz="2400" dirty="0"/>
              <a:t>, Google </a:t>
            </a:r>
            <a:r>
              <a:rPr lang="en-US" sz="2400" dirty="0" err="1"/>
              <a:t>CloudDatalab</a:t>
            </a:r>
            <a:r>
              <a:rPr lang="en-US" sz="2400" dirty="0"/>
              <a:t>, and Google Cloud Pub/Sub.</a:t>
            </a:r>
          </a:p>
          <a:p>
            <a:pPr>
              <a:lnSpc>
                <a:spcPct val="150000"/>
              </a:lnSpc>
            </a:pPr>
            <a:r>
              <a:rPr lang="en-US" sz="2400" dirty="0"/>
              <a:t>It provides various services related to </a:t>
            </a:r>
            <a:r>
              <a:rPr lang="en-US" sz="2400" b="1" dirty="0"/>
              <a:t>networking</a:t>
            </a:r>
            <a:r>
              <a:rPr lang="en-US" sz="2400" dirty="0"/>
              <a:t>, including Google Virtual Private Cloud (VPC), Content Delivery Network, Google Cloud Load Balancing, Google Cloud Interconnect, and Google Cloud DNS.</a:t>
            </a:r>
          </a:p>
          <a:p>
            <a:pPr>
              <a:lnSpc>
                <a:spcPct val="150000"/>
              </a:lnSpc>
            </a:pPr>
            <a:r>
              <a:rPr lang="en-US" sz="2400" dirty="0"/>
              <a:t>It offers various </a:t>
            </a:r>
            <a:r>
              <a:rPr lang="en-US" sz="2400" b="1" dirty="0"/>
              <a:t>scalable</a:t>
            </a:r>
            <a:r>
              <a:rPr lang="en-US" sz="2400" dirty="0"/>
              <a:t> and </a:t>
            </a:r>
            <a:r>
              <a:rPr lang="en-US" sz="2400" b="1" dirty="0"/>
              <a:t>high-performance</a:t>
            </a:r>
            <a:endParaRPr lang="en-US" sz="2400" dirty="0"/>
          </a:p>
          <a:p>
            <a:pPr>
              <a:lnSpc>
                <a:spcPct val="150000"/>
              </a:lnSpc>
            </a:pPr>
            <a:r>
              <a:rPr lang="en-US" sz="2400" dirty="0"/>
              <a:t>GCP provides various </a:t>
            </a:r>
            <a:r>
              <a:rPr lang="en-US" sz="2400" b="1" dirty="0" err="1"/>
              <a:t>serverless</a:t>
            </a:r>
            <a:r>
              <a:rPr lang="en-US" sz="2400" b="1" dirty="0"/>
              <a:t> services</a:t>
            </a:r>
            <a:r>
              <a:rPr lang="en-US" sz="2400" dirty="0"/>
              <a:t> such as Messaging, Data Warehouse, Database, Compute, Storage, Data Processing, and Machine learning (ML)</a:t>
            </a:r>
          </a:p>
          <a:p>
            <a:pPr>
              <a:lnSpc>
                <a:spcPct val="150000"/>
              </a:lnSpc>
            </a:pPr>
            <a:r>
              <a:rPr lang="en-US" sz="2400" dirty="0"/>
              <a:t>It provides a free cloud shell environment with Boost Mode</a:t>
            </a:r>
            <a:r>
              <a:rPr lang="en-US" sz="2400" dirty="0" smtClean="0"/>
              <a:t>.</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11</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6411" y="0"/>
            <a:ext cx="1541962" cy="1541962"/>
          </a:xfrm>
          <a:prstGeom prst="rect">
            <a:avLst/>
          </a:prstGeom>
        </p:spPr>
      </p:pic>
    </p:spTree>
    <p:extLst>
      <p:ext uri="{BB962C8B-B14F-4D97-AF65-F5344CB8AC3E}">
        <p14:creationId xmlns:p14="http://schemas.microsoft.com/office/powerpoint/2010/main" val="17071309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Differences GCP, AWS and Azure</a:t>
            </a:r>
          </a:p>
        </p:txBody>
      </p:sp>
      <p:sp>
        <p:nvSpPr>
          <p:cNvPr id="3" name="Content Placeholder 2"/>
          <p:cNvSpPr>
            <a:spLocks noGrp="1"/>
          </p:cNvSpPr>
          <p:nvPr>
            <p:ph idx="1"/>
          </p:nvPr>
        </p:nvSpPr>
        <p:spPr>
          <a:xfrm>
            <a:off x="574765" y="1325819"/>
            <a:ext cx="11025049" cy="5466866"/>
          </a:xfrm>
        </p:spPr>
        <p:txBody>
          <a:bodyPr>
            <a:noAutofit/>
          </a:bodyPr>
          <a:lstStyle/>
          <a:p>
            <a:pPr>
              <a:lnSpc>
                <a:spcPct val="150000"/>
              </a:lnSpc>
            </a:pPr>
            <a:r>
              <a:rPr lang="en-US" dirty="0" smtClean="0"/>
              <a:t>Some </a:t>
            </a:r>
            <a:r>
              <a:rPr lang="en-US" dirty="0"/>
              <a:t>of </a:t>
            </a:r>
            <a:r>
              <a:rPr lang="en-US" dirty="0" smtClean="0"/>
              <a:t>the </a:t>
            </a:r>
            <a:r>
              <a:rPr lang="en-US" dirty="0"/>
              <a:t>main differences between GCP</a:t>
            </a:r>
            <a:r>
              <a:rPr lang="en-US" dirty="0" smtClean="0"/>
              <a:t>, AWS and Azure:</a:t>
            </a:r>
          </a:p>
          <a:p>
            <a:pPr>
              <a:lnSpc>
                <a:spcPct val="150000"/>
              </a:lnSpc>
            </a:pP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12</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266526132"/>
              </p:ext>
            </p:extLst>
          </p:nvPr>
        </p:nvGraphicFramePr>
        <p:xfrm>
          <a:off x="574765" y="2144714"/>
          <a:ext cx="11025051" cy="3446189"/>
        </p:xfrm>
        <a:graphic>
          <a:graphicData uri="http://schemas.openxmlformats.org/drawingml/2006/table">
            <a:tbl>
              <a:tblPr/>
              <a:tblGrid>
                <a:gridCol w="3675017">
                  <a:extLst>
                    <a:ext uri="{9D8B030D-6E8A-4147-A177-3AD203B41FA5}">
                      <a16:colId xmlns:a16="http://schemas.microsoft.com/office/drawing/2014/main" val="1756504543"/>
                    </a:ext>
                  </a:extLst>
                </a:gridCol>
                <a:gridCol w="3675017">
                  <a:extLst>
                    <a:ext uri="{9D8B030D-6E8A-4147-A177-3AD203B41FA5}">
                      <a16:colId xmlns:a16="http://schemas.microsoft.com/office/drawing/2014/main" val="4041570645"/>
                    </a:ext>
                  </a:extLst>
                </a:gridCol>
                <a:gridCol w="3675017">
                  <a:extLst>
                    <a:ext uri="{9D8B030D-6E8A-4147-A177-3AD203B41FA5}">
                      <a16:colId xmlns:a16="http://schemas.microsoft.com/office/drawing/2014/main" val="2353720572"/>
                    </a:ext>
                  </a:extLst>
                </a:gridCol>
              </a:tblGrid>
              <a:tr h="437226">
                <a:tc>
                  <a:txBody>
                    <a:bodyPr/>
                    <a:lstStyle/>
                    <a:p>
                      <a:pPr algn="l" fontAlgn="t"/>
                      <a:r>
                        <a:rPr lang="en-US" sz="1800" b="1" dirty="0">
                          <a:solidFill>
                            <a:srgbClr val="000000"/>
                          </a:solidFill>
                          <a:effectLst/>
                          <a:latin typeface="times new roman" panose="02020603050405020304" pitchFamily="18" charset="0"/>
                        </a:rPr>
                        <a:t>Google Cloud</a:t>
                      </a:r>
                    </a:p>
                  </a:txBody>
                  <a:tcPr marL="182880" marR="182880" marT="62162" marB="62162">
                    <a:lnL w="9525" cap="flat" cmpd="sng" algn="ctr">
                      <a:solidFill>
                        <a:srgbClr val="30225E"/>
                      </a:solidFill>
                      <a:prstDash val="solid"/>
                      <a:round/>
                      <a:headEnd type="none" w="med" len="med"/>
                      <a:tailEnd type="none" w="med" len="med"/>
                    </a:lnL>
                    <a:lnR w="9525" cap="flat" cmpd="sng" algn="ctr">
                      <a:solidFill>
                        <a:srgbClr val="30225E"/>
                      </a:solidFill>
                      <a:prstDash val="solid"/>
                      <a:round/>
                      <a:headEnd type="none" w="med" len="med"/>
                      <a:tailEnd type="none" w="med" len="med"/>
                    </a:lnR>
                    <a:lnT w="9525" cap="flat" cmpd="sng" algn="ctr">
                      <a:solidFill>
                        <a:srgbClr val="30225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a:solidFill>
                            <a:srgbClr val="000000"/>
                          </a:solidFill>
                          <a:effectLst/>
                          <a:latin typeface="times new roman" panose="02020603050405020304" pitchFamily="18" charset="0"/>
                        </a:rPr>
                        <a:t>AWS</a:t>
                      </a:r>
                    </a:p>
                  </a:txBody>
                  <a:tcPr marL="182880" marR="182880" marT="62162" marB="62162">
                    <a:lnL w="9525" cap="flat" cmpd="sng" algn="ctr">
                      <a:solidFill>
                        <a:srgbClr val="30225E"/>
                      </a:solidFill>
                      <a:prstDash val="solid"/>
                      <a:round/>
                      <a:headEnd type="none" w="med" len="med"/>
                      <a:tailEnd type="none" w="med" len="med"/>
                    </a:lnL>
                    <a:lnR w="9525" cap="flat" cmpd="sng" algn="ctr">
                      <a:solidFill>
                        <a:srgbClr val="30225E"/>
                      </a:solidFill>
                      <a:prstDash val="solid"/>
                      <a:round/>
                      <a:headEnd type="none" w="med" len="med"/>
                      <a:tailEnd type="none" w="med" len="med"/>
                    </a:lnR>
                    <a:lnT w="9525" cap="flat" cmpd="sng" algn="ctr">
                      <a:solidFill>
                        <a:srgbClr val="30225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dirty="0">
                          <a:solidFill>
                            <a:srgbClr val="000000"/>
                          </a:solidFill>
                          <a:effectLst/>
                          <a:latin typeface="times new roman" panose="02020603050405020304" pitchFamily="18" charset="0"/>
                        </a:rPr>
                        <a:t>Azure</a:t>
                      </a:r>
                    </a:p>
                  </a:txBody>
                  <a:tcPr marL="182880" marR="182880" marT="62162" marB="62162">
                    <a:lnL w="9525" cap="flat" cmpd="sng" algn="ctr">
                      <a:solidFill>
                        <a:srgbClr val="30225E"/>
                      </a:solidFill>
                      <a:prstDash val="solid"/>
                      <a:round/>
                      <a:headEnd type="none" w="med" len="med"/>
                      <a:tailEnd type="none" w="med" len="med"/>
                    </a:lnL>
                    <a:lnR w="9525" cap="flat" cmpd="sng" algn="ctr">
                      <a:solidFill>
                        <a:srgbClr val="30225E"/>
                      </a:solidFill>
                      <a:prstDash val="solid"/>
                      <a:round/>
                      <a:headEnd type="none" w="med" len="med"/>
                      <a:tailEnd type="none" w="med" len="med"/>
                    </a:lnR>
                    <a:lnT w="9525" cap="flat" cmpd="sng" algn="ctr">
                      <a:solidFill>
                        <a:srgbClr val="30225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879028279"/>
                  </a:ext>
                </a:extLst>
              </a:tr>
              <a:tr h="778367">
                <a:tc>
                  <a:txBody>
                    <a:bodyPr/>
                    <a:lstStyle/>
                    <a:p>
                      <a:pPr algn="l" fontAlgn="t"/>
                      <a:r>
                        <a:rPr lang="en-US" sz="1800" dirty="0">
                          <a:solidFill>
                            <a:srgbClr val="333333"/>
                          </a:solidFill>
                          <a:effectLst/>
                          <a:latin typeface="inter-regular"/>
                        </a:rPr>
                        <a:t>It uses GCE (Google Compute Engine) for computing purposes.</a:t>
                      </a:r>
                    </a:p>
                  </a:txBody>
                  <a:tcPr marL="182880" marR="182880" marT="41441" marB="4144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a:solidFill>
                            <a:srgbClr val="333333"/>
                          </a:solidFill>
                          <a:effectLst/>
                          <a:latin typeface="inter-regular"/>
                        </a:rPr>
                        <a:t>AWS EC2 offers core compute services.</a:t>
                      </a:r>
                    </a:p>
                  </a:txBody>
                  <a:tcPr marL="182880" marR="182880" marT="41441" marB="4144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a:solidFill>
                            <a:srgbClr val="333333"/>
                          </a:solidFill>
                          <a:effectLst/>
                          <a:latin typeface="inter-regular"/>
                        </a:rPr>
                        <a:t>It uses virtual machines for computation purposes.</a:t>
                      </a:r>
                    </a:p>
                  </a:txBody>
                  <a:tcPr marL="182880" marR="182880" marT="41441" marB="4144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689395108"/>
                  </a:ext>
                </a:extLst>
              </a:tr>
              <a:tr h="1050434">
                <a:tc>
                  <a:txBody>
                    <a:bodyPr/>
                    <a:lstStyle/>
                    <a:p>
                      <a:pPr algn="l" fontAlgn="t"/>
                      <a:r>
                        <a:rPr lang="en-US" sz="1800" dirty="0">
                          <a:solidFill>
                            <a:srgbClr val="333333"/>
                          </a:solidFill>
                          <a:effectLst/>
                          <a:latin typeface="inter-regular"/>
                        </a:rPr>
                        <a:t>It uses Google Cloud Storage for storage purposes.</a:t>
                      </a:r>
                    </a:p>
                  </a:txBody>
                  <a:tcPr marL="182880" marR="182880" marT="41441" marB="4144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kern="1200" dirty="0">
                          <a:solidFill>
                            <a:srgbClr val="333333"/>
                          </a:solidFill>
                          <a:effectLst/>
                          <a:latin typeface="inter-regular"/>
                          <a:ea typeface="+mn-ea"/>
                          <a:cs typeface="+mn-cs"/>
                        </a:rPr>
                        <a:t>It uses Amazon </a:t>
                      </a:r>
                      <a:r>
                        <a:rPr lang="en-US" sz="1800" kern="1200" dirty="0" smtClean="0">
                          <a:solidFill>
                            <a:srgbClr val="333333"/>
                          </a:solidFill>
                          <a:effectLst/>
                          <a:latin typeface="inter-regular"/>
                          <a:ea typeface="+mn-ea"/>
                          <a:cs typeface="+mn-cs"/>
                        </a:rPr>
                        <a:t>S3 (Amazon Simple Storage Service) </a:t>
                      </a:r>
                      <a:r>
                        <a:rPr lang="en-US" sz="1800" kern="1200" dirty="0">
                          <a:solidFill>
                            <a:srgbClr val="333333"/>
                          </a:solidFill>
                          <a:effectLst/>
                          <a:latin typeface="inter-regular"/>
                          <a:ea typeface="+mn-ea"/>
                          <a:cs typeface="+mn-cs"/>
                        </a:rPr>
                        <a:t>for storing the data.</a:t>
                      </a:r>
                    </a:p>
                  </a:txBody>
                  <a:tcPr marL="182880" marR="182880" marT="41441" marB="4144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dirty="0">
                          <a:solidFill>
                            <a:srgbClr val="333333"/>
                          </a:solidFill>
                          <a:effectLst/>
                          <a:latin typeface="inter-regular"/>
                        </a:rPr>
                        <a:t>It uses a storage block bob that comprises blocks for storing the data.</a:t>
                      </a:r>
                    </a:p>
                  </a:txBody>
                  <a:tcPr marL="182880" marR="182880" marT="41441" marB="4144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752991784"/>
                  </a:ext>
                </a:extLst>
              </a:tr>
              <a:tr h="1175657">
                <a:tc>
                  <a:txBody>
                    <a:bodyPr/>
                    <a:lstStyle/>
                    <a:p>
                      <a:pPr algn="l" fontAlgn="t"/>
                      <a:r>
                        <a:rPr lang="en-US" sz="1800" dirty="0">
                          <a:solidFill>
                            <a:srgbClr val="333333"/>
                          </a:solidFill>
                          <a:effectLst/>
                          <a:latin typeface="inter-regular"/>
                        </a:rPr>
                        <a:t>It offers the lowest price to the customers to beat other cloud providers.</a:t>
                      </a:r>
                    </a:p>
                  </a:txBody>
                  <a:tcPr marL="182880" marR="182880" marT="41441" marB="4144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dirty="0">
                          <a:solidFill>
                            <a:srgbClr val="333333"/>
                          </a:solidFill>
                          <a:effectLst/>
                          <a:latin typeface="inter-regular"/>
                        </a:rPr>
                        <a:t>AWS pricing is generally keen to have inscrutable. The overall structure of granular pricing is a bit complex.</a:t>
                      </a:r>
                    </a:p>
                  </a:txBody>
                  <a:tcPr marL="182880" marR="182880" marT="41441" marB="4144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dirty="0">
                          <a:solidFill>
                            <a:srgbClr val="333333"/>
                          </a:solidFill>
                          <a:effectLst/>
                          <a:latin typeface="inter-regular"/>
                        </a:rPr>
                        <a:t>Like AWS, Azure pricing structure is also difficult to understand unless you have considerable experience.</a:t>
                      </a:r>
                    </a:p>
                  </a:txBody>
                  <a:tcPr marL="182880" marR="182880" marT="41441" marB="4144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183264598"/>
                  </a:ext>
                </a:extLst>
              </a:tr>
            </a:tbl>
          </a:graphicData>
        </a:graphic>
      </p:graphicFrame>
    </p:spTree>
    <p:extLst>
      <p:ext uri="{BB962C8B-B14F-4D97-AF65-F5344CB8AC3E}">
        <p14:creationId xmlns:p14="http://schemas.microsoft.com/office/powerpoint/2010/main" val="34591148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a:t>Differences GCP, AWS and </a:t>
            </a:r>
            <a:r>
              <a:rPr lang="en-US" sz="4000" b="1" i="1" dirty="0" smtClean="0"/>
              <a:t>Azure (Cont.)</a:t>
            </a:r>
            <a:endParaRPr lang="en-US" sz="4000" b="1" i="1" dirty="0"/>
          </a:p>
        </p:txBody>
      </p:sp>
      <p:sp>
        <p:nvSpPr>
          <p:cNvPr id="3" name="Content Placeholder 2"/>
          <p:cNvSpPr>
            <a:spLocks noGrp="1"/>
          </p:cNvSpPr>
          <p:nvPr>
            <p:ph idx="1"/>
          </p:nvPr>
        </p:nvSpPr>
        <p:spPr>
          <a:xfrm>
            <a:off x="574765" y="1325819"/>
            <a:ext cx="11025049" cy="5466866"/>
          </a:xfrm>
        </p:spPr>
        <p:txBody>
          <a:bodyPr>
            <a:noAutofit/>
          </a:bodyPr>
          <a:lstStyle/>
          <a:p>
            <a:pPr marL="0" indent="0">
              <a:lnSpc>
                <a:spcPct val="150000"/>
              </a:lnSpc>
              <a:buNone/>
            </a:pPr>
            <a:r>
              <a:rPr lang="en-US" sz="2400" dirty="0" smtClean="0"/>
              <a:t> </a:t>
            </a: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13</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239161623"/>
              </p:ext>
            </p:extLst>
          </p:nvPr>
        </p:nvGraphicFramePr>
        <p:xfrm>
          <a:off x="574763" y="1443386"/>
          <a:ext cx="11025051" cy="3657600"/>
        </p:xfrm>
        <a:graphic>
          <a:graphicData uri="http://schemas.openxmlformats.org/drawingml/2006/table">
            <a:tbl>
              <a:tblPr/>
              <a:tblGrid>
                <a:gridCol w="3675017">
                  <a:extLst>
                    <a:ext uri="{9D8B030D-6E8A-4147-A177-3AD203B41FA5}">
                      <a16:colId xmlns:a16="http://schemas.microsoft.com/office/drawing/2014/main" val="1756504543"/>
                    </a:ext>
                  </a:extLst>
                </a:gridCol>
                <a:gridCol w="3675017">
                  <a:extLst>
                    <a:ext uri="{9D8B030D-6E8A-4147-A177-3AD203B41FA5}">
                      <a16:colId xmlns:a16="http://schemas.microsoft.com/office/drawing/2014/main" val="4041570645"/>
                    </a:ext>
                  </a:extLst>
                </a:gridCol>
                <a:gridCol w="3675017">
                  <a:extLst>
                    <a:ext uri="{9D8B030D-6E8A-4147-A177-3AD203B41FA5}">
                      <a16:colId xmlns:a16="http://schemas.microsoft.com/office/drawing/2014/main" val="2353720572"/>
                    </a:ext>
                  </a:extLst>
                </a:gridCol>
              </a:tblGrid>
              <a:tr h="582096">
                <a:tc>
                  <a:txBody>
                    <a:bodyPr/>
                    <a:lstStyle/>
                    <a:p>
                      <a:pPr algn="l" fontAlgn="t"/>
                      <a:r>
                        <a:rPr lang="en-US" sz="1800" b="1">
                          <a:solidFill>
                            <a:srgbClr val="000000"/>
                          </a:solidFill>
                          <a:effectLst/>
                          <a:latin typeface="times new roman" panose="02020603050405020304" pitchFamily="18" charset="0"/>
                        </a:rPr>
                        <a:t>Google Cloud</a:t>
                      </a:r>
                    </a:p>
                  </a:txBody>
                  <a:tcPr marL="182880" marR="182880" marT="182880" marB="182880">
                    <a:lnL w="9525" cap="flat" cmpd="sng" algn="ctr">
                      <a:solidFill>
                        <a:srgbClr val="30225E"/>
                      </a:solidFill>
                      <a:prstDash val="solid"/>
                      <a:round/>
                      <a:headEnd type="none" w="med" len="med"/>
                      <a:tailEnd type="none" w="med" len="med"/>
                    </a:lnL>
                    <a:lnR w="9525" cap="flat" cmpd="sng" algn="ctr">
                      <a:solidFill>
                        <a:srgbClr val="30225E"/>
                      </a:solidFill>
                      <a:prstDash val="solid"/>
                      <a:round/>
                      <a:headEnd type="none" w="med" len="med"/>
                      <a:tailEnd type="none" w="med" len="med"/>
                    </a:lnR>
                    <a:lnT w="9525" cap="flat" cmpd="sng" algn="ctr">
                      <a:solidFill>
                        <a:srgbClr val="30225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a:solidFill>
                            <a:srgbClr val="000000"/>
                          </a:solidFill>
                          <a:effectLst/>
                          <a:latin typeface="times new roman" panose="02020603050405020304" pitchFamily="18" charset="0"/>
                        </a:rPr>
                        <a:t>AWS</a:t>
                      </a:r>
                    </a:p>
                  </a:txBody>
                  <a:tcPr marL="182880" marR="182880" marT="182880" marB="182880">
                    <a:lnL w="9525" cap="flat" cmpd="sng" algn="ctr">
                      <a:solidFill>
                        <a:srgbClr val="30225E"/>
                      </a:solidFill>
                      <a:prstDash val="solid"/>
                      <a:round/>
                      <a:headEnd type="none" w="med" len="med"/>
                      <a:tailEnd type="none" w="med" len="med"/>
                    </a:lnL>
                    <a:lnR w="9525" cap="flat" cmpd="sng" algn="ctr">
                      <a:solidFill>
                        <a:srgbClr val="30225E"/>
                      </a:solidFill>
                      <a:prstDash val="solid"/>
                      <a:round/>
                      <a:headEnd type="none" w="med" len="med"/>
                      <a:tailEnd type="none" w="med" len="med"/>
                    </a:lnR>
                    <a:lnT w="9525" cap="flat" cmpd="sng" algn="ctr">
                      <a:solidFill>
                        <a:srgbClr val="30225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dirty="0">
                          <a:solidFill>
                            <a:srgbClr val="000000"/>
                          </a:solidFill>
                          <a:effectLst/>
                          <a:latin typeface="times new roman" panose="02020603050405020304" pitchFamily="18" charset="0"/>
                        </a:rPr>
                        <a:t>Azure</a:t>
                      </a:r>
                    </a:p>
                  </a:txBody>
                  <a:tcPr marL="182880" marR="182880" marT="182880" marB="182880">
                    <a:lnL w="9525" cap="flat" cmpd="sng" algn="ctr">
                      <a:solidFill>
                        <a:srgbClr val="30225E"/>
                      </a:solidFill>
                      <a:prstDash val="solid"/>
                      <a:round/>
                      <a:headEnd type="none" w="med" len="med"/>
                      <a:tailEnd type="none" w="med" len="med"/>
                    </a:lnL>
                    <a:lnR w="9525" cap="flat" cmpd="sng" algn="ctr">
                      <a:solidFill>
                        <a:srgbClr val="30225E"/>
                      </a:solidFill>
                      <a:prstDash val="solid"/>
                      <a:round/>
                      <a:headEnd type="none" w="med" len="med"/>
                      <a:tailEnd type="none" w="med" len="med"/>
                    </a:lnR>
                    <a:lnT w="9525" cap="flat" cmpd="sng" algn="ctr">
                      <a:solidFill>
                        <a:srgbClr val="30225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879028279"/>
                  </a:ext>
                </a:extLst>
              </a:tr>
              <a:tr h="587089">
                <a:tc>
                  <a:txBody>
                    <a:bodyPr/>
                    <a:lstStyle/>
                    <a:p>
                      <a:pPr algn="l" fontAlgn="t"/>
                      <a:r>
                        <a:rPr lang="en-US" sz="1800" dirty="0">
                          <a:solidFill>
                            <a:srgbClr val="333333"/>
                          </a:solidFill>
                          <a:effectLst/>
                          <a:latin typeface="inter-regular"/>
                        </a:rPr>
                        <a:t>It uses Cloud Test labs for App Testing purposes.</a:t>
                      </a:r>
                    </a:p>
                  </a:txBody>
                  <a:tcPr marL="182880" marR="182880" marT="18288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a:solidFill>
                            <a:srgbClr val="333333"/>
                          </a:solidFill>
                          <a:effectLst/>
                          <a:latin typeface="inter-regular"/>
                        </a:rPr>
                        <a:t>It uses a device farm for App Testing purposes.</a:t>
                      </a:r>
                    </a:p>
                  </a:txBody>
                  <a:tcPr marL="182880" marR="182880" marT="18288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a:solidFill>
                            <a:srgbClr val="333333"/>
                          </a:solidFill>
                          <a:effectLst/>
                          <a:latin typeface="inter-regular"/>
                        </a:rPr>
                        <a:t>It uses DevTest labs for App Testing purposes.</a:t>
                      </a:r>
                    </a:p>
                  </a:txBody>
                  <a:tcPr marL="182880" marR="182880" marT="18288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347852668"/>
                  </a:ext>
                </a:extLst>
              </a:tr>
              <a:tr h="751174">
                <a:tc>
                  <a:txBody>
                    <a:bodyPr/>
                    <a:lstStyle/>
                    <a:p>
                      <a:pPr algn="l" fontAlgn="t"/>
                      <a:r>
                        <a:rPr lang="en-US" sz="1800">
                          <a:solidFill>
                            <a:srgbClr val="333333"/>
                          </a:solidFill>
                          <a:effectLst/>
                          <a:latin typeface="inter-regular"/>
                        </a:rPr>
                        <a:t>It uses Subnet as a virtual network.</a:t>
                      </a:r>
                    </a:p>
                  </a:txBody>
                  <a:tcPr marL="182880" marR="182880" marT="18288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a:solidFill>
                            <a:srgbClr val="333333"/>
                          </a:solidFill>
                          <a:effectLst/>
                          <a:latin typeface="inter-regular"/>
                        </a:rPr>
                        <a:t>It uses VPC as a virtual network.</a:t>
                      </a:r>
                    </a:p>
                  </a:txBody>
                  <a:tcPr marL="182880" marR="182880" marT="18288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800">
                          <a:solidFill>
                            <a:srgbClr val="333333"/>
                          </a:solidFill>
                          <a:effectLst/>
                          <a:latin typeface="inter-regular"/>
                        </a:rPr>
                        <a:t>It uses VNet as a virtual Network.</a:t>
                      </a:r>
                    </a:p>
                  </a:txBody>
                  <a:tcPr marL="182880" marR="182880" marT="18288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988258119"/>
                  </a:ext>
                </a:extLst>
              </a:tr>
              <a:tr h="999892">
                <a:tc>
                  <a:txBody>
                    <a:bodyPr/>
                    <a:lstStyle/>
                    <a:p>
                      <a:pPr algn="l" fontAlgn="t"/>
                      <a:r>
                        <a:rPr lang="en-US" sz="1800" dirty="0">
                          <a:solidFill>
                            <a:srgbClr val="333333"/>
                          </a:solidFill>
                          <a:effectLst/>
                          <a:latin typeface="inter-regular"/>
                        </a:rPr>
                        <a:t>It follows the Cloud Load Balancing configuration.</a:t>
                      </a:r>
                    </a:p>
                  </a:txBody>
                  <a:tcPr marL="182880" marR="182880" marT="18288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dirty="0">
                          <a:solidFill>
                            <a:srgbClr val="333333"/>
                          </a:solidFill>
                          <a:effectLst/>
                          <a:latin typeface="inter-regular"/>
                        </a:rPr>
                        <a:t>It follows the Elastic Load Balancing configuration.</a:t>
                      </a:r>
                    </a:p>
                  </a:txBody>
                  <a:tcPr marL="182880" marR="182880" marT="18288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800" dirty="0">
                          <a:solidFill>
                            <a:srgbClr val="333333"/>
                          </a:solidFill>
                          <a:effectLst/>
                          <a:latin typeface="inter-regular"/>
                        </a:rPr>
                        <a:t>It follows the Load-Balancer </a:t>
                      </a:r>
                      <a:r>
                        <a:rPr lang="en-US" sz="1800" dirty="0" smtClean="0">
                          <a:solidFill>
                            <a:srgbClr val="333333"/>
                          </a:solidFill>
                          <a:effectLst/>
                          <a:latin typeface="inter-regular"/>
                        </a:rPr>
                        <a:t>Application</a:t>
                      </a:r>
                      <a:r>
                        <a:rPr lang="en-US" sz="1800" baseline="0" dirty="0" smtClean="0">
                          <a:solidFill>
                            <a:srgbClr val="333333"/>
                          </a:solidFill>
                          <a:effectLst/>
                          <a:latin typeface="inter-regular"/>
                        </a:rPr>
                        <a:t> </a:t>
                      </a:r>
                      <a:r>
                        <a:rPr lang="en-US" sz="1800" dirty="0" smtClean="0">
                          <a:solidFill>
                            <a:srgbClr val="333333"/>
                          </a:solidFill>
                          <a:effectLst/>
                          <a:latin typeface="inter-regular"/>
                        </a:rPr>
                        <a:t>Gateway</a:t>
                      </a:r>
                      <a:r>
                        <a:rPr lang="en-US" sz="1800" baseline="0" dirty="0" smtClean="0">
                          <a:solidFill>
                            <a:srgbClr val="333333"/>
                          </a:solidFill>
                          <a:effectLst/>
                          <a:latin typeface="inter-regular"/>
                        </a:rPr>
                        <a:t> </a:t>
                      </a:r>
                      <a:r>
                        <a:rPr lang="en-US" sz="1800" dirty="0" smtClean="0">
                          <a:solidFill>
                            <a:srgbClr val="333333"/>
                          </a:solidFill>
                          <a:effectLst/>
                          <a:latin typeface="inter-regular"/>
                        </a:rPr>
                        <a:t>configuration.</a:t>
                      </a:r>
                    </a:p>
                  </a:txBody>
                  <a:tcPr marL="182880" marR="182880" marT="182880" marB="18288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118244288"/>
                  </a:ext>
                </a:extLst>
              </a:tr>
            </a:tbl>
          </a:graphicData>
        </a:graphic>
      </p:graphicFrame>
    </p:spTree>
    <p:extLst>
      <p:ext uri="{BB962C8B-B14F-4D97-AF65-F5344CB8AC3E}">
        <p14:creationId xmlns:p14="http://schemas.microsoft.com/office/powerpoint/2010/main" val="19111470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Azure Services</a:t>
            </a:r>
            <a:endParaRPr lang="en-US" sz="4000" b="1" i="1" dirty="0"/>
          </a:p>
        </p:txBody>
      </p:sp>
      <p:sp>
        <p:nvSpPr>
          <p:cNvPr id="3" name="Content Placeholder 2"/>
          <p:cNvSpPr>
            <a:spLocks noGrp="1"/>
          </p:cNvSpPr>
          <p:nvPr>
            <p:ph idx="1"/>
          </p:nvPr>
        </p:nvSpPr>
        <p:spPr>
          <a:xfrm>
            <a:off x="574765" y="1325819"/>
            <a:ext cx="11025049" cy="5466866"/>
          </a:xfrm>
        </p:spPr>
        <p:txBody>
          <a:bodyPr>
            <a:noAutofit/>
          </a:bodyPr>
          <a:lstStyle/>
          <a:p>
            <a:pPr>
              <a:lnSpc>
                <a:spcPct val="100000"/>
              </a:lnSpc>
            </a:pPr>
            <a:r>
              <a:rPr lang="en-US" sz="2400" b="1" dirty="0"/>
              <a:t>Compute services:</a:t>
            </a:r>
            <a:r>
              <a:rPr lang="en-US" sz="2400" dirty="0"/>
              <a:t> It includes the Microsoft Azure Cloud Services, Azure Virtual Machines, Azure Website, and Azure Mobile Services, which processes the data on the cloud with the help of powerful processors.</a:t>
            </a:r>
          </a:p>
          <a:p>
            <a:pPr>
              <a:lnSpc>
                <a:spcPct val="100000"/>
              </a:lnSpc>
            </a:pPr>
            <a:r>
              <a:rPr lang="en-US" sz="2400" b="1" dirty="0"/>
              <a:t>Data services: </a:t>
            </a:r>
            <a:r>
              <a:rPr lang="en-US" sz="2400" dirty="0"/>
              <a:t>This service is used to store data over the cloud that can be scaled according to the requirements. It includes Microsoft Azure Storage (Blob, Queue Table, and Azure File services), Azure SQL Database, and the </a:t>
            </a:r>
            <a:r>
              <a:rPr lang="en-US" sz="2400" dirty="0" err="1"/>
              <a:t>Redis</a:t>
            </a:r>
            <a:r>
              <a:rPr lang="en-US" sz="2400" dirty="0"/>
              <a:t> Cache.</a:t>
            </a:r>
          </a:p>
          <a:p>
            <a:pPr>
              <a:lnSpc>
                <a:spcPct val="100000"/>
              </a:lnSpc>
            </a:pPr>
            <a:r>
              <a:rPr lang="en-US" sz="2400" b="1" dirty="0"/>
              <a:t>Application services:</a:t>
            </a:r>
            <a:r>
              <a:rPr lang="en-US" sz="2400" dirty="0"/>
              <a:t> It includes services, which help us to build and operate our application, like the Azure Active Directory, Service Bus for connecting distributed systems, HDInsight for processing big data, the Azure Scheduler, and the Azure Media Services.</a:t>
            </a:r>
          </a:p>
          <a:p>
            <a:pPr>
              <a:lnSpc>
                <a:spcPct val="100000"/>
              </a:lnSpc>
            </a:pPr>
            <a:r>
              <a:rPr lang="en-US" sz="2400" b="1" dirty="0"/>
              <a:t>Network services:</a:t>
            </a:r>
            <a:r>
              <a:rPr lang="en-US" sz="2400" dirty="0"/>
              <a:t> It helps you to connect with the cloud and on-premises infrastructure, which includes Virtual Networks, Azure Content Delivery Network, and the Azure Traffic Manager.</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14</a:t>
            </a:fld>
            <a:endParaRPr lang="en-US" dirty="0"/>
          </a:p>
        </p:txBody>
      </p:sp>
    </p:spTree>
    <p:extLst>
      <p:ext uri="{BB962C8B-B14F-4D97-AF65-F5344CB8AC3E}">
        <p14:creationId xmlns:p14="http://schemas.microsoft.com/office/powerpoint/2010/main" val="32000647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How </a:t>
            </a:r>
            <a:r>
              <a:rPr lang="en-US" sz="4000" b="1" i="1" dirty="0"/>
              <a:t>Azure </a:t>
            </a:r>
            <a:r>
              <a:rPr lang="en-US" sz="4000" b="1" i="1" dirty="0" smtClean="0"/>
              <a:t>works</a:t>
            </a:r>
            <a:endParaRPr lang="en-US" sz="4000" b="1" i="1" dirty="0"/>
          </a:p>
        </p:txBody>
      </p:sp>
      <p:sp>
        <p:nvSpPr>
          <p:cNvPr id="3" name="Content Placeholder 2"/>
          <p:cNvSpPr>
            <a:spLocks noGrp="1"/>
          </p:cNvSpPr>
          <p:nvPr>
            <p:ph idx="1"/>
          </p:nvPr>
        </p:nvSpPr>
        <p:spPr>
          <a:xfrm>
            <a:off x="574765" y="1325819"/>
            <a:ext cx="11025049" cy="5257861"/>
          </a:xfrm>
        </p:spPr>
        <p:txBody>
          <a:bodyPr>
            <a:noAutofit/>
          </a:bodyPr>
          <a:lstStyle/>
          <a:p>
            <a:pPr>
              <a:lnSpc>
                <a:spcPct val="150000"/>
              </a:lnSpc>
            </a:pPr>
            <a:r>
              <a:rPr lang="en-US" sz="2400" dirty="0" smtClean="0"/>
              <a:t>The </a:t>
            </a:r>
            <a:r>
              <a:rPr lang="en-US" sz="2400" dirty="0"/>
              <a:t>internal workings of Azure so that we can design our applications on Azure effectively with high availability, data residency, resilience, etc</a:t>
            </a:r>
            <a:r>
              <a:rPr lang="en-US" sz="2400" dirty="0" smtClean="0"/>
              <a:t>.</a:t>
            </a:r>
            <a:endParaRPr lang="en-US" sz="2400" dirty="0"/>
          </a:p>
          <a:p>
            <a:pPr>
              <a:lnSpc>
                <a:spcPct val="150000"/>
              </a:lnSpc>
            </a:pP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15</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4047" y="2618772"/>
            <a:ext cx="7563906" cy="3753374"/>
          </a:xfrm>
          <a:prstGeom prst="rect">
            <a:avLst/>
          </a:prstGeom>
          <a:ln>
            <a:solidFill>
              <a:schemeClr val="tx2">
                <a:lumMod val="20000"/>
                <a:lumOff val="80000"/>
              </a:schemeClr>
            </a:solidFill>
          </a:ln>
        </p:spPr>
      </p:pic>
      <p:sp>
        <p:nvSpPr>
          <p:cNvPr id="6" name="Rectangle 5"/>
          <p:cNvSpPr/>
          <p:nvPr/>
        </p:nvSpPr>
        <p:spPr>
          <a:xfrm>
            <a:off x="5407647" y="6346241"/>
            <a:ext cx="2293833" cy="307777"/>
          </a:xfrm>
          <a:prstGeom prst="rect">
            <a:avLst/>
          </a:prstGeom>
        </p:spPr>
        <p:txBody>
          <a:bodyPr wrap="none">
            <a:spAutoFit/>
          </a:bodyPr>
          <a:lstStyle/>
          <a:p>
            <a:r>
              <a:rPr lang="en-US" sz="1400" b="1" i="1" dirty="0"/>
              <a:t>Azure </a:t>
            </a:r>
            <a:r>
              <a:rPr lang="en-US" sz="1400" b="1" i="1" dirty="0" smtClean="0"/>
              <a:t>works Flow Structure  </a:t>
            </a:r>
            <a:endParaRPr lang="en-US" sz="1400" dirty="0"/>
          </a:p>
        </p:txBody>
      </p:sp>
    </p:spTree>
    <p:extLst>
      <p:ext uri="{BB962C8B-B14F-4D97-AF65-F5344CB8AC3E}">
        <p14:creationId xmlns:p14="http://schemas.microsoft.com/office/powerpoint/2010/main" val="6212461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How </a:t>
            </a:r>
            <a:r>
              <a:rPr lang="en-US" sz="4000" b="1" i="1" dirty="0"/>
              <a:t>Azure </a:t>
            </a:r>
            <a:r>
              <a:rPr lang="en-US" sz="4000" b="1" i="1" dirty="0" smtClean="0"/>
              <a:t>works (Cont.)</a:t>
            </a:r>
            <a:endParaRPr lang="en-US" sz="4000" b="1" i="1" dirty="0"/>
          </a:p>
        </p:txBody>
      </p:sp>
      <p:sp>
        <p:nvSpPr>
          <p:cNvPr id="3" name="Content Placeholder 2"/>
          <p:cNvSpPr>
            <a:spLocks noGrp="1"/>
          </p:cNvSpPr>
          <p:nvPr>
            <p:ph idx="1"/>
          </p:nvPr>
        </p:nvSpPr>
        <p:spPr>
          <a:xfrm>
            <a:off x="574765" y="1325819"/>
            <a:ext cx="11025049" cy="5257861"/>
          </a:xfrm>
        </p:spPr>
        <p:txBody>
          <a:bodyPr>
            <a:noAutofit/>
          </a:bodyPr>
          <a:lstStyle/>
          <a:p>
            <a:pPr>
              <a:lnSpc>
                <a:spcPct val="150000"/>
              </a:lnSpc>
            </a:pPr>
            <a:r>
              <a:rPr lang="en-US" sz="2200" dirty="0" smtClean="0"/>
              <a:t>Microsoft </a:t>
            </a:r>
            <a:r>
              <a:rPr lang="en-US" sz="2200" dirty="0"/>
              <a:t>Azure is completely based on the concept of </a:t>
            </a:r>
            <a:r>
              <a:rPr lang="en-US" sz="2200" dirty="0" smtClean="0"/>
              <a:t>virtualized </a:t>
            </a:r>
            <a:r>
              <a:rPr lang="en-US" sz="2200" dirty="0"/>
              <a:t>data </a:t>
            </a:r>
            <a:r>
              <a:rPr lang="en-US" sz="2200" dirty="0" smtClean="0"/>
              <a:t>center.</a:t>
            </a:r>
          </a:p>
          <a:p>
            <a:pPr>
              <a:lnSpc>
                <a:spcPct val="150000"/>
              </a:lnSpc>
            </a:pPr>
            <a:r>
              <a:rPr lang="en-US" sz="2200" dirty="0" smtClean="0"/>
              <a:t>It also </a:t>
            </a:r>
            <a:r>
              <a:rPr lang="en-US" sz="2200" dirty="0"/>
              <a:t>contains </a:t>
            </a:r>
            <a:r>
              <a:rPr lang="en-US" sz="2200" dirty="0" smtClean="0"/>
              <a:t>racks.</a:t>
            </a:r>
          </a:p>
          <a:p>
            <a:pPr>
              <a:lnSpc>
                <a:spcPct val="150000"/>
              </a:lnSpc>
            </a:pPr>
            <a:r>
              <a:rPr lang="en-US" sz="2200" dirty="0" smtClean="0"/>
              <a:t>Each </a:t>
            </a:r>
            <a:r>
              <a:rPr lang="en-US" sz="2200" dirty="0"/>
              <a:t>rack has a separate power unit and network switch, </a:t>
            </a:r>
            <a:r>
              <a:rPr lang="en-US" sz="2200" dirty="0" smtClean="0"/>
              <a:t>and </a:t>
            </a:r>
            <a:r>
              <a:rPr lang="en-US" sz="2200" dirty="0"/>
              <a:t>also each rack is integrated with a software called </a:t>
            </a:r>
            <a:r>
              <a:rPr lang="en-US" sz="2200" dirty="0" smtClean="0"/>
              <a:t>Fabric-Controller.</a:t>
            </a:r>
          </a:p>
          <a:p>
            <a:pPr>
              <a:lnSpc>
                <a:spcPct val="150000"/>
              </a:lnSpc>
            </a:pPr>
            <a:r>
              <a:rPr lang="en-US" sz="2200" dirty="0" smtClean="0"/>
              <a:t>This</a:t>
            </a:r>
            <a:r>
              <a:rPr lang="en-US" sz="2200" dirty="0"/>
              <a:t> Fabric-controller is a distributed application, which is responsible for managing and monitoring servers within the rack</a:t>
            </a:r>
            <a:r>
              <a:rPr lang="en-US" sz="2200" dirty="0" smtClean="0"/>
              <a:t>.</a:t>
            </a:r>
          </a:p>
          <a:p>
            <a:pPr>
              <a:lnSpc>
                <a:spcPct val="150000"/>
              </a:lnSpc>
            </a:pPr>
            <a:r>
              <a:rPr lang="en-US" sz="2200" dirty="0" smtClean="0"/>
              <a:t>Each </a:t>
            </a:r>
            <a:r>
              <a:rPr lang="en-US" sz="2200" dirty="0"/>
              <a:t>of these Fabric-Controller is, in turn, connected to a piece of software called </a:t>
            </a:r>
            <a:r>
              <a:rPr lang="en-US" sz="2200" dirty="0" smtClean="0"/>
              <a:t>Orchestrator.</a:t>
            </a:r>
          </a:p>
          <a:p>
            <a:pPr>
              <a:lnSpc>
                <a:spcPct val="150000"/>
              </a:lnSpc>
            </a:pPr>
            <a:r>
              <a:rPr lang="en-US" sz="2200" dirty="0" smtClean="0"/>
              <a:t>This</a:t>
            </a:r>
            <a:r>
              <a:rPr lang="en-US" sz="2200" dirty="0"/>
              <a:t> Orchestrator includes web-services, Rest API to create, update, and delete resources</a:t>
            </a:r>
            <a:r>
              <a:rPr lang="en-US" sz="2200" dirty="0" smtClean="0"/>
              <a:t>.</a:t>
            </a:r>
            <a:endParaRPr lang="en-US" sz="22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16</a:t>
            </a:fld>
            <a:endParaRPr lang="en-US" dirty="0"/>
          </a:p>
        </p:txBody>
      </p:sp>
    </p:spTree>
    <p:extLst>
      <p:ext uri="{BB962C8B-B14F-4D97-AF65-F5344CB8AC3E}">
        <p14:creationId xmlns:p14="http://schemas.microsoft.com/office/powerpoint/2010/main" val="40197486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How </a:t>
            </a:r>
            <a:r>
              <a:rPr lang="en-US" sz="4000" b="1" i="1" dirty="0"/>
              <a:t>Azure </a:t>
            </a:r>
            <a:r>
              <a:rPr lang="en-US" sz="4000" b="1" i="1" dirty="0" smtClean="0"/>
              <a:t>works (Cont.)</a:t>
            </a:r>
            <a:endParaRPr lang="en-US" sz="4000" b="1" i="1" dirty="0"/>
          </a:p>
        </p:txBody>
      </p:sp>
      <p:sp>
        <p:nvSpPr>
          <p:cNvPr id="3" name="Content Placeholder 2"/>
          <p:cNvSpPr>
            <a:spLocks noGrp="1"/>
          </p:cNvSpPr>
          <p:nvPr>
            <p:ph idx="1"/>
          </p:nvPr>
        </p:nvSpPr>
        <p:spPr>
          <a:xfrm>
            <a:off x="574765" y="1325819"/>
            <a:ext cx="11025049" cy="5257861"/>
          </a:xfrm>
        </p:spPr>
        <p:txBody>
          <a:bodyPr>
            <a:noAutofit/>
          </a:bodyPr>
          <a:lstStyle/>
          <a:p>
            <a:r>
              <a:rPr lang="en-US" sz="2200" dirty="0" smtClean="0"/>
              <a:t>Request is </a:t>
            </a:r>
            <a:r>
              <a:rPr lang="en-US" sz="2200" dirty="0"/>
              <a:t>made by the user either using PowerShell or Azure </a:t>
            </a:r>
            <a:r>
              <a:rPr lang="en-US" sz="2200" dirty="0" smtClean="0"/>
              <a:t>portal.</a:t>
            </a:r>
          </a:p>
          <a:p>
            <a:r>
              <a:rPr lang="en-US" sz="2200" dirty="0" smtClean="0"/>
              <a:t>First</a:t>
            </a:r>
            <a:r>
              <a:rPr lang="en-US" sz="2200" dirty="0"/>
              <a:t>, it will go to the Orchestrator, where it will fundamentally do three things:</a:t>
            </a:r>
          </a:p>
          <a:p>
            <a:pPr lvl="1">
              <a:lnSpc>
                <a:spcPct val="150000"/>
              </a:lnSpc>
            </a:pPr>
            <a:r>
              <a:rPr lang="en-US" sz="1800" dirty="0"/>
              <a:t>Authenticate the User</a:t>
            </a:r>
          </a:p>
          <a:p>
            <a:pPr lvl="1">
              <a:lnSpc>
                <a:spcPct val="150000"/>
              </a:lnSpc>
            </a:pPr>
            <a:r>
              <a:rPr lang="en-US" sz="1800" dirty="0"/>
              <a:t>It will Authorize the user, i.e., it will check whether the user is allowed to do the requested task.</a:t>
            </a:r>
          </a:p>
          <a:p>
            <a:pPr lvl="1">
              <a:lnSpc>
                <a:spcPct val="150000"/>
              </a:lnSpc>
            </a:pPr>
            <a:r>
              <a:rPr lang="en-US" sz="1800" dirty="0"/>
              <a:t>It will look into the database for the availability of space based on the resources and pass the request to an appropriate Azure Fabric controller to execute the request</a:t>
            </a:r>
            <a:r>
              <a:rPr lang="en-US" sz="1800" dirty="0" smtClean="0"/>
              <a:t>.</a:t>
            </a:r>
            <a:endParaRPr lang="en-US" sz="18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17</a:t>
            </a:fld>
            <a:endParaRPr lang="en-US" dirty="0"/>
          </a:p>
        </p:txBody>
      </p:sp>
    </p:spTree>
    <p:extLst>
      <p:ext uri="{BB962C8B-B14F-4D97-AF65-F5344CB8AC3E}">
        <p14:creationId xmlns:p14="http://schemas.microsoft.com/office/powerpoint/2010/main" val="8070312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How </a:t>
            </a:r>
            <a:r>
              <a:rPr lang="en-US" sz="4000" b="1" i="1" dirty="0"/>
              <a:t>Azure </a:t>
            </a:r>
            <a:r>
              <a:rPr lang="en-US" sz="4000" b="1" i="1" dirty="0" smtClean="0"/>
              <a:t>works (Cont.)</a:t>
            </a:r>
            <a:endParaRPr lang="en-US" sz="4000" b="1" i="1" dirty="0"/>
          </a:p>
        </p:txBody>
      </p:sp>
      <p:sp>
        <p:nvSpPr>
          <p:cNvPr id="3" name="Content Placeholder 2"/>
          <p:cNvSpPr>
            <a:spLocks noGrp="1"/>
          </p:cNvSpPr>
          <p:nvPr>
            <p:ph idx="1"/>
          </p:nvPr>
        </p:nvSpPr>
        <p:spPr>
          <a:xfrm>
            <a:off x="574765" y="1325819"/>
            <a:ext cx="11025049" cy="5257861"/>
          </a:xfrm>
        </p:spPr>
        <p:txBody>
          <a:bodyPr>
            <a:noAutofit/>
          </a:bodyPr>
          <a:lstStyle/>
          <a:p>
            <a:pPr>
              <a:lnSpc>
                <a:spcPct val="150000"/>
              </a:lnSpc>
            </a:pPr>
            <a:r>
              <a:rPr lang="en-US" sz="2200" dirty="0" smtClean="0"/>
              <a:t>Combinations </a:t>
            </a:r>
            <a:r>
              <a:rPr lang="en-US" sz="2200" dirty="0"/>
              <a:t>of racks form a </a:t>
            </a:r>
            <a:r>
              <a:rPr lang="en-US" sz="2200" b="1" i="1" dirty="0" smtClean="0"/>
              <a:t>cluster</a:t>
            </a:r>
            <a:r>
              <a:rPr lang="en-US" sz="2200" dirty="0" smtClean="0"/>
              <a:t>. </a:t>
            </a:r>
          </a:p>
          <a:p>
            <a:pPr>
              <a:lnSpc>
                <a:spcPct val="150000"/>
              </a:lnSpc>
            </a:pPr>
            <a:r>
              <a:rPr lang="en-US" sz="2200" dirty="0" smtClean="0"/>
              <a:t>There are </a:t>
            </a:r>
            <a:r>
              <a:rPr lang="en-US" sz="2200" dirty="0"/>
              <a:t>multiple clusters within a data center, and we can have multiple Data Centers within an Availability zone, multiple Availability zones within a Region, and multiple Regions within a Geography.</a:t>
            </a:r>
          </a:p>
          <a:p>
            <a:pPr>
              <a:lnSpc>
                <a:spcPct val="150000"/>
              </a:lnSpc>
            </a:pPr>
            <a:r>
              <a:rPr lang="en-US" sz="2200" b="1" i="1" dirty="0"/>
              <a:t>Geographies:</a:t>
            </a:r>
            <a:r>
              <a:rPr lang="en-US" sz="2200" dirty="0"/>
              <a:t> It is a discrete market, typically contains two or more regions, that preserves data residency and compliance boundaries.</a:t>
            </a:r>
          </a:p>
          <a:p>
            <a:pPr>
              <a:lnSpc>
                <a:spcPct val="150000"/>
              </a:lnSpc>
            </a:pPr>
            <a:r>
              <a:rPr lang="en-US" sz="2200" b="1" i="1" dirty="0"/>
              <a:t>Azure regions:</a:t>
            </a:r>
            <a:r>
              <a:rPr lang="en-US" sz="2200" dirty="0"/>
              <a:t> A region is a collection of data centers deployed within a defined perimeter and interconnected through a dedicated regional low-latency network</a:t>
            </a:r>
            <a:r>
              <a:rPr lang="en-US" sz="2200" dirty="0" smtClean="0"/>
              <a:t>.</a:t>
            </a:r>
            <a:endParaRPr lang="en-US" sz="22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18</a:t>
            </a:fld>
            <a:endParaRPr lang="en-US" dirty="0"/>
          </a:p>
        </p:txBody>
      </p:sp>
    </p:spTree>
    <p:extLst>
      <p:ext uri="{BB962C8B-B14F-4D97-AF65-F5344CB8AC3E}">
        <p14:creationId xmlns:p14="http://schemas.microsoft.com/office/powerpoint/2010/main" val="14652465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sz="4000" b="1" i="1" dirty="0" smtClean="0"/>
              <a:t>Automated </a:t>
            </a:r>
            <a:r>
              <a:rPr lang="en-US" sz="4000" b="1" i="1" dirty="0"/>
              <a:t>Deployment Azure </a:t>
            </a:r>
            <a:r>
              <a:rPr lang="en-US" sz="4000" b="1" i="1" dirty="0" smtClean="0"/>
              <a:t>Cloud</a:t>
            </a:r>
            <a:endParaRPr lang="en-US" sz="4000" b="1" i="1" dirty="0"/>
          </a:p>
        </p:txBody>
      </p:sp>
      <p:sp>
        <p:nvSpPr>
          <p:cNvPr id="3" name="Content Placeholder 2"/>
          <p:cNvSpPr>
            <a:spLocks noGrp="1"/>
          </p:cNvSpPr>
          <p:nvPr>
            <p:ph idx="1"/>
          </p:nvPr>
        </p:nvSpPr>
        <p:spPr>
          <a:xfrm>
            <a:off x="574765" y="1325819"/>
            <a:ext cx="11025049" cy="4839850"/>
          </a:xfrm>
        </p:spPr>
        <p:txBody>
          <a:bodyPr>
            <a:noAutofit/>
          </a:bodyPr>
          <a:lstStyle/>
          <a:p>
            <a:pPr>
              <a:lnSpc>
                <a:spcPct val="150000"/>
              </a:lnSpc>
            </a:pPr>
            <a:r>
              <a:rPr lang="en-US" sz="2400" b="1" i="1" dirty="0" smtClean="0"/>
              <a:t>Azure Kubernetes Service (AKS)</a:t>
            </a:r>
          </a:p>
          <a:p>
            <a:pPr lvl="1">
              <a:lnSpc>
                <a:spcPct val="150000"/>
              </a:lnSpc>
            </a:pPr>
            <a:r>
              <a:rPr lang="en-US" sz="2000" dirty="0" smtClean="0"/>
              <a:t>AKS allows </a:t>
            </a:r>
            <a:r>
              <a:rPr lang="en-US" sz="2000" dirty="0"/>
              <a:t>you to a</a:t>
            </a:r>
            <a:r>
              <a:rPr lang="en-US" sz="2000" dirty="0" smtClean="0"/>
              <a:t>utomated </a:t>
            </a:r>
            <a:r>
              <a:rPr lang="en-US" sz="2000" dirty="0"/>
              <a:t>deploy </a:t>
            </a:r>
            <a:r>
              <a:rPr lang="en-US" sz="2000" dirty="0" smtClean="0"/>
              <a:t>a production ready Kubernetes cluster in Azure.</a:t>
            </a:r>
          </a:p>
          <a:p>
            <a:pPr>
              <a:lnSpc>
                <a:spcPct val="150000"/>
              </a:lnSpc>
            </a:pPr>
            <a:r>
              <a:rPr lang="en-US" sz="2000" dirty="0">
                <a:hlinkClick r:id="rId2"/>
              </a:rPr>
              <a:t>https://docs.microsoft.com/en-us/azure/aks</a:t>
            </a:r>
            <a:r>
              <a:rPr lang="en-US" sz="2000" dirty="0" smtClean="0">
                <a:hlinkClick r:id="rId2"/>
              </a:rPr>
              <a:t>/</a:t>
            </a:r>
            <a:endParaRPr lang="en-US" sz="20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19</a:t>
            </a:fld>
            <a:endParaRPr lang="en-US" dirty="0"/>
          </a:p>
        </p:txBody>
      </p:sp>
    </p:spTree>
    <p:extLst>
      <p:ext uri="{BB962C8B-B14F-4D97-AF65-F5344CB8AC3E}">
        <p14:creationId xmlns:p14="http://schemas.microsoft.com/office/powerpoint/2010/main" val="3780043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b="1" dirty="0" smtClean="0"/>
              <a:t>Create </a:t>
            </a:r>
            <a:r>
              <a:rPr lang="en-US" b="1" dirty="0"/>
              <a:t>Azure Kubernetes </a:t>
            </a:r>
            <a:r>
              <a:rPr lang="en-US" b="1" dirty="0" smtClean="0"/>
              <a:t>Cluster</a:t>
            </a:r>
            <a:endParaRPr lang="en-US" sz="4000" b="1" i="1" dirty="0"/>
          </a:p>
        </p:txBody>
      </p:sp>
      <p:sp>
        <p:nvSpPr>
          <p:cNvPr id="3" name="Content Placeholder 2"/>
          <p:cNvSpPr>
            <a:spLocks noGrp="1"/>
          </p:cNvSpPr>
          <p:nvPr>
            <p:ph idx="1"/>
          </p:nvPr>
        </p:nvSpPr>
        <p:spPr>
          <a:xfrm>
            <a:off x="574765" y="1325819"/>
            <a:ext cx="11025049" cy="4839850"/>
          </a:xfrm>
        </p:spPr>
        <p:txBody>
          <a:bodyPr>
            <a:noAutofit/>
          </a:bodyPr>
          <a:lstStyle/>
          <a:p>
            <a:pPr>
              <a:lnSpc>
                <a:spcPct val="150000"/>
              </a:lnSpc>
              <a:buFont typeface="Wingdings" panose="05000000000000000000" pitchFamily="2" charset="2"/>
              <a:buChar char="Ø"/>
            </a:pPr>
            <a:r>
              <a:rPr lang="en-US" dirty="0"/>
              <a:t>There are 4 ways to deploy an Azure Kubernetes Cluster, which are </a:t>
            </a:r>
            <a:r>
              <a:rPr lang="en-US" dirty="0" smtClean="0"/>
              <a:t>using:</a:t>
            </a:r>
            <a:endParaRPr lang="en-US" sz="2400" dirty="0" smtClean="0"/>
          </a:p>
          <a:p>
            <a:pPr lvl="1">
              <a:lnSpc>
                <a:spcPct val="150000"/>
              </a:lnSpc>
              <a:buFont typeface="Wingdings" panose="05000000000000000000" pitchFamily="2" charset="2"/>
              <a:buChar char="Ø"/>
            </a:pPr>
            <a:r>
              <a:rPr lang="en-US" sz="2000" dirty="0"/>
              <a:t>Azure Portal</a:t>
            </a:r>
          </a:p>
          <a:p>
            <a:pPr lvl="1">
              <a:lnSpc>
                <a:spcPct val="150000"/>
              </a:lnSpc>
              <a:buFont typeface="Wingdings" panose="05000000000000000000" pitchFamily="2" charset="2"/>
              <a:buChar char="Ø"/>
            </a:pPr>
            <a:r>
              <a:rPr lang="en-US" sz="2000" dirty="0"/>
              <a:t>Azure CLI</a:t>
            </a:r>
          </a:p>
          <a:p>
            <a:pPr lvl="1">
              <a:lnSpc>
                <a:spcPct val="150000"/>
              </a:lnSpc>
              <a:buFont typeface="Wingdings" panose="05000000000000000000" pitchFamily="2" charset="2"/>
              <a:buChar char="Ø"/>
            </a:pPr>
            <a:r>
              <a:rPr lang="en-US" sz="2000" dirty="0"/>
              <a:t>Azure </a:t>
            </a:r>
            <a:r>
              <a:rPr lang="en-US" sz="2000" dirty="0" smtClean="0"/>
              <a:t>PowerShell</a:t>
            </a:r>
            <a:endParaRPr lang="en-US" sz="2000" dirty="0"/>
          </a:p>
          <a:p>
            <a:pPr lvl="1">
              <a:lnSpc>
                <a:spcPct val="150000"/>
              </a:lnSpc>
              <a:buFont typeface="Wingdings" panose="05000000000000000000" pitchFamily="2" charset="2"/>
              <a:buChar char="Ø"/>
            </a:pPr>
            <a:r>
              <a:rPr lang="en-US" sz="2000" dirty="0"/>
              <a:t>Using template-driven deployment options</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20</a:t>
            </a:fld>
            <a:endParaRPr lang="en-US" dirty="0"/>
          </a:p>
        </p:txBody>
      </p:sp>
    </p:spTree>
    <p:extLst>
      <p:ext uri="{BB962C8B-B14F-4D97-AF65-F5344CB8AC3E}">
        <p14:creationId xmlns:p14="http://schemas.microsoft.com/office/powerpoint/2010/main" val="33291338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195308"/>
            <a:ext cx="11025050" cy="1112745"/>
          </a:xfrm>
        </p:spPr>
        <p:txBody>
          <a:bodyPr>
            <a:noAutofit/>
          </a:bodyPr>
          <a:lstStyle/>
          <a:p>
            <a:r>
              <a:rPr lang="en-US" b="1" dirty="0" smtClean="0"/>
              <a:t>Steps </a:t>
            </a:r>
            <a:r>
              <a:rPr lang="en-US" b="1" dirty="0"/>
              <a:t>To Create AKS Cluster</a:t>
            </a:r>
          </a:p>
        </p:txBody>
      </p:sp>
      <p:sp>
        <p:nvSpPr>
          <p:cNvPr id="3" name="Content Placeholder 2"/>
          <p:cNvSpPr>
            <a:spLocks noGrp="1"/>
          </p:cNvSpPr>
          <p:nvPr>
            <p:ph idx="1"/>
          </p:nvPr>
        </p:nvSpPr>
        <p:spPr>
          <a:xfrm>
            <a:off x="574765" y="1325819"/>
            <a:ext cx="11025049" cy="4839850"/>
          </a:xfrm>
        </p:spPr>
        <p:txBody>
          <a:bodyPr>
            <a:noAutofit/>
          </a:bodyPr>
          <a:lstStyle/>
          <a:p>
            <a:pPr>
              <a:lnSpc>
                <a:spcPct val="150000"/>
              </a:lnSpc>
              <a:buFont typeface="Wingdings" panose="05000000000000000000" pitchFamily="2" charset="2"/>
              <a:buChar char="Ø"/>
            </a:pPr>
            <a:r>
              <a:rPr lang="en-US" dirty="0" smtClean="0"/>
              <a:t>Now </a:t>
            </a:r>
            <a:r>
              <a:rPr lang="en-US" dirty="0"/>
              <a:t>let us look at how do we create a cluster using Azure </a:t>
            </a:r>
            <a:r>
              <a:rPr lang="en-US" dirty="0" smtClean="0"/>
              <a:t>Portal.</a:t>
            </a:r>
          </a:p>
          <a:p>
            <a:pPr>
              <a:lnSpc>
                <a:spcPct val="150000"/>
              </a:lnSpc>
              <a:buFont typeface="Wingdings" panose="05000000000000000000" pitchFamily="2" charset="2"/>
              <a:buChar char="Ø"/>
            </a:pPr>
            <a:r>
              <a:rPr lang="en-US" dirty="0" smtClean="0"/>
              <a:t>But </a:t>
            </a:r>
            <a:r>
              <a:rPr lang="en-US" dirty="0"/>
              <a:t>before all that you should an Azure Cloud account to create a cluster. Create a </a:t>
            </a:r>
            <a:r>
              <a:rPr lang="en-US" sz="2400" b="1" i="1" dirty="0"/>
              <a:t>FREE TRIAL AZURE </a:t>
            </a:r>
            <a:r>
              <a:rPr lang="en-US" sz="2400" b="1" i="1" dirty="0" smtClean="0"/>
              <a:t>ACCOUNT </a:t>
            </a:r>
            <a:r>
              <a:rPr lang="en-US" dirty="0" smtClean="0"/>
              <a:t>to </a:t>
            </a:r>
            <a:r>
              <a:rPr lang="en-US" dirty="0"/>
              <a:t>get $200 free credit on your Azure </a:t>
            </a:r>
            <a:r>
              <a:rPr lang="en-US" dirty="0" smtClean="0"/>
              <a:t>portal.</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21</a:t>
            </a:fld>
            <a:endParaRPr lang="en-US" dirty="0"/>
          </a:p>
        </p:txBody>
      </p:sp>
    </p:spTree>
    <p:extLst>
      <p:ext uri="{BB962C8B-B14F-4D97-AF65-F5344CB8AC3E}">
        <p14:creationId xmlns:p14="http://schemas.microsoft.com/office/powerpoint/2010/main" val="5901863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Cluster</a:t>
            </a:r>
          </a:p>
        </p:txBody>
      </p:sp>
      <p:sp>
        <p:nvSpPr>
          <p:cNvPr id="3" name="Content Placeholder 2"/>
          <p:cNvSpPr>
            <a:spLocks noGrp="1"/>
          </p:cNvSpPr>
          <p:nvPr>
            <p:ph idx="1"/>
          </p:nvPr>
        </p:nvSpPr>
        <p:spPr>
          <a:xfrm>
            <a:off x="574765" y="999248"/>
            <a:ext cx="11025049" cy="4839850"/>
          </a:xfrm>
        </p:spPr>
        <p:txBody>
          <a:bodyPr>
            <a:noAutofit/>
          </a:bodyPr>
          <a:lstStyle/>
          <a:p>
            <a:pPr>
              <a:lnSpc>
                <a:spcPct val="150000"/>
              </a:lnSpc>
              <a:buFont typeface="Wingdings" panose="05000000000000000000" pitchFamily="2" charset="2"/>
              <a:buChar char="Ø"/>
            </a:pPr>
            <a:r>
              <a:rPr lang="en-US" dirty="0" smtClean="0"/>
              <a:t>Step </a:t>
            </a:r>
            <a:r>
              <a:rPr lang="en-US" dirty="0"/>
              <a:t>1 </a:t>
            </a:r>
            <a:r>
              <a:rPr lang="en-US" b="1" i="1" dirty="0"/>
              <a:t>[Kubernetes Services]:</a:t>
            </a:r>
            <a:r>
              <a:rPr lang="en-US" dirty="0"/>
              <a:t>  </a:t>
            </a:r>
            <a:r>
              <a:rPr lang="en-US" sz="2000" dirty="0" smtClean="0"/>
              <a:t>Go </a:t>
            </a:r>
            <a:r>
              <a:rPr lang="en-US" sz="2000" dirty="0"/>
              <a:t>to the Azure Portal and search for Kubernetes Service in the search bar and click on it.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22</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4454" y="2111992"/>
            <a:ext cx="9239374" cy="4746007"/>
          </a:xfrm>
          <a:prstGeom prst="rect">
            <a:avLst/>
          </a:prstGeom>
        </p:spPr>
      </p:pic>
    </p:spTree>
    <p:extLst>
      <p:ext uri="{BB962C8B-B14F-4D97-AF65-F5344CB8AC3E}">
        <p14:creationId xmlns:p14="http://schemas.microsoft.com/office/powerpoint/2010/main" val="4339675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lnSpc>
                <a:spcPct val="150000"/>
              </a:lnSpc>
              <a:buFont typeface="Wingdings" panose="05000000000000000000" pitchFamily="2" charset="2"/>
              <a:buChar char="Ø"/>
            </a:pPr>
            <a:r>
              <a:rPr lang="en-US" b="1" dirty="0" smtClean="0"/>
              <a:t>Step 2 [Add Kubernetes Cluster]: </a:t>
            </a:r>
            <a:r>
              <a:rPr lang="en-US" sz="2000" dirty="0" smtClean="0"/>
              <a:t>Once you reach the Kubernetes Services page, click on </a:t>
            </a:r>
            <a:r>
              <a:rPr lang="en-US" sz="2000" b="1" dirty="0" smtClean="0"/>
              <a:t>Create </a:t>
            </a:r>
            <a:r>
              <a:rPr lang="en-US" sz="2000" dirty="0" smtClean="0"/>
              <a:t>and then </a:t>
            </a:r>
            <a:r>
              <a:rPr lang="en-US" sz="2000" b="1" dirty="0" smtClean="0"/>
              <a:t>Create Kubernetes Cluster</a:t>
            </a:r>
            <a:r>
              <a:rPr lang="en-US" sz="2000" dirty="0" smtClean="0"/>
              <a:t>.</a:t>
            </a:r>
            <a:endParaRPr lang="en-US" sz="16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23</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6763" y="2206444"/>
            <a:ext cx="9501051" cy="4651556"/>
          </a:xfrm>
          <a:prstGeom prst="rect">
            <a:avLst/>
          </a:prstGeom>
        </p:spPr>
      </p:pic>
    </p:spTree>
    <p:extLst>
      <p:ext uri="{BB962C8B-B14F-4D97-AF65-F5344CB8AC3E}">
        <p14:creationId xmlns:p14="http://schemas.microsoft.com/office/powerpoint/2010/main" val="15325051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lnSpc>
                <a:spcPct val="150000"/>
              </a:lnSpc>
              <a:buFont typeface="Wingdings" panose="05000000000000000000" pitchFamily="2" charset="2"/>
              <a:buChar char="Ø"/>
            </a:pPr>
            <a:r>
              <a:rPr lang="en-US" sz="2400" b="1" dirty="0"/>
              <a:t>Step 3 [Basics]:</a:t>
            </a:r>
            <a:r>
              <a:rPr lang="en-US" b="1" dirty="0"/>
              <a:t> </a:t>
            </a:r>
            <a:r>
              <a:rPr lang="en-US" sz="2000" dirty="0"/>
              <a:t>Once you click on add Kubernetes cluster, the next step is to update the specifications of the cluster. So, click on </a:t>
            </a:r>
            <a:r>
              <a:rPr lang="en-US" sz="2000" b="1" dirty="0"/>
              <a:t>Basics</a:t>
            </a:r>
            <a:r>
              <a:rPr lang="en-US" sz="2000" dirty="0" smtClean="0"/>
              <a:t>.</a:t>
            </a:r>
          </a:p>
          <a:p>
            <a:pPr lvl="1">
              <a:lnSpc>
                <a:spcPct val="150000"/>
              </a:lnSpc>
            </a:pPr>
            <a:r>
              <a:rPr lang="en-US" sz="2000" dirty="0"/>
              <a:t>Give the </a:t>
            </a:r>
            <a:r>
              <a:rPr lang="en-US" sz="2000" b="1" i="1" dirty="0" smtClean="0">
                <a:solidFill>
                  <a:schemeClr val="accent2"/>
                </a:solidFill>
              </a:rPr>
              <a:t>Resource Group</a:t>
            </a:r>
            <a:r>
              <a:rPr lang="en-US" sz="2000" b="1" dirty="0" smtClean="0">
                <a:solidFill>
                  <a:srgbClr val="92D050"/>
                </a:solidFill>
              </a:rPr>
              <a:t> </a:t>
            </a:r>
            <a:r>
              <a:rPr lang="en-US" sz="2000" dirty="0" smtClean="0"/>
              <a:t>name </a:t>
            </a:r>
            <a:r>
              <a:rPr lang="en-US" sz="2000" dirty="0"/>
              <a:t>as per your requirement.</a:t>
            </a:r>
          </a:p>
          <a:p>
            <a:pPr lvl="1">
              <a:lnSpc>
                <a:spcPct val="150000"/>
              </a:lnSpc>
            </a:pPr>
            <a:r>
              <a:rPr lang="en-US" sz="2000" dirty="0"/>
              <a:t>Specify a name to your cluster in</a:t>
            </a:r>
            <a:r>
              <a:rPr lang="en-US" sz="2000" b="1" dirty="0"/>
              <a:t> the Kubernetes cluster name </a:t>
            </a:r>
            <a:r>
              <a:rPr lang="en-US" sz="2000" dirty="0"/>
              <a:t>field.</a:t>
            </a:r>
          </a:p>
          <a:p>
            <a:pPr lvl="1">
              <a:lnSpc>
                <a:spcPct val="150000"/>
              </a:lnSpc>
            </a:pPr>
            <a:r>
              <a:rPr lang="en-US" sz="2000" dirty="0"/>
              <a:t>Choose a </a:t>
            </a:r>
            <a:r>
              <a:rPr lang="en-US" sz="2000" b="1" dirty="0"/>
              <a:t>Region</a:t>
            </a:r>
            <a:r>
              <a:rPr lang="en-US" sz="2000" dirty="0"/>
              <a:t> in which you want to create your AKS cluster. In the specified region, our master node will be created.</a:t>
            </a:r>
          </a:p>
          <a:p>
            <a:pPr lvl="1">
              <a:lnSpc>
                <a:spcPct val="150000"/>
              </a:lnSpc>
            </a:pPr>
            <a:r>
              <a:rPr lang="en-US" sz="2000" dirty="0"/>
              <a:t>Based on the region the select the </a:t>
            </a:r>
            <a:r>
              <a:rPr lang="en-US" sz="2000" b="1" i="1" dirty="0">
                <a:solidFill>
                  <a:schemeClr val="accent2"/>
                </a:solidFill>
              </a:rPr>
              <a:t>availability zones</a:t>
            </a:r>
            <a:r>
              <a:rPr lang="en-US" sz="2000" dirty="0"/>
              <a:t>.</a:t>
            </a:r>
          </a:p>
          <a:p>
            <a:pPr lvl="1">
              <a:lnSpc>
                <a:spcPct val="150000"/>
              </a:lnSpc>
            </a:pPr>
            <a:r>
              <a:rPr lang="en-US" sz="2000" dirty="0"/>
              <a:t>Select the </a:t>
            </a:r>
            <a:r>
              <a:rPr lang="en-US" sz="2000" b="1" dirty="0"/>
              <a:t>Kubernetes Version.  </a:t>
            </a:r>
            <a:r>
              <a:rPr lang="en-US" sz="2000" dirty="0"/>
              <a:t>Here I am choosing the default, i.e., </a:t>
            </a:r>
            <a:r>
              <a:rPr lang="en-US" sz="2000" b="1" dirty="0"/>
              <a:t>1.20.9</a:t>
            </a:r>
            <a:endParaRPr lang="en-US" sz="2000" dirty="0"/>
          </a:p>
          <a:p>
            <a:pPr>
              <a:lnSpc>
                <a:spcPct val="150000"/>
              </a:lnSpc>
              <a:buFont typeface="Wingdings" panose="05000000000000000000" pitchFamily="2" charset="2"/>
              <a:buChar char="Ø"/>
            </a:pPr>
            <a:endParaRPr lang="en-US" sz="2000" dirty="0" smtClean="0"/>
          </a:p>
          <a:p>
            <a:pPr>
              <a:lnSpc>
                <a:spcPct val="150000"/>
              </a:lnSpc>
              <a:buFont typeface="Wingdings" panose="05000000000000000000" pitchFamily="2" charset="2"/>
              <a:buChar char="Ø"/>
            </a:pPr>
            <a:endParaRPr lang="en-US" sz="12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24</a:t>
            </a:fld>
            <a:endParaRPr lang="en-US" dirty="0"/>
          </a:p>
        </p:txBody>
      </p:sp>
    </p:spTree>
    <p:extLst>
      <p:ext uri="{BB962C8B-B14F-4D97-AF65-F5344CB8AC3E}">
        <p14:creationId xmlns:p14="http://schemas.microsoft.com/office/powerpoint/2010/main" val="334012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lnSpc>
                <a:spcPct val="100000"/>
              </a:lnSpc>
              <a:buFont typeface="Wingdings" panose="05000000000000000000" pitchFamily="2" charset="2"/>
              <a:buChar char="Ø"/>
            </a:pPr>
            <a:r>
              <a:rPr lang="en-US" sz="2400" b="1" dirty="0"/>
              <a:t>Step 3 [Basics]:</a:t>
            </a:r>
            <a:r>
              <a:rPr lang="en-US" b="1" dirty="0"/>
              <a:t> </a:t>
            </a:r>
            <a:endParaRPr lang="en-US" sz="2000" dirty="0" smtClean="0"/>
          </a:p>
          <a:p>
            <a:pPr>
              <a:lnSpc>
                <a:spcPct val="150000"/>
              </a:lnSpc>
              <a:buFont typeface="Wingdings" panose="05000000000000000000" pitchFamily="2" charset="2"/>
              <a:buChar char="Ø"/>
            </a:pPr>
            <a:endParaRPr lang="en-US" sz="12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25</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1409" y="1528232"/>
            <a:ext cx="9157187" cy="5329768"/>
          </a:xfrm>
          <a:prstGeom prst="rect">
            <a:avLst/>
          </a:prstGeom>
          <a:ln>
            <a:solidFill>
              <a:schemeClr val="bg2"/>
            </a:solidFill>
          </a:ln>
        </p:spPr>
      </p:pic>
    </p:spTree>
    <p:extLst>
      <p:ext uri="{BB962C8B-B14F-4D97-AF65-F5344CB8AC3E}">
        <p14:creationId xmlns:p14="http://schemas.microsoft.com/office/powerpoint/2010/main" val="18036628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lnSpc>
                <a:spcPct val="100000"/>
              </a:lnSpc>
              <a:buFont typeface="Wingdings" panose="05000000000000000000" pitchFamily="2" charset="2"/>
              <a:buChar char="Ø"/>
            </a:pPr>
            <a:r>
              <a:rPr lang="en-US" sz="2400" b="1" dirty="0"/>
              <a:t>Step 3 [Basics</a:t>
            </a:r>
            <a:r>
              <a:rPr lang="en-US" sz="2400" b="1" dirty="0" smtClean="0"/>
              <a:t>]:</a:t>
            </a:r>
          </a:p>
          <a:p>
            <a:pPr lvl="1">
              <a:lnSpc>
                <a:spcPct val="100000"/>
              </a:lnSpc>
              <a:buFont typeface="Wingdings" panose="05000000000000000000" pitchFamily="2" charset="2"/>
              <a:buChar char="Ø"/>
            </a:pPr>
            <a:r>
              <a:rPr lang="en-US" sz="2000" dirty="0"/>
              <a:t>Next, comes the size and count of the nodes of the AKS cluster that we are </a:t>
            </a:r>
            <a:r>
              <a:rPr lang="en-US" sz="2000" dirty="0" err="1"/>
              <a:t>gonna</a:t>
            </a:r>
            <a:r>
              <a:rPr lang="en-US" sz="2000" dirty="0"/>
              <a:t> create. These can be updated as per the requirements</a:t>
            </a:r>
            <a:r>
              <a:rPr lang="en-US" sz="2000" dirty="0" smtClean="0"/>
              <a:t>.</a:t>
            </a:r>
          </a:p>
          <a:p>
            <a:pPr lvl="2">
              <a:lnSpc>
                <a:spcPct val="100000"/>
              </a:lnSpc>
            </a:pPr>
            <a:r>
              <a:rPr lang="en-US" dirty="0"/>
              <a:t>Select the </a:t>
            </a:r>
            <a:r>
              <a:rPr lang="en-US" b="1" dirty="0"/>
              <a:t>Node Size. </a:t>
            </a:r>
            <a:r>
              <a:rPr lang="en-US" dirty="0"/>
              <a:t>We are choosing </a:t>
            </a:r>
            <a:r>
              <a:rPr lang="en-US" b="1" dirty="0"/>
              <a:t>Standard Ds2 v2 </a:t>
            </a:r>
            <a:r>
              <a:rPr lang="en-US" dirty="0"/>
              <a:t>which has the following configuration: 2 vCPUs, 7 </a:t>
            </a:r>
            <a:r>
              <a:rPr lang="en-US" dirty="0" smtClean="0"/>
              <a:t>GB </a:t>
            </a:r>
            <a:r>
              <a:rPr lang="en-US" dirty="0"/>
              <a:t>RAM, 8 Data Disks, 14 </a:t>
            </a:r>
            <a:r>
              <a:rPr lang="en-US" dirty="0" smtClean="0"/>
              <a:t>GB </a:t>
            </a:r>
            <a:r>
              <a:rPr lang="en-US" dirty="0"/>
              <a:t>Temp Storage.</a:t>
            </a:r>
          </a:p>
          <a:p>
            <a:pPr lvl="2">
              <a:lnSpc>
                <a:spcPct val="100000"/>
              </a:lnSpc>
            </a:pPr>
            <a:r>
              <a:rPr lang="en-US" dirty="0"/>
              <a:t>Give the </a:t>
            </a:r>
            <a:r>
              <a:rPr lang="en-US" b="1" dirty="0"/>
              <a:t>Node Count</a:t>
            </a:r>
            <a:r>
              <a:rPr lang="en-US" dirty="0"/>
              <a:t> value which specifies how many Worker Nodes we want</a:t>
            </a:r>
            <a:r>
              <a:rPr lang="en-US" dirty="0" smtClean="0"/>
              <a:t>.</a:t>
            </a:r>
            <a:endParaRPr lang="en-US"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26</a:t>
            </a:fld>
            <a:endParaRPr lang="en-US" dirty="0"/>
          </a:p>
        </p:txBody>
      </p:sp>
    </p:spTree>
    <p:extLst>
      <p:ext uri="{BB962C8B-B14F-4D97-AF65-F5344CB8AC3E}">
        <p14:creationId xmlns:p14="http://schemas.microsoft.com/office/powerpoint/2010/main" val="4805810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lnSpc>
                <a:spcPct val="100000"/>
              </a:lnSpc>
              <a:buFont typeface="Wingdings" panose="05000000000000000000" pitchFamily="2" charset="2"/>
              <a:buChar char="Ø"/>
            </a:pPr>
            <a:r>
              <a:rPr lang="en-US" sz="2400" b="1" dirty="0"/>
              <a:t>Step 3 [Basics</a:t>
            </a:r>
            <a:r>
              <a:rPr lang="en-US" sz="2400" b="1" dirty="0" smtClean="0"/>
              <a: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27</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981" y="1654178"/>
            <a:ext cx="9618616" cy="5203822"/>
          </a:xfrm>
          <a:prstGeom prst="rect">
            <a:avLst/>
          </a:prstGeom>
        </p:spPr>
      </p:pic>
    </p:spTree>
    <p:extLst>
      <p:ext uri="{BB962C8B-B14F-4D97-AF65-F5344CB8AC3E}">
        <p14:creationId xmlns:p14="http://schemas.microsoft.com/office/powerpoint/2010/main" val="422789391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lnSpc>
                <a:spcPct val="150000"/>
              </a:lnSpc>
              <a:buFont typeface="Wingdings" panose="05000000000000000000" pitchFamily="2" charset="2"/>
              <a:buChar char="Ø"/>
            </a:pPr>
            <a:r>
              <a:rPr lang="en-US" b="1" dirty="0" smtClean="0"/>
              <a:t>Step </a:t>
            </a:r>
            <a:r>
              <a:rPr lang="en-US" b="1" dirty="0"/>
              <a:t>4 [Node Pools]: </a:t>
            </a:r>
            <a:r>
              <a:rPr lang="en-US" sz="2000" dirty="0"/>
              <a:t>Next comes the </a:t>
            </a:r>
            <a:r>
              <a:rPr lang="en-US" sz="2000" b="1" dirty="0"/>
              <a:t>Node Pools</a:t>
            </a:r>
            <a:r>
              <a:rPr lang="en-US" sz="2000" dirty="0"/>
              <a:t>, follow the steps given below:</a:t>
            </a:r>
          </a:p>
          <a:p>
            <a:pPr>
              <a:lnSpc>
                <a:spcPct val="150000"/>
              </a:lnSpc>
            </a:pPr>
            <a:r>
              <a:rPr lang="en-US" sz="2000" dirty="0"/>
              <a:t>In Azure Kubernetes Service (AKS), nodes of the same configuration are grouped together into </a:t>
            </a:r>
            <a:r>
              <a:rPr lang="en-US" sz="2000" b="1" dirty="0"/>
              <a:t>node pools</a:t>
            </a:r>
            <a:r>
              <a:rPr lang="en-US" sz="2000" dirty="0"/>
              <a:t>. </a:t>
            </a:r>
            <a:r>
              <a:rPr lang="en-US" sz="2000" b="1" dirty="0"/>
              <a:t>Node pools</a:t>
            </a:r>
            <a:r>
              <a:rPr lang="en-US" sz="2000" dirty="0"/>
              <a:t> contain the underlying VMs that run your applications.</a:t>
            </a:r>
          </a:p>
          <a:p>
            <a:pPr>
              <a:lnSpc>
                <a:spcPct val="150000"/>
              </a:lnSpc>
            </a:pPr>
            <a:r>
              <a:rPr lang="en-US" sz="2000" dirty="0"/>
              <a:t>The </a:t>
            </a:r>
            <a:r>
              <a:rPr lang="en-US" sz="2000" b="1" dirty="0"/>
              <a:t>Virtual nodes </a:t>
            </a:r>
            <a:r>
              <a:rPr lang="en-US" sz="2000" dirty="0"/>
              <a:t>are a type of </a:t>
            </a:r>
            <a:r>
              <a:rPr lang="en-US" sz="2000" dirty="0" err="1"/>
              <a:t>Serverless</a:t>
            </a:r>
            <a:r>
              <a:rPr lang="en-US" sz="2000" dirty="0"/>
              <a:t> container instance. As we want to create the Worker nodes as Virtual Machines, so we </a:t>
            </a:r>
            <a:r>
              <a:rPr lang="en-US" sz="2000" b="1" dirty="0"/>
              <a:t>won’t enable</a:t>
            </a:r>
            <a:r>
              <a:rPr lang="en-US" sz="2000" dirty="0"/>
              <a:t> this option.</a:t>
            </a:r>
          </a:p>
          <a:p>
            <a:pPr>
              <a:lnSpc>
                <a:spcPct val="100000"/>
              </a:lnSpc>
              <a:buFont typeface="Wingdings" panose="05000000000000000000" pitchFamily="2" charset="2"/>
              <a:buChar char="Ø"/>
            </a:pPr>
            <a:endParaRPr lang="en-US" sz="2400" b="1"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28</a:t>
            </a:fld>
            <a:endParaRPr lang="en-US" dirty="0"/>
          </a:p>
        </p:txBody>
      </p:sp>
    </p:spTree>
    <p:extLst>
      <p:ext uri="{BB962C8B-B14F-4D97-AF65-F5344CB8AC3E}">
        <p14:creationId xmlns:p14="http://schemas.microsoft.com/office/powerpoint/2010/main" val="38900355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lnSpc>
                <a:spcPct val="150000"/>
              </a:lnSpc>
              <a:buFont typeface="Wingdings" panose="05000000000000000000" pitchFamily="2" charset="2"/>
              <a:buChar char="Ø"/>
            </a:pPr>
            <a:r>
              <a:rPr lang="en-US" sz="2400" b="1" dirty="0" smtClean="0"/>
              <a:t>Step </a:t>
            </a:r>
            <a:r>
              <a:rPr lang="en-US" sz="2400" b="1" dirty="0"/>
              <a:t>4 [Node Pools</a:t>
            </a:r>
            <a:r>
              <a:rPr lang="en-US" sz="2400" b="1" dirty="0" smtClean="0"/>
              <a:t>]:</a:t>
            </a:r>
          </a:p>
          <a:p>
            <a:pPr>
              <a:lnSpc>
                <a:spcPct val="150000"/>
              </a:lnSpc>
              <a:buFont typeface="Wingdings" panose="05000000000000000000" pitchFamily="2" charset="2"/>
              <a:buChar char="Ø"/>
            </a:pPr>
            <a:endParaRPr lang="en-US" sz="2000" b="1" dirty="0" smtClean="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29</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9587" y="1577884"/>
            <a:ext cx="8892827" cy="5280116"/>
          </a:xfrm>
          <a:prstGeom prst="rect">
            <a:avLst/>
          </a:prstGeom>
        </p:spPr>
      </p:pic>
    </p:spTree>
    <p:extLst>
      <p:ext uri="{BB962C8B-B14F-4D97-AF65-F5344CB8AC3E}">
        <p14:creationId xmlns:p14="http://schemas.microsoft.com/office/powerpoint/2010/main" val="38006163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lnSpc>
                <a:spcPct val="150000"/>
              </a:lnSpc>
              <a:buFont typeface="Wingdings" panose="05000000000000000000" pitchFamily="2" charset="2"/>
              <a:buChar char="Ø"/>
            </a:pPr>
            <a:r>
              <a:rPr lang="en-US" sz="2400" b="1" dirty="0" smtClean="0"/>
              <a:t>Step </a:t>
            </a:r>
            <a:r>
              <a:rPr lang="en-US" sz="2400" b="1" dirty="0"/>
              <a:t>5 [Authentication]:</a:t>
            </a:r>
            <a:r>
              <a:rPr lang="en-US" sz="2000" b="1" dirty="0"/>
              <a:t> </a:t>
            </a:r>
            <a:r>
              <a:rPr lang="en-US" sz="2000" dirty="0"/>
              <a:t>Next is to click on </a:t>
            </a:r>
            <a:r>
              <a:rPr lang="en-US" sz="2000" b="1" dirty="0"/>
              <a:t>Authentication</a:t>
            </a:r>
            <a:r>
              <a:rPr lang="en-US" sz="2000" dirty="0"/>
              <a:t>.</a:t>
            </a:r>
          </a:p>
          <a:p>
            <a:r>
              <a:rPr lang="en-US" sz="2000" dirty="0"/>
              <a:t>Choose the</a:t>
            </a:r>
            <a:r>
              <a:rPr lang="en-US" sz="2000" b="1" dirty="0"/>
              <a:t> System-assigned managed identity.</a:t>
            </a:r>
            <a:endParaRPr lang="en-US" sz="2000" dirty="0"/>
          </a:p>
          <a:p>
            <a:r>
              <a:rPr lang="en-US" sz="2000" dirty="0"/>
              <a:t>If you want to go for </a:t>
            </a:r>
            <a:r>
              <a:rPr lang="en-US" sz="2000" b="1" dirty="0">
                <a:hlinkClick r:id="rId2"/>
              </a:rPr>
              <a:t>Role-based Access Control </a:t>
            </a:r>
            <a:r>
              <a:rPr lang="en-US" sz="2000" dirty="0">
                <a:hlinkClick r:id="rId2"/>
              </a:rPr>
              <a:t>(</a:t>
            </a:r>
            <a:r>
              <a:rPr lang="en-US" sz="2000" b="1" dirty="0">
                <a:hlinkClick r:id="rId2"/>
              </a:rPr>
              <a:t>RBAC)</a:t>
            </a:r>
            <a:r>
              <a:rPr lang="en-US" sz="2000" dirty="0"/>
              <a:t> then select </a:t>
            </a:r>
            <a:r>
              <a:rPr lang="en-US" sz="2000" b="1" dirty="0"/>
              <a:t>Enabled.</a:t>
            </a:r>
            <a:endParaRPr lang="en-US" sz="2000" dirty="0"/>
          </a:p>
          <a:p>
            <a:r>
              <a:rPr lang="en-US" sz="2000" dirty="0"/>
              <a:t>We can use both </a:t>
            </a:r>
            <a:r>
              <a:rPr lang="en-US" sz="2000" b="1" dirty="0"/>
              <a:t>RBAC</a:t>
            </a:r>
            <a:r>
              <a:rPr lang="en-US" sz="2000" dirty="0"/>
              <a:t> &amp; </a:t>
            </a:r>
            <a:r>
              <a:rPr lang="en-US" sz="2000" b="1" dirty="0">
                <a:hlinkClick r:id="rId3"/>
              </a:rPr>
              <a:t>Azure Active Directory</a:t>
            </a:r>
            <a:r>
              <a:rPr lang="en-US" sz="2000" dirty="0"/>
              <a:t> for Authentication.</a:t>
            </a:r>
          </a:p>
          <a:p>
            <a:r>
              <a:rPr lang="en-US" sz="2000" b="1" dirty="0"/>
              <a:t>Note:</a:t>
            </a:r>
            <a:r>
              <a:rPr lang="en-US" sz="2000" dirty="0"/>
              <a:t> Here in this step-by-step guide, we are using both RBAC &amp; Azure AD for authentication.</a:t>
            </a:r>
          </a:p>
          <a:p>
            <a:r>
              <a:rPr lang="en-US" sz="2000" dirty="0"/>
              <a:t>Check the Azure Active Directory option.</a:t>
            </a:r>
          </a:p>
          <a:p>
            <a:r>
              <a:rPr lang="en-US" sz="2000" dirty="0"/>
              <a:t>Create a group in Active Directory and add it.</a:t>
            </a:r>
          </a:p>
          <a:p>
            <a:r>
              <a:rPr lang="en-US" sz="2000" dirty="0"/>
              <a:t>Choose the </a:t>
            </a:r>
            <a:r>
              <a:rPr lang="en-US" sz="2000" b="1" dirty="0"/>
              <a:t>Encryption Type</a:t>
            </a:r>
            <a:r>
              <a:rPr lang="en-US" sz="2000" dirty="0"/>
              <a:t> of your choice, I will use the Default </a:t>
            </a:r>
            <a:r>
              <a:rPr lang="en-US" sz="2000" dirty="0" smtClean="0"/>
              <a:t>one</a:t>
            </a:r>
            <a:endParaRPr lang="en-US" sz="20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30</a:t>
            </a:fld>
            <a:endParaRPr lang="en-US" dirty="0"/>
          </a:p>
        </p:txBody>
      </p:sp>
    </p:spTree>
    <p:extLst>
      <p:ext uri="{BB962C8B-B14F-4D97-AF65-F5344CB8AC3E}">
        <p14:creationId xmlns:p14="http://schemas.microsoft.com/office/powerpoint/2010/main" val="12815275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lnSpc>
                <a:spcPct val="150000"/>
              </a:lnSpc>
              <a:buFont typeface="Wingdings" panose="05000000000000000000" pitchFamily="2" charset="2"/>
              <a:buChar char="Ø"/>
            </a:pPr>
            <a:r>
              <a:rPr lang="en-US" sz="2400" b="1" dirty="0" smtClean="0"/>
              <a:t>Step </a:t>
            </a:r>
            <a:r>
              <a:rPr lang="en-US" sz="2400" b="1" dirty="0"/>
              <a:t>5 [Authentication</a:t>
            </a:r>
            <a:r>
              <a:rPr lang="en-US" sz="2400" b="1" dirty="0" smtClean="0"/>
              <a:t>]:</a:t>
            </a:r>
            <a:endParaRPr lang="en-US" sz="2000" b="1" dirty="0"/>
          </a:p>
          <a:p>
            <a:pPr marL="0" indent="0">
              <a:lnSpc>
                <a:spcPct val="150000"/>
              </a:lnSpc>
              <a:buNone/>
            </a:pPr>
            <a:endParaRPr lang="en-US" sz="20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31</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2593" y="1661490"/>
            <a:ext cx="10014855" cy="5196510"/>
          </a:xfrm>
          <a:prstGeom prst="rect">
            <a:avLst/>
          </a:prstGeom>
        </p:spPr>
      </p:pic>
    </p:spTree>
    <p:extLst>
      <p:ext uri="{BB962C8B-B14F-4D97-AF65-F5344CB8AC3E}">
        <p14:creationId xmlns:p14="http://schemas.microsoft.com/office/powerpoint/2010/main" val="41595920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buFont typeface="Wingdings" panose="05000000000000000000" pitchFamily="2" charset="2"/>
              <a:buChar char="Ø"/>
            </a:pPr>
            <a:r>
              <a:rPr lang="en-US" b="1" dirty="0" smtClean="0"/>
              <a:t>Step </a:t>
            </a:r>
            <a:r>
              <a:rPr lang="en-US" b="1" dirty="0"/>
              <a:t>6 [Networking]:</a:t>
            </a:r>
            <a:r>
              <a:rPr lang="en-US" dirty="0"/>
              <a:t> </a:t>
            </a:r>
            <a:r>
              <a:rPr lang="en-US" sz="2000" dirty="0"/>
              <a:t>Next is the</a:t>
            </a:r>
            <a:r>
              <a:rPr lang="en-US" sz="2000" b="1" dirty="0">
                <a:hlinkClick r:id="rId2"/>
              </a:rPr>
              <a:t> Networking</a:t>
            </a:r>
            <a:r>
              <a:rPr lang="en-US" sz="2000" b="1" dirty="0"/>
              <a:t> </a:t>
            </a:r>
            <a:r>
              <a:rPr lang="en-US" sz="2000" dirty="0"/>
              <a:t>part.</a:t>
            </a:r>
          </a:p>
          <a:p>
            <a:r>
              <a:rPr lang="en-US" sz="2000" dirty="0"/>
              <a:t>Select the </a:t>
            </a:r>
            <a:r>
              <a:rPr lang="en-US" sz="2000" b="1" dirty="0"/>
              <a:t>Network Configuration. </a:t>
            </a:r>
            <a:r>
              <a:rPr lang="en-US" sz="2000" dirty="0"/>
              <a:t>I will be choosing</a:t>
            </a:r>
            <a:r>
              <a:rPr lang="en-US" sz="2000" b="1" dirty="0"/>
              <a:t> Azure CNI</a:t>
            </a:r>
            <a:endParaRPr lang="en-US" sz="2000" dirty="0"/>
          </a:p>
          <a:p>
            <a:r>
              <a:rPr lang="en-US" sz="2000" dirty="0"/>
              <a:t>The </a:t>
            </a:r>
            <a:r>
              <a:rPr lang="en-US" sz="2000" b="1" dirty="0"/>
              <a:t>Cluster Subnet </a:t>
            </a:r>
            <a:r>
              <a:rPr lang="en-US" sz="2000" dirty="0"/>
              <a:t>option is to choose which Subnet you want the Nodes and Containers to be placed in.</a:t>
            </a:r>
          </a:p>
          <a:p>
            <a:r>
              <a:rPr lang="en-US" sz="2000" b="1" dirty="0"/>
              <a:t>Kubernetes service address range </a:t>
            </a:r>
            <a:r>
              <a:rPr lang="en-US" sz="2000" dirty="0"/>
              <a:t>is the CIDR notation IP range from which to assign server cluster IPs.</a:t>
            </a:r>
          </a:p>
          <a:p>
            <a:r>
              <a:rPr lang="en-US" sz="2000" b="1" dirty="0"/>
              <a:t>Docker Bridge address </a:t>
            </a:r>
            <a:r>
              <a:rPr lang="en-US" sz="2000" dirty="0"/>
              <a:t>is the IP address assigned to Docker Bridge. The Bridge Network is for the container to container communication.</a:t>
            </a:r>
          </a:p>
          <a:p>
            <a:r>
              <a:rPr lang="en-US" sz="2000" dirty="0"/>
              <a:t>In </a:t>
            </a:r>
            <a:r>
              <a:rPr lang="en-US" sz="2000" b="1" dirty="0"/>
              <a:t>Private Cluster</a:t>
            </a:r>
            <a:r>
              <a:rPr lang="en-US" sz="2000" dirty="0"/>
              <a:t>, the communication between the nodes and the API server happens internally.</a:t>
            </a:r>
          </a:p>
          <a:p>
            <a:r>
              <a:rPr lang="en-US" sz="2000" dirty="0"/>
              <a:t>So, I am </a:t>
            </a:r>
            <a:r>
              <a:rPr lang="en-US" sz="2000" b="1" dirty="0"/>
              <a:t>Disabling </a:t>
            </a:r>
            <a:r>
              <a:rPr lang="en-US" sz="2000" dirty="0"/>
              <a:t>the Private Cluster.</a:t>
            </a:r>
          </a:p>
          <a:p>
            <a:r>
              <a:rPr lang="en-US" sz="2000" dirty="0"/>
              <a:t>Keep the Network Policy to </a:t>
            </a:r>
            <a:r>
              <a:rPr lang="en-US" sz="2000" b="1" dirty="0"/>
              <a:t>Azure</a:t>
            </a:r>
            <a:r>
              <a:rPr lang="en-US" sz="2000" dirty="0"/>
              <a:t>.</a:t>
            </a:r>
          </a:p>
          <a:p>
            <a:r>
              <a:rPr lang="en-US" sz="2000" dirty="0"/>
              <a:t>Do not enable</a:t>
            </a:r>
            <a:r>
              <a:rPr lang="en-US" sz="2000" b="1" dirty="0"/>
              <a:t> HTTP </a:t>
            </a:r>
            <a:r>
              <a:rPr lang="en-US" sz="2000" dirty="0"/>
              <a:t>application routing</a:t>
            </a:r>
            <a:r>
              <a:rPr lang="en-US" sz="2000" dirty="0" smtClean="0"/>
              <a:t>.</a:t>
            </a:r>
            <a:endParaRPr lang="en-US" sz="2000" b="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32</a:t>
            </a:fld>
            <a:endParaRPr lang="en-US" dirty="0"/>
          </a:p>
        </p:txBody>
      </p:sp>
    </p:spTree>
    <p:extLst>
      <p:ext uri="{BB962C8B-B14F-4D97-AF65-F5344CB8AC3E}">
        <p14:creationId xmlns:p14="http://schemas.microsoft.com/office/powerpoint/2010/main" val="335387991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buFont typeface="Wingdings" panose="05000000000000000000" pitchFamily="2" charset="2"/>
              <a:buChar char="Ø"/>
            </a:pPr>
            <a:r>
              <a:rPr lang="en-US" sz="2400" b="1" dirty="0" smtClean="0"/>
              <a:t>Step </a:t>
            </a:r>
            <a:r>
              <a:rPr lang="en-US" sz="2400" b="1" dirty="0"/>
              <a:t>6 [Networking]:</a:t>
            </a:r>
            <a:r>
              <a:rPr lang="en-US" sz="2400" dirty="0"/>
              <a:t> </a:t>
            </a:r>
            <a:endParaRPr lang="en-US" sz="1800" b="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33</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6808" y="1443946"/>
            <a:ext cx="8860961" cy="5414054"/>
          </a:xfrm>
          <a:prstGeom prst="rect">
            <a:avLst/>
          </a:prstGeom>
        </p:spPr>
      </p:pic>
    </p:spTree>
    <p:extLst>
      <p:ext uri="{BB962C8B-B14F-4D97-AF65-F5344CB8AC3E}">
        <p14:creationId xmlns:p14="http://schemas.microsoft.com/office/powerpoint/2010/main" val="13976934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buFont typeface="Wingdings" panose="05000000000000000000" pitchFamily="2" charset="2"/>
              <a:buChar char="Ø"/>
            </a:pPr>
            <a:r>
              <a:rPr lang="en-US" sz="2400" b="1" dirty="0" smtClean="0"/>
              <a:t>Step </a:t>
            </a:r>
            <a:r>
              <a:rPr lang="en-US" sz="2400" b="1" dirty="0"/>
              <a:t>6 [Networking]:</a:t>
            </a:r>
            <a:r>
              <a:rPr lang="en-US" sz="2400" dirty="0"/>
              <a:t> </a:t>
            </a:r>
            <a:endParaRPr lang="en-US" sz="1800" b="1"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34</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558" y="2479415"/>
            <a:ext cx="10943462" cy="3772002"/>
          </a:xfrm>
          <a:prstGeom prst="rect">
            <a:avLst/>
          </a:prstGeom>
          <a:ln>
            <a:solidFill>
              <a:schemeClr val="tx2">
                <a:lumMod val="20000"/>
                <a:lumOff val="80000"/>
              </a:schemeClr>
            </a:solidFill>
          </a:ln>
        </p:spPr>
      </p:pic>
    </p:spTree>
    <p:extLst>
      <p:ext uri="{BB962C8B-B14F-4D97-AF65-F5344CB8AC3E}">
        <p14:creationId xmlns:p14="http://schemas.microsoft.com/office/powerpoint/2010/main" val="34778978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buFont typeface="Wingdings" panose="05000000000000000000" pitchFamily="2" charset="2"/>
              <a:buChar char="Ø"/>
            </a:pPr>
            <a:r>
              <a:rPr lang="en-US" sz="2400" b="1" dirty="0" smtClean="0"/>
              <a:t>Step </a:t>
            </a:r>
            <a:r>
              <a:rPr lang="en-US" sz="2400" b="1" dirty="0"/>
              <a:t>7 [Integration]:</a:t>
            </a:r>
            <a:r>
              <a:rPr lang="en-US" b="1" dirty="0"/>
              <a:t> </a:t>
            </a:r>
            <a:r>
              <a:rPr lang="en-US" sz="2000" dirty="0"/>
              <a:t>Next is the </a:t>
            </a:r>
            <a:r>
              <a:rPr lang="en-US" sz="2000" b="1" dirty="0"/>
              <a:t>Integration.</a:t>
            </a:r>
            <a:endParaRPr lang="en-US" sz="2000" dirty="0"/>
          </a:p>
          <a:p>
            <a:pPr lvl="1"/>
            <a:r>
              <a:rPr lang="en-US" sz="1600" dirty="0"/>
              <a:t>Here we keep all settings to default and move to the next step</a:t>
            </a:r>
            <a:r>
              <a:rPr lang="en-US" sz="1600" dirty="0" smtClean="0"/>
              <a:t>.</a:t>
            </a:r>
            <a:endParaRPr lang="en-US" sz="16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35</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8600" y="1939585"/>
            <a:ext cx="7677378" cy="4797686"/>
          </a:xfrm>
          <a:prstGeom prst="rect">
            <a:avLst/>
          </a:prstGeom>
        </p:spPr>
      </p:pic>
    </p:spTree>
    <p:extLst>
      <p:ext uri="{BB962C8B-B14F-4D97-AF65-F5344CB8AC3E}">
        <p14:creationId xmlns:p14="http://schemas.microsoft.com/office/powerpoint/2010/main" val="31045942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buFont typeface="Wingdings" panose="05000000000000000000" pitchFamily="2" charset="2"/>
              <a:buChar char="Ø"/>
            </a:pPr>
            <a:r>
              <a:rPr lang="en-US" sz="2400" b="1" dirty="0" smtClean="0"/>
              <a:t>Step </a:t>
            </a:r>
            <a:r>
              <a:rPr lang="en-US" sz="2400" b="1" dirty="0"/>
              <a:t>8 [Review &amp; Create]:</a:t>
            </a:r>
            <a:r>
              <a:rPr lang="en-US" b="1" dirty="0"/>
              <a:t> </a:t>
            </a:r>
            <a:r>
              <a:rPr lang="en-US" sz="2000" dirty="0"/>
              <a:t>The final step is to click on </a:t>
            </a:r>
            <a:r>
              <a:rPr lang="en-US" sz="2000" b="1" dirty="0"/>
              <a:t>Review &amp; Create.</a:t>
            </a:r>
            <a:r>
              <a:rPr lang="en-US" sz="2000" dirty="0"/>
              <a:t> If you click on </a:t>
            </a:r>
            <a:r>
              <a:rPr lang="en-US" sz="2000" b="1" dirty="0"/>
              <a:t>Create</a:t>
            </a:r>
            <a:r>
              <a:rPr lang="en-US" sz="2000" dirty="0"/>
              <a:t>, it will first Validate your  AKS Cluster and if everything is fine then the cluster will be created.</a:t>
            </a:r>
            <a:endParaRPr lang="en-US" sz="12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36</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2936" y="1811543"/>
            <a:ext cx="7746273" cy="5046457"/>
          </a:xfrm>
          <a:prstGeom prst="rect">
            <a:avLst/>
          </a:prstGeom>
        </p:spPr>
      </p:pic>
    </p:spTree>
    <p:extLst>
      <p:ext uri="{BB962C8B-B14F-4D97-AF65-F5344CB8AC3E}">
        <p14:creationId xmlns:p14="http://schemas.microsoft.com/office/powerpoint/2010/main" val="78798701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Steps </a:t>
            </a:r>
            <a:r>
              <a:rPr lang="en-US" b="1" dirty="0"/>
              <a:t>To Create AKS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buFont typeface="Wingdings" panose="05000000000000000000" pitchFamily="2" charset="2"/>
              <a:buChar char="Ø"/>
            </a:pPr>
            <a:r>
              <a:rPr lang="en-US" sz="2000" dirty="0" smtClean="0"/>
              <a:t>You </a:t>
            </a:r>
            <a:r>
              <a:rPr lang="en-US" sz="2000" dirty="0"/>
              <a:t>can see that our new Azure Kubernetes cluster has been successfully created. </a:t>
            </a:r>
            <a:r>
              <a:rPr lang="en-US" sz="2000" dirty="0" err="1"/>
              <a:t>Yayyy</a:t>
            </a:r>
            <a:r>
              <a:rPr lang="en-US" sz="2000" dirty="0"/>
              <a:t>! But hold on, we will have to connect this cluster, which I am going to cover next.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37</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872" y="1903758"/>
            <a:ext cx="10702834" cy="4954242"/>
          </a:xfrm>
          <a:prstGeom prst="rect">
            <a:avLst/>
          </a:prstGeom>
        </p:spPr>
      </p:pic>
    </p:spTree>
    <p:extLst>
      <p:ext uri="{BB962C8B-B14F-4D97-AF65-F5344CB8AC3E}">
        <p14:creationId xmlns:p14="http://schemas.microsoft.com/office/powerpoint/2010/main" val="304402087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Connect </a:t>
            </a:r>
            <a:r>
              <a:rPr lang="en-US" b="1" dirty="0"/>
              <a:t>to the Azure Kubernetes </a:t>
            </a:r>
            <a:r>
              <a:rPr lang="en-US" b="1" dirty="0" smtClean="0"/>
              <a:t>Cluster</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lnSpc>
                <a:spcPct val="150000"/>
              </a:lnSpc>
            </a:pPr>
            <a:r>
              <a:rPr lang="en-US" sz="2400" dirty="0" smtClean="0"/>
              <a:t>There </a:t>
            </a:r>
            <a:r>
              <a:rPr lang="en-US" sz="2400" dirty="0"/>
              <a:t>are two ways to connect the AKS </a:t>
            </a:r>
            <a:r>
              <a:rPr lang="en-US" sz="2400" dirty="0" smtClean="0"/>
              <a:t>cluster:</a:t>
            </a:r>
            <a:endParaRPr lang="en-US" sz="2400" dirty="0"/>
          </a:p>
          <a:p>
            <a:pPr lvl="1">
              <a:lnSpc>
                <a:spcPct val="150000"/>
              </a:lnSpc>
            </a:pPr>
            <a:r>
              <a:rPr lang="en-US" sz="2000" dirty="0" smtClean="0"/>
              <a:t>Using </a:t>
            </a:r>
            <a:r>
              <a:rPr lang="en-US" sz="2000" dirty="0"/>
              <a:t>Cloud </a:t>
            </a:r>
            <a:r>
              <a:rPr lang="en-US" sz="2000" dirty="0" smtClean="0"/>
              <a:t>Shell</a:t>
            </a:r>
          </a:p>
          <a:p>
            <a:pPr lvl="1">
              <a:lnSpc>
                <a:spcPct val="150000"/>
              </a:lnSpc>
            </a:pPr>
            <a:r>
              <a:rPr lang="en-US" sz="2000" dirty="0" smtClean="0"/>
              <a:t>Using </a:t>
            </a:r>
            <a:r>
              <a:rPr lang="en-US" sz="2000" dirty="0"/>
              <a:t>Azure </a:t>
            </a:r>
            <a:r>
              <a:rPr lang="en-US" sz="2000" dirty="0" smtClean="0"/>
              <a:t>CLI</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38</a:t>
            </a:fld>
            <a:endParaRPr lang="en-US" dirty="0"/>
          </a:p>
        </p:txBody>
      </p:sp>
    </p:spTree>
    <p:extLst>
      <p:ext uri="{BB962C8B-B14F-4D97-AF65-F5344CB8AC3E}">
        <p14:creationId xmlns:p14="http://schemas.microsoft.com/office/powerpoint/2010/main" val="218253477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Connect </a:t>
            </a:r>
            <a:r>
              <a:rPr lang="en-US" b="1" dirty="0"/>
              <a:t>to the Azure Kubernetes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lnSpc>
                <a:spcPct val="150000"/>
              </a:lnSpc>
            </a:pPr>
            <a:r>
              <a:rPr lang="en-US" sz="1800" dirty="0" smtClean="0"/>
              <a:t>Now going to cover how do we connect using Cloud Shell. We can see the option on top of our screen (marked red in the below image).</a:t>
            </a:r>
          </a:p>
          <a:p>
            <a:pPr>
              <a:lnSpc>
                <a:spcPct val="150000"/>
              </a:lnSpc>
            </a:pP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39</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7725" y="1876268"/>
            <a:ext cx="9760129" cy="4981732"/>
          </a:xfrm>
          <a:prstGeom prst="rect">
            <a:avLst/>
          </a:prstGeom>
        </p:spPr>
      </p:pic>
    </p:spTree>
    <p:extLst>
      <p:ext uri="{BB962C8B-B14F-4D97-AF65-F5344CB8AC3E}">
        <p14:creationId xmlns:p14="http://schemas.microsoft.com/office/powerpoint/2010/main" val="127792211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Connect </a:t>
            </a:r>
            <a:r>
              <a:rPr lang="en-US" b="1" dirty="0"/>
              <a:t>to the Azure Kubernetes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r>
              <a:rPr lang="en-US" b="1" dirty="0" smtClean="0"/>
              <a:t>Step </a:t>
            </a:r>
            <a:r>
              <a:rPr lang="en-US" b="1" dirty="0"/>
              <a:t>1: </a:t>
            </a:r>
            <a:r>
              <a:rPr lang="en-US" dirty="0"/>
              <a:t>Run the following command, on the Azure bash </a:t>
            </a:r>
            <a:r>
              <a:rPr lang="en-US" dirty="0" smtClean="0"/>
              <a:t>shell.</a:t>
            </a:r>
          </a:p>
          <a:p>
            <a:endParaRPr lang="en-US" sz="1800" dirty="0" smtClean="0"/>
          </a:p>
          <a:p>
            <a:pPr>
              <a:lnSpc>
                <a:spcPct val="150000"/>
              </a:lnSpc>
            </a:pPr>
            <a:endParaRPr lang="en-US" sz="2400" dirty="0"/>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40</a:t>
            </a:fld>
            <a:endParaRPr lang="en-US" dirty="0"/>
          </a:p>
        </p:txBody>
      </p:sp>
      <p:sp>
        <p:nvSpPr>
          <p:cNvPr id="5" name="Rectangle 1"/>
          <p:cNvSpPr>
            <a:spLocks noChangeArrowheads="1"/>
          </p:cNvSpPr>
          <p:nvPr/>
        </p:nvSpPr>
        <p:spPr bwMode="auto">
          <a:xfrm>
            <a:off x="770706" y="1487244"/>
            <a:ext cx="10065576" cy="307777"/>
          </a:xfrm>
          <a:prstGeom prst="rect">
            <a:avLst/>
          </a:prstGeom>
          <a:solidFill>
            <a:schemeClr val="tx2">
              <a:lumMod val="20000"/>
              <a:lumOff val="80000"/>
            </a:scheme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000000"/>
                </a:solidFill>
                <a:effectLst/>
                <a:latin typeface="Courier New" panose="02070309020205020404" pitchFamily="49" charset="0"/>
              </a:rPr>
              <a:t>$ </a:t>
            </a:r>
            <a:r>
              <a:rPr kumimoji="0" lang="en-US" altLang="en-US" sz="1400" b="0" i="0" u="none" strike="noStrike" cap="none" normalizeH="0" baseline="0" dirty="0" err="1" smtClean="0">
                <a:ln>
                  <a:noFill/>
                </a:ln>
                <a:solidFill>
                  <a:srgbClr val="000000"/>
                </a:solidFill>
                <a:effectLst/>
                <a:latin typeface="Courier New" panose="02070309020205020404" pitchFamily="49" charset="0"/>
              </a:rPr>
              <a:t>az</a:t>
            </a:r>
            <a:r>
              <a:rPr kumimoji="0" lang="en-US" altLang="en-US" sz="1400" b="0" i="0" u="none" strike="noStrike" cap="none" normalizeH="0" baseline="0" dirty="0" smtClean="0">
                <a:ln>
                  <a:noFill/>
                </a:ln>
                <a:solidFill>
                  <a:srgbClr val="000000"/>
                </a:solidFill>
                <a:effectLst/>
                <a:latin typeface="Courier New" panose="02070309020205020404" pitchFamily="49" charset="0"/>
              </a:rPr>
              <a:t> </a:t>
            </a:r>
            <a:r>
              <a:rPr kumimoji="0" lang="en-US" altLang="en-US" sz="1400" b="0" i="0" u="none" strike="noStrike" cap="none" normalizeH="0" baseline="0" dirty="0" err="1" smtClean="0">
                <a:ln>
                  <a:noFill/>
                </a:ln>
                <a:solidFill>
                  <a:srgbClr val="000000"/>
                </a:solidFill>
                <a:effectLst/>
                <a:latin typeface="Courier New" panose="02070309020205020404" pitchFamily="49" charset="0"/>
              </a:rPr>
              <a:t>aks</a:t>
            </a:r>
            <a:r>
              <a:rPr kumimoji="0" lang="en-US" altLang="en-US" sz="1400" b="0" i="0" u="none" strike="noStrike" cap="none" normalizeH="0" baseline="0" dirty="0" smtClean="0">
                <a:ln>
                  <a:noFill/>
                </a:ln>
                <a:solidFill>
                  <a:srgbClr val="000000"/>
                </a:solidFill>
                <a:effectLst/>
                <a:latin typeface="Courier New" panose="02070309020205020404" pitchFamily="49" charset="0"/>
              </a:rPr>
              <a:t> get-credentials --resource-groups &lt;name of resource group&gt; --name &lt;name of cluster </a:t>
            </a: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008" y="2270463"/>
            <a:ext cx="9814561" cy="4568627"/>
          </a:xfrm>
          <a:prstGeom prst="rect">
            <a:avLst/>
          </a:prstGeom>
        </p:spPr>
      </p:pic>
    </p:spTree>
    <p:extLst>
      <p:ext uri="{BB962C8B-B14F-4D97-AF65-F5344CB8AC3E}">
        <p14:creationId xmlns:p14="http://schemas.microsoft.com/office/powerpoint/2010/main" val="424000529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765" y="48365"/>
            <a:ext cx="11025050" cy="1112745"/>
          </a:xfrm>
        </p:spPr>
        <p:txBody>
          <a:bodyPr>
            <a:noAutofit/>
          </a:bodyPr>
          <a:lstStyle/>
          <a:p>
            <a:r>
              <a:rPr lang="en-US" b="1" dirty="0" smtClean="0"/>
              <a:t>Connect </a:t>
            </a:r>
            <a:r>
              <a:rPr lang="en-US" b="1" dirty="0"/>
              <a:t>to the Azure Kubernetes </a:t>
            </a:r>
            <a:r>
              <a:rPr lang="en-US" b="1" dirty="0" smtClean="0"/>
              <a:t>Cluster (Cont.)</a:t>
            </a:r>
            <a:endParaRPr lang="en-US" b="1" dirty="0"/>
          </a:p>
        </p:txBody>
      </p:sp>
      <p:sp>
        <p:nvSpPr>
          <p:cNvPr id="3" name="Content Placeholder 2"/>
          <p:cNvSpPr>
            <a:spLocks noGrp="1"/>
          </p:cNvSpPr>
          <p:nvPr>
            <p:ph idx="1"/>
          </p:nvPr>
        </p:nvSpPr>
        <p:spPr>
          <a:xfrm>
            <a:off x="574765" y="999248"/>
            <a:ext cx="11025049" cy="5858752"/>
          </a:xfrm>
        </p:spPr>
        <p:txBody>
          <a:bodyPr>
            <a:noAutofit/>
          </a:bodyPr>
          <a:lstStyle/>
          <a:p>
            <a:pPr>
              <a:lnSpc>
                <a:spcPct val="150000"/>
              </a:lnSpc>
            </a:pPr>
            <a:r>
              <a:rPr lang="en-US" sz="1800" b="1" dirty="0" smtClean="0"/>
              <a:t>Step </a:t>
            </a:r>
            <a:r>
              <a:rPr lang="en-US" sz="1800" b="1" dirty="0"/>
              <a:t>2: </a:t>
            </a:r>
            <a:r>
              <a:rPr lang="en-US" sz="1800" dirty="0"/>
              <a:t>To get the Nodes running in our cluster, run the following command, and you will see all the nodes in your AKS cluster</a:t>
            </a:r>
            <a:r>
              <a:rPr lang="en-US" sz="1800" dirty="0" smtClean="0"/>
              <a:t>.</a:t>
            </a:r>
          </a:p>
        </p:txBody>
      </p:sp>
      <p:sp>
        <p:nvSpPr>
          <p:cNvPr id="4" name="Slide Number Placeholder 3"/>
          <p:cNvSpPr>
            <a:spLocks noGrp="1"/>
          </p:cNvSpPr>
          <p:nvPr>
            <p:ph type="sldNum" sz="quarter" idx="12"/>
          </p:nvPr>
        </p:nvSpPr>
        <p:spPr>
          <a:xfrm>
            <a:off x="8856616" y="6372146"/>
            <a:ext cx="2743200" cy="365125"/>
          </a:xfrm>
        </p:spPr>
        <p:txBody>
          <a:bodyPr/>
          <a:lstStyle/>
          <a:p>
            <a:fld id="{18925C6B-C1FE-4297-863E-68E85899D6B2}" type="slidenum">
              <a:rPr lang="en-US" smtClean="0"/>
              <a:t>41</a:t>
            </a:fld>
            <a:endParaRPr lang="en-US" dirty="0"/>
          </a:p>
        </p:txBody>
      </p:sp>
      <p:sp>
        <p:nvSpPr>
          <p:cNvPr id="7" name="Rectangle 1"/>
          <p:cNvSpPr>
            <a:spLocks noChangeArrowheads="1"/>
          </p:cNvSpPr>
          <p:nvPr/>
        </p:nvSpPr>
        <p:spPr bwMode="auto">
          <a:xfrm>
            <a:off x="2246811" y="1624783"/>
            <a:ext cx="2332690" cy="307777"/>
          </a:xfrm>
          <a:prstGeom prst="rect">
            <a:avLst/>
          </a:prstGeom>
          <a:solidFill>
            <a:schemeClr val="tx2">
              <a:lumMod val="20000"/>
              <a:lumOff val="80000"/>
            </a:scheme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a:t>
            </a:r>
            <a:r>
              <a:rPr kumimoji="0" lang="en-US" altLang="en-US" sz="14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kubectl</a:t>
            </a:r>
            <a:r>
              <a:rPr kumimoji="0" lang="en-US" altLang="en-US" sz="14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get nodes </a:t>
            </a: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9093" y="2243695"/>
            <a:ext cx="9776392" cy="4493576"/>
          </a:xfrm>
          <a:prstGeom prst="rect">
            <a:avLst/>
          </a:prstGeom>
        </p:spPr>
      </p:pic>
    </p:spTree>
    <p:extLst>
      <p:ext uri="{BB962C8B-B14F-4D97-AF65-F5344CB8AC3E}">
        <p14:creationId xmlns:p14="http://schemas.microsoft.com/office/powerpoint/2010/main" val="81381132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8000" b="1" i="1" dirty="0"/>
              <a:t>Thanks</a:t>
            </a:r>
            <a:endParaRPr lang="en-US" sz="3600" b="1" i="1" dirty="0"/>
          </a:p>
        </p:txBody>
      </p:sp>
      <p:sp>
        <p:nvSpPr>
          <p:cNvPr id="3" name="Content Placeholder 2"/>
          <p:cNvSpPr>
            <a:spLocks noGrp="1"/>
          </p:cNvSpPr>
          <p:nvPr>
            <p:ph idx="1"/>
          </p:nvPr>
        </p:nvSpPr>
        <p:spPr/>
        <p:txBody>
          <a:bodyPr>
            <a:noAutofit/>
          </a:bodyPr>
          <a:lstStyle/>
          <a:p>
            <a:pPr marL="0" indent="0" algn="ctr">
              <a:buNone/>
            </a:pPr>
            <a:r>
              <a:rPr lang="en-US" sz="23900" dirty="0" smtClean="0"/>
              <a:t>…?</a:t>
            </a:r>
            <a:endParaRPr lang="en-US" sz="23900" dirty="0"/>
          </a:p>
        </p:txBody>
      </p:sp>
      <p:sp>
        <p:nvSpPr>
          <p:cNvPr id="4" name="Slide Number Placeholder 3"/>
          <p:cNvSpPr>
            <a:spLocks noGrp="1"/>
          </p:cNvSpPr>
          <p:nvPr>
            <p:ph type="sldNum" sz="quarter" idx="12"/>
          </p:nvPr>
        </p:nvSpPr>
        <p:spPr/>
        <p:txBody>
          <a:bodyPr/>
          <a:lstStyle/>
          <a:p>
            <a:fld id="{18925C6B-C1FE-4297-863E-68E85899D6B2}" type="slidenum">
              <a:rPr lang="en-US" smtClean="0"/>
              <a:t>42</a:t>
            </a:fld>
            <a:endParaRPr lang="en-US"/>
          </a:p>
        </p:txBody>
      </p:sp>
    </p:spTree>
    <p:extLst>
      <p:ext uri="{BB962C8B-B14F-4D97-AF65-F5344CB8AC3E}">
        <p14:creationId xmlns:p14="http://schemas.microsoft.com/office/powerpoint/2010/main" val="1702088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5514</TotalTime>
  <Words>1235</Words>
  <Application>Microsoft Office PowerPoint</Application>
  <PresentationFormat>Widescreen</PresentationFormat>
  <Paragraphs>243</Paragraphs>
  <Slides>42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Calibri</vt:lpstr>
      <vt:lpstr>Calibri Light</vt:lpstr>
      <vt:lpstr>Courier New</vt:lpstr>
      <vt:lpstr>inter-regular</vt:lpstr>
      <vt:lpstr>times new roman</vt:lpstr>
      <vt:lpstr>Wingdings</vt:lpstr>
      <vt:lpstr>Office Theme</vt:lpstr>
      <vt:lpstr>Lecture-05</vt:lpstr>
      <vt:lpstr>Previous Lecture summary:</vt:lpstr>
      <vt:lpstr>Contents</vt:lpstr>
      <vt:lpstr>Cloud Service Providers</vt:lpstr>
      <vt:lpstr>Cloud Service Providers (Cont.)</vt:lpstr>
      <vt:lpstr>Microsoft Azure</vt:lpstr>
      <vt:lpstr>Features of Microsoft Azure</vt:lpstr>
      <vt:lpstr>Amazon Web Services (AWS)</vt:lpstr>
      <vt:lpstr>Features of AWS</vt:lpstr>
      <vt:lpstr>Google Cloud Platform (GCP)</vt:lpstr>
      <vt:lpstr>Features of GCP</vt:lpstr>
      <vt:lpstr>Differences GCP, AWS and Azure</vt:lpstr>
      <vt:lpstr>Differences GCP, AWS and Azure (Cont.)</vt:lpstr>
      <vt:lpstr>Azure Services</vt:lpstr>
      <vt:lpstr>How Azure works</vt:lpstr>
      <vt:lpstr>How Azure works (Cont.)</vt:lpstr>
      <vt:lpstr>How Azure works (Cont.)</vt:lpstr>
      <vt:lpstr>How Azure works (Cont.)</vt:lpstr>
      <vt:lpstr>Automated Deployment Azure Cloud</vt:lpstr>
      <vt:lpstr>Create Azure Kubernetes Cluster</vt:lpstr>
      <vt:lpstr>Steps To Create AKS Cluster</vt:lpstr>
      <vt:lpstr>Steps To Create AKS Cluster</vt:lpstr>
      <vt:lpstr>Steps To Create AKS Cluster (Cont.)</vt:lpstr>
      <vt:lpstr>Steps To Create AKS Cluster (Cont.)</vt:lpstr>
      <vt:lpstr>Steps To Create AKS Cluster (Cont.)</vt:lpstr>
      <vt:lpstr>Steps To Create AKS Cluster (Cont.)</vt:lpstr>
      <vt:lpstr>Steps To Create AKS Cluster (Cont.)</vt:lpstr>
      <vt:lpstr>Steps To Create AKS Cluster (Cont.)</vt:lpstr>
      <vt:lpstr>Steps To Create AKS Cluster (Cont.)</vt:lpstr>
      <vt:lpstr>Steps To Create AKS Cluster (Cont.)</vt:lpstr>
      <vt:lpstr>Steps To Create AKS Cluster (Cont.)</vt:lpstr>
      <vt:lpstr>Steps To Create AKS Cluster (Cont.)</vt:lpstr>
      <vt:lpstr>Steps To Create AKS Cluster (Cont.)</vt:lpstr>
      <vt:lpstr>Steps To Create AKS Cluster (Cont.)</vt:lpstr>
      <vt:lpstr>Steps To Create AKS Cluster (Cont.)</vt:lpstr>
      <vt:lpstr>Steps To Create AKS Cluster (Cont.)</vt:lpstr>
      <vt:lpstr>Steps To Create AKS Cluster (Cont.)</vt:lpstr>
      <vt:lpstr>Connect to the Azure Kubernetes Cluster</vt:lpstr>
      <vt:lpstr>Connect to the Azure Kubernetes Cluster (Cont.)</vt:lpstr>
      <vt:lpstr>Connect to the Azure Kubernetes Cluster (Cont.)</vt:lpstr>
      <vt:lpstr>Connect to the Azure Kubernetes Cluster (Cont.)</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Muhammad Hanif</dc:creator>
  <cp:lastModifiedBy>Windows User</cp:lastModifiedBy>
  <cp:revision>599</cp:revision>
  <dcterms:created xsi:type="dcterms:W3CDTF">2017-02-21T04:58:17Z</dcterms:created>
  <dcterms:modified xsi:type="dcterms:W3CDTF">2022-03-07T06:50:14Z</dcterms:modified>
</cp:coreProperties>
</file>