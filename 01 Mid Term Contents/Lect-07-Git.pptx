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14" r:id="rId2"/>
    <p:sldId id="380" r:id="rId3"/>
    <p:sldId id="361" r:id="rId4"/>
    <p:sldId id="363" r:id="rId5"/>
    <p:sldId id="374" r:id="rId6"/>
    <p:sldId id="375" r:id="rId7"/>
    <p:sldId id="376" r:id="rId8"/>
    <p:sldId id="377" r:id="rId9"/>
    <p:sldId id="378" r:id="rId10"/>
    <p:sldId id="379" r:id="rId11"/>
    <p:sldId id="362" r:id="rId12"/>
    <p:sldId id="356" r:id="rId13"/>
    <p:sldId id="364" r:id="rId14"/>
    <p:sldId id="365" r:id="rId15"/>
    <p:sldId id="366" r:id="rId16"/>
    <p:sldId id="367" r:id="rId17"/>
    <p:sldId id="368" r:id="rId18"/>
    <p:sldId id="369" r:id="rId19"/>
    <p:sldId id="370" r:id="rId20"/>
    <p:sldId id="371" r:id="rId21"/>
    <p:sldId id="372" r:id="rId22"/>
    <p:sldId id="37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79" autoAdjust="0"/>
    <p:restoredTop sz="94660"/>
  </p:normalViewPr>
  <p:slideViewPr>
    <p:cSldViewPr snapToGrid="0">
      <p:cViewPr varScale="1">
        <p:scale>
          <a:sx n="73" d="100"/>
          <a:sy n="73" d="100"/>
        </p:scale>
        <p:origin x="6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3/24/2022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3/24/2022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3/24/2022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3/24/2022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3/24/2022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Lecture-07</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314" y="403907"/>
            <a:ext cx="10787742" cy="719500"/>
          </a:xfrm>
        </p:spPr>
        <p:txBody>
          <a:bodyPr>
            <a:normAutofit/>
          </a:bodyPr>
          <a:lstStyle/>
          <a:p>
            <a:pPr algn="l"/>
            <a:r>
              <a:rPr lang="en-US" sz="4000" b="1" i="1" dirty="0"/>
              <a:t>Contents</a:t>
            </a:r>
          </a:p>
        </p:txBody>
      </p:sp>
      <p:sp>
        <p:nvSpPr>
          <p:cNvPr id="3" name="Subtitle 2"/>
          <p:cNvSpPr>
            <a:spLocks noGrp="1"/>
          </p:cNvSpPr>
          <p:nvPr>
            <p:ph type="subTitle" idx="1"/>
          </p:nvPr>
        </p:nvSpPr>
        <p:spPr>
          <a:xfrm>
            <a:off x="827314" y="1435415"/>
            <a:ext cx="10787741" cy="5017317"/>
          </a:xfrm>
        </p:spPr>
        <p:txBody>
          <a:bodyPr>
            <a:noAutofit/>
          </a:bodyPr>
          <a:lstStyle/>
          <a:p>
            <a:pPr marL="342900" indent="-342900" algn="l">
              <a:lnSpc>
                <a:spcPct val="150000"/>
              </a:lnSpc>
              <a:buFont typeface="Arial" panose="020B0604020202020204" pitchFamily="34" charset="0"/>
              <a:buChar char="•"/>
            </a:pPr>
            <a:r>
              <a:rPr lang="en-US" dirty="0"/>
              <a:t>Source Control Management</a:t>
            </a:r>
          </a:p>
          <a:p>
            <a:pPr marL="342900" indent="-342900" algn="l">
              <a:lnSpc>
                <a:spcPct val="150000"/>
              </a:lnSpc>
              <a:buFont typeface="Arial" panose="020B0604020202020204" pitchFamily="34" charset="0"/>
              <a:buChar char="•"/>
            </a:pPr>
            <a:r>
              <a:rPr lang="en-US" dirty="0"/>
              <a:t>Types of Version Control System</a:t>
            </a:r>
          </a:p>
          <a:p>
            <a:pPr marL="342900" indent="-342900" algn="l">
              <a:lnSpc>
                <a:spcPct val="150000"/>
              </a:lnSpc>
              <a:buFont typeface="Arial" panose="020B0604020202020204" pitchFamily="34" charset="0"/>
              <a:buChar char="•"/>
            </a:pPr>
            <a:r>
              <a:rPr lang="en-US" dirty="0"/>
              <a:t>Version Control Tools</a:t>
            </a:r>
          </a:p>
          <a:p>
            <a:pPr marL="342900" indent="-342900" algn="l">
              <a:lnSpc>
                <a:spcPct val="150000"/>
              </a:lnSpc>
              <a:buFont typeface="Arial" panose="020B0604020202020204" pitchFamily="34" charset="0"/>
              <a:buChar char="•"/>
            </a:pPr>
            <a:r>
              <a:rPr lang="en-US" dirty="0"/>
              <a:t>What is Git</a:t>
            </a:r>
          </a:p>
          <a:p>
            <a:pPr marL="342900" indent="-342900" algn="l">
              <a:lnSpc>
                <a:spcPct val="150000"/>
              </a:lnSpc>
              <a:buFont typeface="Arial" panose="020B0604020202020204" pitchFamily="34" charset="0"/>
              <a:buChar char="•"/>
            </a:pPr>
            <a:r>
              <a:rPr lang="en-US" dirty="0"/>
              <a:t>Features of Git</a:t>
            </a:r>
          </a:p>
          <a:p>
            <a:pPr marL="342900" indent="-342900" algn="l">
              <a:lnSpc>
                <a:spcPct val="150000"/>
              </a:lnSpc>
              <a:buFont typeface="Arial" panose="020B0604020202020204" pitchFamily="34" charset="0"/>
              <a:buChar char="•"/>
            </a:pPr>
            <a:r>
              <a:rPr lang="en-US" dirty="0"/>
              <a:t>GitHub</a:t>
            </a:r>
          </a:p>
          <a:p>
            <a:pPr marL="342900" indent="-342900" algn="l">
              <a:lnSpc>
                <a:spcPct val="150000"/>
              </a:lnSpc>
              <a:buFont typeface="Arial" panose="020B0604020202020204" pitchFamily="34" charset="0"/>
              <a:buChar char="•"/>
            </a:pPr>
            <a:r>
              <a:rPr lang="en-US" dirty="0" smtClean="0"/>
              <a:t>Features </a:t>
            </a:r>
            <a:r>
              <a:rPr lang="en-US" dirty="0"/>
              <a:t>of GitHub</a:t>
            </a:r>
          </a:p>
          <a:p>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12"/>
          </p:nvPr>
        </p:nvSpPr>
        <p:spPr>
          <a:xfrm>
            <a:off x="8871855" y="6087608"/>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26451979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DevOps </a:t>
            </a:r>
            <a:r>
              <a:rPr lang="en-US" sz="4000" b="1" i="1" dirty="0" smtClean="0"/>
              <a:t>Components </a:t>
            </a:r>
            <a:endParaRPr lang="en-US" sz="4000" b="1" i="1" dirty="0"/>
          </a:p>
        </p:txBody>
      </p:sp>
      <p:sp>
        <p:nvSpPr>
          <p:cNvPr id="3" name="Content Placeholder 2"/>
          <p:cNvSpPr>
            <a:spLocks noGrp="1"/>
          </p:cNvSpPr>
          <p:nvPr>
            <p:ph idx="1"/>
          </p:nvPr>
        </p:nvSpPr>
        <p:spPr>
          <a:xfrm>
            <a:off x="574766" y="1268863"/>
            <a:ext cx="11025049" cy="5311651"/>
          </a:xfrm>
        </p:spPr>
        <p:txBody>
          <a:bodyPr>
            <a:normAutofit/>
          </a:bodyPr>
          <a:lstStyle/>
          <a:p>
            <a:pPr>
              <a:lnSpc>
                <a:spcPct val="150000"/>
              </a:lnSpc>
            </a:pPr>
            <a:r>
              <a:rPr lang="en-US" sz="2400" dirty="0" smtClean="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9219"/>
          <a:stretch/>
        </p:blipFill>
        <p:spPr>
          <a:xfrm>
            <a:off x="2801981" y="1677993"/>
            <a:ext cx="6570618" cy="4771892"/>
          </a:xfrm>
          <a:prstGeom prst="rect">
            <a:avLst/>
          </a:prstGeom>
          <a:ln>
            <a:solidFill>
              <a:schemeClr val="accent1">
                <a:lumMod val="20000"/>
                <a:lumOff val="80000"/>
              </a:schemeClr>
            </a:solidFill>
          </a:ln>
        </p:spPr>
      </p:pic>
      <p:sp>
        <p:nvSpPr>
          <p:cNvPr id="5" name="Right Arrow 4"/>
          <p:cNvSpPr/>
          <p:nvPr/>
        </p:nvSpPr>
        <p:spPr>
          <a:xfrm rot="20436089">
            <a:off x="1229577" y="3615863"/>
            <a:ext cx="1665513" cy="1959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5180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Source Code </a:t>
            </a:r>
            <a:r>
              <a:rPr lang="en-US" sz="4000" b="1" i="1" dirty="0"/>
              <a:t>Management</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dirty="0" smtClean="0"/>
              <a:t>Source </a:t>
            </a:r>
            <a:r>
              <a:rPr lang="en-US" dirty="0"/>
              <a:t>code management (SCM) is used to track modifications to a source code </a:t>
            </a:r>
            <a:r>
              <a:rPr lang="en-US" dirty="0" smtClean="0"/>
              <a:t>repository.</a:t>
            </a:r>
          </a:p>
          <a:p>
            <a:pPr>
              <a:lnSpc>
                <a:spcPct val="150000"/>
              </a:lnSpc>
              <a:buFont typeface="Wingdings" panose="05000000000000000000" pitchFamily="2" charset="2"/>
              <a:buChar char="Ø"/>
            </a:pPr>
            <a:r>
              <a:rPr lang="en-US" dirty="0" smtClean="0"/>
              <a:t>SCM </a:t>
            </a:r>
            <a:r>
              <a:rPr lang="en-US" dirty="0"/>
              <a:t>tracks a running history of changes to a code base and helps resolve conflicts when merging updates from multiple </a:t>
            </a:r>
            <a:r>
              <a:rPr lang="en-US" dirty="0" smtClean="0"/>
              <a:t>contributors.</a:t>
            </a:r>
          </a:p>
          <a:p>
            <a:pPr>
              <a:lnSpc>
                <a:spcPct val="150000"/>
              </a:lnSpc>
              <a:buFont typeface="Wingdings" panose="05000000000000000000" pitchFamily="2" charset="2"/>
              <a:buChar char="Ø"/>
            </a:pPr>
            <a:r>
              <a:rPr lang="en-US" dirty="0" smtClean="0"/>
              <a:t>SCM </a:t>
            </a:r>
            <a:r>
              <a:rPr lang="en-US" dirty="0"/>
              <a:t>is also synonymous with Version control</a:t>
            </a:r>
            <a:r>
              <a:rPr lang="en-US"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9134017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Types </a:t>
            </a:r>
            <a:r>
              <a:rPr lang="en-US" sz="4000" b="1" i="1" dirty="0"/>
              <a:t>of Version Control System</a:t>
            </a:r>
          </a:p>
        </p:txBody>
      </p:sp>
      <p:sp>
        <p:nvSpPr>
          <p:cNvPr id="3" name="Content Placeholder 2"/>
          <p:cNvSpPr>
            <a:spLocks noGrp="1"/>
          </p:cNvSpPr>
          <p:nvPr>
            <p:ph idx="1"/>
          </p:nvPr>
        </p:nvSpPr>
        <p:spPr>
          <a:xfrm>
            <a:off x="574765" y="1268863"/>
            <a:ext cx="11025049" cy="5468407"/>
          </a:xfrm>
        </p:spPr>
        <p:txBody>
          <a:bodyPr>
            <a:normAutofit/>
          </a:bodyPr>
          <a:lstStyle/>
          <a:p>
            <a:pPr>
              <a:lnSpc>
                <a:spcPct val="150000"/>
              </a:lnSpc>
            </a:pPr>
            <a:r>
              <a:rPr lang="en-US" sz="2400" dirty="0" smtClean="0"/>
              <a:t>Localized </a:t>
            </a:r>
            <a:r>
              <a:rPr lang="en-US" sz="2400" dirty="0"/>
              <a:t>version Control System</a:t>
            </a:r>
          </a:p>
          <a:p>
            <a:pPr>
              <a:lnSpc>
                <a:spcPct val="150000"/>
              </a:lnSpc>
            </a:pPr>
            <a:r>
              <a:rPr lang="en-US" sz="2400" dirty="0"/>
              <a:t>Centralized version control systems</a:t>
            </a:r>
          </a:p>
          <a:p>
            <a:pPr>
              <a:lnSpc>
                <a:spcPct val="150000"/>
              </a:lnSpc>
            </a:pPr>
            <a:r>
              <a:rPr lang="en-US" sz="2400" dirty="0"/>
              <a:t>Distributed version control </a:t>
            </a:r>
            <a:r>
              <a:rPr lang="en-US" sz="2400" dirty="0" smtClean="0"/>
              <a:t>systems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33926313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Localized </a:t>
            </a:r>
            <a:r>
              <a:rPr lang="en-US" sz="4000" b="1" i="1" dirty="0"/>
              <a:t>version Control System</a:t>
            </a:r>
          </a:p>
        </p:txBody>
      </p:sp>
      <p:sp>
        <p:nvSpPr>
          <p:cNvPr id="3" name="Content Placeholder 2"/>
          <p:cNvSpPr>
            <a:spLocks noGrp="1"/>
          </p:cNvSpPr>
          <p:nvPr>
            <p:ph idx="1"/>
          </p:nvPr>
        </p:nvSpPr>
        <p:spPr>
          <a:xfrm>
            <a:off x="574765" y="1268863"/>
            <a:ext cx="11025049" cy="5468407"/>
          </a:xfrm>
        </p:spPr>
        <p:txBody>
          <a:bodyPr>
            <a:normAutofit/>
          </a:bodyPr>
          <a:lstStyle/>
          <a:p>
            <a:pPr>
              <a:lnSpc>
                <a:spcPct val="150000"/>
              </a:lnSpc>
            </a:pPr>
            <a:r>
              <a:rPr lang="en-US" dirty="0"/>
              <a:t>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185" y="1347244"/>
            <a:ext cx="6436207" cy="5064092"/>
          </a:xfrm>
          <a:prstGeom prst="rect">
            <a:avLst/>
          </a:prstGeom>
        </p:spPr>
      </p:pic>
    </p:spTree>
    <p:extLst>
      <p:ext uri="{BB962C8B-B14F-4D97-AF65-F5344CB8AC3E}">
        <p14:creationId xmlns:p14="http://schemas.microsoft.com/office/powerpoint/2010/main" val="20239012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Centralized </a:t>
            </a:r>
            <a:r>
              <a:rPr lang="en-US" sz="4000" b="1" i="1" dirty="0"/>
              <a:t>Version Control System</a:t>
            </a:r>
          </a:p>
        </p:txBody>
      </p:sp>
      <p:sp>
        <p:nvSpPr>
          <p:cNvPr id="3" name="Content Placeholder 2"/>
          <p:cNvSpPr>
            <a:spLocks noGrp="1"/>
          </p:cNvSpPr>
          <p:nvPr>
            <p:ph idx="1"/>
          </p:nvPr>
        </p:nvSpPr>
        <p:spPr>
          <a:xfrm>
            <a:off x="574765" y="1268863"/>
            <a:ext cx="11025049" cy="5468407"/>
          </a:xfrm>
        </p:spPr>
        <p:txBody>
          <a:bodyPr>
            <a:normAutofit/>
          </a:bodyPr>
          <a:lstStyle/>
          <a:p>
            <a:pPr>
              <a:lnSpc>
                <a:spcPct val="150000"/>
              </a:lnSpc>
            </a:pPr>
            <a:r>
              <a:rPr lang="en-US" dirty="0"/>
              <a:t>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5126" y="1786447"/>
            <a:ext cx="7084326" cy="4950823"/>
          </a:xfrm>
          <a:prstGeom prst="rect">
            <a:avLst/>
          </a:prstGeom>
        </p:spPr>
      </p:pic>
    </p:spTree>
    <p:extLst>
      <p:ext uri="{BB962C8B-B14F-4D97-AF65-F5344CB8AC3E}">
        <p14:creationId xmlns:p14="http://schemas.microsoft.com/office/powerpoint/2010/main" val="18260565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Distributed </a:t>
            </a:r>
            <a:r>
              <a:rPr lang="en-US" sz="4000" b="1" i="1" dirty="0"/>
              <a:t>Version Control </a:t>
            </a:r>
            <a:r>
              <a:rPr lang="en-US" sz="4000" b="1" i="1" dirty="0" smtClean="0"/>
              <a:t>System</a:t>
            </a:r>
            <a:endParaRPr lang="en-US" sz="4000" b="1" i="1" dirty="0"/>
          </a:p>
        </p:txBody>
      </p:sp>
      <p:sp>
        <p:nvSpPr>
          <p:cNvPr id="3" name="Content Placeholder 2"/>
          <p:cNvSpPr>
            <a:spLocks noGrp="1"/>
          </p:cNvSpPr>
          <p:nvPr>
            <p:ph idx="1"/>
          </p:nvPr>
        </p:nvSpPr>
        <p:spPr>
          <a:xfrm>
            <a:off x="574765" y="1268863"/>
            <a:ext cx="11025049" cy="5468407"/>
          </a:xfrm>
        </p:spPr>
        <p:txBody>
          <a:bodyPr>
            <a:normAutofit/>
          </a:bodyPr>
          <a:lstStyle/>
          <a:p>
            <a:pPr>
              <a:lnSpc>
                <a:spcPct val="150000"/>
              </a:lnSpc>
            </a:pPr>
            <a:r>
              <a:rPr lang="en-US" sz="2000" dirty="0"/>
              <a:t>In a Distributed Version Control System (such as Git, Mercurial, Bazaar or </a:t>
            </a:r>
            <a:r>
              <a:rPr lang="en-US" sz="2000" dirty="0" err="1"/>
              <a:t>Darcs</a:t>
            </a:r>
            <a:r>
              <a:rPr lang="en-US" sz="2000" dirty="0"/>
              <a:t>), the user has a local copy of a </a:t>
            </a:r>
            <a:r>
              <a:rPr lang="en-US" sz="2000" dirty="0" smtClean="0"/>
              <a:t>repository. The </a:t>
            </a:r>
            <a:r>
              <a:rPr lang="en-US" sz="2000" dirty="0"/>
              <a:t>local repository contains all the files and metadata present in the main repository.</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1303" y="2381608"/>
            <a:ext cx="4311443" cy="4355663"/>
          </a:xfrm>
          <a:prstGeom prst="rect">
            <a:avLst/>
          </a:prstGeom>
        </p:spPr>
      </p:pic>
    </p:spTree>
    <p:extLst>
      <p:ext uri="{BB962C8B-B14F-4D97-AF65-F5344CB8AC3E}">
        <p14:creationId xmlns:p14="http://schemas.microsoft.com/office/powerpoint/2010/main" val="19655697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0" y="156117"/>
            <a:ext cx="11965577" cy="1112745"/>
          </a:xfrm>
        </p:spPr>
        <p:txBody>
          <a:bodyPr>
            <a:noAutofit/>
          </a:bodyPr>
          <a:lstStyle/>
          <a:p>
            <a:pPr algn="ctr"/>
            <a:r>
              <a:rPr lang="en-US" sz="3200" dirty="0">
                <a:solidFill>
                  <a:srgbClr val="000000"/>
                </a:solidFill>
                <a:latin typeface="times new roman" panose="02020603050405020304" pitchFamily="18" charset="0"/>
              </a:rPr>
              <a:t>Centralized Version Control </a:t>
            </a:r>
            <a:r>
              <a:rPr lang="en-US" sz="3200" dirty="0" smtClean="0">
                <a:solidFill>
                  <a:srgbClr val="000000"/>
                </a:solidFill>
                <a:latin typeface="times new roman" panose="02020603050405020304" pitchFamily="18" charset="0"/>
              </a:rPr>
              <a:t>System </a:t>
            </a:r>
            <a:r>
              <a:rPr lang="en-US" sz="3200" b="1" i="1" dirty="0" smtClean="0"/>
              <a:t>VS  </a:t>
            </a:r>
            <a:r>
              <a:rPr lang="en-US" sz="3200" dirty="0">
                <a:solidFill>
                  <a:srgbClr val="000000"/>
                </a:solidFill>
                <a:latin typeface="times new roman" panose="02020603050405020304" pitchFamily="18" charset="0"/>
              </a:rPr>
              <a:t>Distributed Version Control </a:t>
            </a:r>
            <a:r>
              <a:rPr lang="en-US" sz="3200" dirty="0" smtClean="0">
                <a:solidFill>
                  <a:srgbClr val="000000"/>
                </a:solidFill>
                <a:latin typeface="times new roman" panose="02020603050405020304" pitchFamily="18" charset="0"/>
              </a:rPr>
              <a:t>System</a:t>
            </a:r>
            <a:endParaRPr lang="en-US" sz="3200" b="1" i="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716594192"/>
              </p:ext>
            </p:extLst>
          </p:nvPr>
        </p:nvGraphicFramePr>
        <p:xfrm>
          <a:off x="1142996" y="1268862"/>
          <a:ext cx="9888584" cy="4494118"/>
        </p:xfrm>
        <a:graphic>
          <a:graphicData uri="http://schemas.openxmlformats.org/drawingml/2006/table">
            <a:tbl>
              <a:tblPr/>
              <a:tblGrid>
                <a:gridCol w="4944292">
                  <a:extLst>
                    <a:ext uri="{9D8B030D-6E8A-4147-A177-3AD203B41FA5}">
                      <a16:colId xmlns:a16="http://schemas.microsoft.com/office/drawing/2014/main" val="77447970"/>
                    </a:ext>
                  </a:extLst>
                </a:gridCol>
                <a:gridCol w="4944292">
                  <a:extLst>
                    <a:ext uri="{9D8B030D-6E8A-4147-A177-3AD203B41FA5}">
                      <a16:colId xmlns:a16="http://schemas.microsoft.com/office/drawing/2014/main" val="1080077134"/>
                    </a:ext>
                  </a:extLst>
                </a:gridCol>
              </a:tblGrid>
              <a:tr h="553477">
                <a:tc>
                  <a:txBody>
                    <a:bodyPr/>
                    <a:lstStyle/>
                    <a:p>
                      <a:pPr algn="l" fontAlgn="t"/>
                      <a:r>
                        <a:rPr lang="en-US" sz="1800" b="1" dirty="0">
                          <a:solidFill>
                            <a:srgbClr val="000000"/>
                          </a:solidFill>
                          <a:effectLst/>
                          <a:latin typeface="times new roman" panose="02020603050405020304" pitchFamily="18" charset="0"/>
                        </a:rPr>
                        <a:t>Centralized Version Control System</a:t>
                      </a:r>
                    </a:p>
                  </a:txBody>
                  <a:tcPr marT="91440" marB="182880">
                    <a:lnL w="9525" cap="flat" cmpd="sng" algn="ctr">
                      <a:solidFill>
                        <a:srgbClr val="A05AA3"/>
                      </a:solidFill>
                      <a:prstDash val="solid"/>
                      <a:round/>
                      <a:headEnd type="none" w="med" len="med"/>
                      <a:tailEnd type="none" w="med" len="med"/>
                    </a:lnL>
                    <a:lnR w="9525" cap="flat" cmpd="sng" algn="ctr">
                      <a:solidFill>
                        <a:srgbClr val="A05AA3"/>
                      </a:solidFill>
                      <a:prstDash val="solid"/>
                      <a:round/>
                      <a:headEnd type="none" w="med" len="med"/>
                      <a:tailEnd type="none" w="med" len="med"/>
                    </a:lnR>
                    <a:lnT w="9525" cap="flat" cmpd="sng" algn="ctr">
                      <a:solidFill>
                        <a:srgbClr val="A05AA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rgbClr val="000000"/>
                          </a:solidFill>
                          <a:effectLst/>
                          <a:latin typeface="times new roman" panose="02020603050405020304" pitchFamily="18" charset="0"/>
                        </a:rPr>
                        <a:t>Distributed Version Control System</a:t>
                      </a:r>
                    </a:p>
                  </a:txBody>
                  <a:tcPr marT="91440" marB="182880">
                    <a:lnL w="9525" cap="flat" cmpd="sng" algn="ctr">
                      <a:solidFill>
                        <a:srgbClr val="A05AA3"/>
                      </a:solidFill>
                      <a:prstDash val="solid"/>
                      <a:round/>
                      <a:headEnd type="none" w="med" len="med"/>
                      <a:tailEnd type="none" w="med" len="med"/>
                    </a:lnL>
                    <a:lnR w="9525" cap="flat" cmpd="sng" algn="ctr">
                      <a:solidFill>
                        <a:srgbClr val="A05AA3"/>
                      </a:solidFill>
                      <a:prstDash val="solid"/>
                      <a:round/>
                      <a:headEnd type="none" w="med" len="med"/>
                      <a:tailEnd type="none" w="med" len="med"/>
                    </a:lnR>
                    <a:lnT w="9525" cap="flat" cmpd="sng" algn="ctr">
                      <a:solidFill>
                        <a:srgbClr val="A05AA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375337941"/>
                  </a:ext>
                </a:extLst>
              </a:tr>
              <a:tr h="1081910">
                <a:tc>
                  <a:txBody>
                    <a:bodyPr/>
                    <a:lstStyle/>
                    <a:p>
                      <a:pPr algn="l" fontAlgn="t"/>
                      <a:r>
                        <a:rPr lang="en-US" sz="1800" dirty="0">
                          <a:solidFill>
                            <a:srgbClr val="333333"/>
                          </a:solidFill>
                          <a:effectLst/>
                          <a:latin typeface="inter-regular"/>
                        </a:rPr>
                        <a:t>In CVCS, The repository is placed at one place and delivers information to many clients.</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333333"/>
                          </a:solidFill>
                          <a:effectLst/>
                          <a:latin typeface="inter-regular"/>
                        </a:rPr>
                        <a:t>In DVCS, Every user has a local copy of the repository in place of the central repository on the server-side.</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270042514"/>
                  </a:ext>
                </a:extLst>
              </a:tr>
              <a:tr h="681221">
                <a:tc>
                  <a:txBody>
                    <a:bodyPr/>
                    <a:lstStyle/>
                    <a:p>
                      <a:pPr algn="l" fontAlgn="t"/>
                      <a:r>
                        <a:rPr lang="en-US" sz="1800">
                          <a:solidFill>
                            <a:srgbClr val="333333"/>
                          </a:solidFill>
                          <a:effectLst/>
                          <a:latin typeface="inter-regular"/>
                        </a:rPr>
                        <a:t>It is based on the client-server approach.</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a:solidFill>
                            <a:srgbClr val="333333"/>
                          </a:solidFill>
                          <a:effectLst/>
                          <a:latin typeface="inter-regular"/>
                        </a:rPr>
                        <a:t>It is based on the client-server approach.</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42607194"/>
                  </a:ext>
                </a:extLst>
              </a:tr>
              <a:tr h="947788">
                <a:tc>
                  <a:txBody>
                    <a:bodyPr/>
                    <a:lstStyle/>
                    <a:p>
                      <a:pPr algn="l" fontAlgn="t"/>
                      <a:r>
                        <a:rPr lang="en-US" sz="1800" dirty="0">
                          <a:solidFill>
                            <a:srgbClr val="333333"/>
                          </a:solidFill>
                          <a:effectLst/>
                          <a:latin typeface="inter-regular"/>
                        </a:rPr>
                        <a:t>It is the most straightforward system based on the concept of the central repository.</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It is flexible and has emerged with the concept that everyone has their repository.</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54034648"/>
                  </a:ext>
                </a:extLst>
              </a:tr>
              <a:tr h="1214352">
                <a:tc>
                  <a:txBody>
                    <a:bodyPr/>
                    <a:lstStyle/>
                    <a:p>
                      <a:pPr algn="l" fontAlgn="t"/>
                      <a:r>
                        <a:rPr lang="en-US" sz="1800" dirty="0">
                          <a:solidFill>
                            <a:srgbClr val="333333"/>
                          </a:solidFill>
                          <a:effectLst/>
                          <a:latin typeface="inter-regular"/>
                        </a:rPr>
                        <a:t>In CVCS, the server provides the latest code to all the clients across the globe.</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In DVCS, every user can check out the snapshot of the code, and they can fully mirror the central repository.</a:t>
                      </a:r>
                    </a:p>
                  </a:txBody>
                  <a:tcPr marT="9144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61472221"/>
                  </a:ext>
                </a:extLst>
              </a:tr>
            </a:tbl>
          </a:graphicData>
        </a:graphic>
      </p:graphicFrame>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24112031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0" y="156117"/>
            <a:ext cx="11965577" cy="1112745"/>
          </a:xfrm>
        </p:spPr>
        <p:txBody>
          <a:bodyPr>
            <a:noAutofit/>
          </a:bodyPr>
          <a:lstStyle/>
          <a:p>
            <a:pPr algn="ctr"/>
            <a:r>
              <a:rPr lang="en-US" sz="3200" dirty="0">
                <a:solidFill>
                  <a:srgbClr val="000000"/>
                </a:solidFill>
                <a:latin typeface="times new roman" panose="02020603050405020304" pitchFamily="18" charset="0"/>
              </a:rPr>
              <a:t>Centralized Version Control </a:t>
            </a:r>
            <a:r>
              <a:rPr lang="en-US" sz="3200" dirty="0" smtClean="0">
                <a:solidFill>
                  <a:srgbClr val="000000"/>
                </a:solidFill>
                <a:latin typeface="times new roman" panose="02020603050405020304" pitchFamily="18" charset="0"/>
              </a:rPr>
              <a:t>System </a:t>
            </a:r>
            <a:r>
              <a:rPr lang="en-US" sz="3200" b="1" i="1" dirty="0" smtClean="0"/>
              <a:t>VS  </a:t>
            </a:r>
            <a:r>
              <a:rPr lang="en-US" sz="3200" dirty="0">
                <a:solidFill>
                  <a:srgbClr val="000000"/>
                </a:solidFill>
                <a:latin typeface="times new roman" panose="02020603050405020304" pitchFamily="18" charset="0"/>
              </a:rPr>
              <a:t>Distributed Version Control </a:t>
            </a:r>
            <a:r>
              <a:rPr lang="en-US" sz="3200" dirty="0" smtClean="0">
                <a:solidFill>
                  <a:srgbClr val="000000"/>
                </a:solidFill>
                <a:latin typeface="times new roman" panose="02020603050405020304" pitchFamily="18" charset="0"/>
              </a:rPr>
              <a:t>System (Cont.)</a:t>
            </a:r>
            <a:endParaRPr lang="en-US" sz="3200" b="1" i="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74208926"/>
              </p:ext>
            </p:extLst>
          </p:nvPr>
        </p:nvGraphicFramePr>
        <p:xfrm>
          <a:off x="1084213" y="1172677"/>
          <a:ext cx="10006150" cy="5303520"/>
        </p:xfrm>
        <a:graphic>
          <a:graphicData uri="http://schemas.openxmlformats.org/drawingml/2006/table">
            <a:tbl>
              <a:tblPr/>
              <a:tblGrid>
                <a:gridCol w="5003075">
                  <a:extLst>
                    <a:ext uri="{9D8B030D-6E8A-4147-A177-3AD203B41FA5}">
                      <a16:colId xmlns:a16="http://schemas.microsoft.com/office/drawing/2014/main" val="77447970"/>
                    </a:ext>
                  </a:extLst>
                </a:gridCol>
                <a:gridCol w="5003075">
                  <a:extLst>
                    <a:ext uri="{9D8B030D-6E8A-4147-A177-3AD203B41FA5}">
                      <a16:colId xmlns:a16="http://schemas.microsoft.com/office/drawing/2014/main" val="1080077134"/>
                    </a:ext>
                  </a:extLst>
                </a:gridCol>
              </a:tblGrid>
              <a:tr h="701978">
                <a:tc>
                  <a:txBody>
                    <a:bodyPr/>
                    <a:lstStyle/>
                    <a:p>
                      <a:pPr algn="l" fontAlgn="t"/>
                      <a:r>
                        <a:rPr lang="en-US" sz="1800" b="1" dirty="0">
                          <a:solidFill>
                            <a:srgbClr val="000000"/>
                          </a:solidFill>
                          <a:effectLst/>
                          <a:latin typeface="times new roman" panose="02020603050405020304" pitchFamily="18" charset="0"/>
                        </a:rPr>
                        <a:t>Centralized Version Control System</a:t>
                      </a:r>
                    </a:p>
                  </a:txBody>
                  <a:tcPr marL="182880" marR="182880" marT="182880" marB="274320">
                    <a:lnL w="9525" cap="flat" cmpd="sng" algn="ctr">
                      <a:solidFill>
                        <a:srgbClr val="A05AA3"/>
                      </a:solidFill>
                      <a:prstDash val="solid"/>
                      <a:round/>
                      <a:headEnd type="none" w="med" len="med"/>
                      <a:tailEnd type="none" w="med" len="med"/>
                    </a:lnL>
                    <a:lnR w="9525" cap="flat" cmpd="sng" algn="ctr">
                      <a:solidFill>
                        <a:srgbClr val="A05AA3"/>
                      </a:solidFill>
                      <a:prstDash val="solid"/>
                      <a:round/>
                      <a:headEnd type="none" w="med" len="med"/>
                      <a:tailEnd type="none" w="med" len="med"/>
                    </a:lnR>
                    <a:lnT w="9525" cap="flat" cmpd="sng" algn="ctr">
                      <a:solidFill>
                        <a:srgbClr val="A05AA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rgbClr val="000000"/>
                          </a:solidFill>
                          <a:effectLst/>
                          <a:latin typeface="times new roman" panose="02020603050405020304" pitchFamily="18" charset="0"/>
                        </a:rPr>
                        <a:t>Distributed Version Control System</a:t>
                      </a:r>
                    </a:p>
                  </a:txBody>
                  <a:tcPr marL="182880" marR="182880" marT="182880" marB="274320">
                    <a:lnL w="9525" cap="flat" cmpd="sng" algn="ctr">
                      <a:solidFill>
                        <a:srgbClr val="A05AA3"/>
                      </a:solidFill>
                      <a:prstDash val="solid"/>
                      <a:round/>
                      <a:headEnd type="none" w="med" len="med"/>
                      <a:tailEnd type="none" w="med" len="med"/>
                    </a:lnL>
                    <a:lnR w="9525" cap="flat" cmpd="sng" algn="ctr">
                      <a:solidFill>
                        <a:srgbClr val="A05AA3"/>
                      </a:solidFill>
                      <a:prstDash val="solid"/>
                      <a:round/>
                      <a:headEnd type="none" w="med" len="med"/>
                      <a:tailEnd type="none" w="med" len="med"/>
                    </a:lnR>
                    <a:lnT w="9525" cap="flat" cmpd="sng" algn="ctr">
                      <a:solidFill>
                        <a:srgbClr val="A05AA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375337941"/>
                  </a:ext>
                </a:extLst>
              </a:tr>
              <a:tr h="1191700">
                <a:tc>
                  <a:txBody>
                    <a:bodyPr/>
                    <a:lstStyle/>
                    <a:p>
                      <a:pPr algn="l" fontAlgn="t"/>
                      <a:r>
                        <a:rPr lang="en-US" sz="1800" dirty="0">
                          <a:solidFill>
                            <a:srgbClr val="333333"/>
                          </a:solidFill>
                          <a:effectLst/>
                          <a:latin typeface="inter-regular"/>
                        </a:rPr>
                        <a:t>CVCS is easy to administrate and has additional control over users and access by its server from one place.</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DVCS is fast comparing to CVCS as you don't have to interact with the central server for every command.</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931313256"/>
                  </a:ext>
                </a:extLst>
              </a:tr>
              <a:tr h="965220">
                <a:tc>
                  <a:txBody>
                    <a:bodyPr/>
                    <a:lstStyle/>
                    <a:p>
                      <a:pPr algn="l" fontAlgn="t"/>
                      <a:r>
                        <a:rPr lang="en-US" sz="1800" dirty="0">
                          <a:solidFill>
                            <a:srgbClr val="333333"/>
                          </a:solidFill>
                          <a:effectLst/>
                          <a:latin typeface="inter-regular"/>
                        </a:rPr>
                        <a:t>The popular tools of CVCS are </a:t>
                      </a:r>
                      <a:r>
                        <a:rPr lang="en-US" sz="1800" b="1" dirty="0">
                          <a:solidFill>
                            <a:srgbClr val="333333"/>
                          </a:solidFill>
                          <a:effectLst/>
                          <a:latin typeface="inter-bold"/>
                        </a:rPr>
                        <a:t>SVN</a:t>
                      </a:r>
                      <a:r>
                        <a:rPr lang="en-US" sz="1800" dirty="0">
                          <a:solidFill>
                            <a:srgbClr val="333333"/>
                          </a:solidFill>
                          <a:effectLst/>
                          <a:latin typeface="inter-regular"/>
                        </a:rPr>
                        <a:t> (Subversion) and </a:t>
                      </a:r>
                      <a:r>
                        <a:rPr lang="en-US" sz="1800" b="1" dirty="0">
                          <a:solidFill>
                            <a:srgbClr val="333333"/>
                          </a:solidFill>
                          <a:effectLst/>
                          <a:latin typeface="inter-bold"/>
                        </a:rPr>
                        <a:t>CVS</a:t>
                      </a:r>
                      <a:r>
                        <a:rPr lang="en-US" sz="1800" dirty="0">
                          <a:solidFill>
                            <a:srgbClr val="333333"/>
                          </a:solidFill>
                          <a:effectLst/>
                          <a:latin typeface="inter-regular"/>
                        </a:rPr>
                        <a:t>.</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The popular tools of DVCS are </a:t>
                      </a:r>
                      <a:r>
                        <a:rPr lang="en-US" sz="1800" b="1" dirty="0">
                          <a:solidFill>
                            <a:srgbClr val="333333"/>
                          </a:solidFill>
                          <a:effectLst/>
                          <a:latin typeface="inter-bold"/>
                        </a:rPr>
                        <a:t>Git</a:t>
                      </a:r>
                      <a:r>
                        <a:rPr lang="en-US" sz="1800" dirty="0">
                          <a:solidFill>
                            <a:srgbClr val="333333"/>
                          </a:solidFill>
                          <a:effectLst/>
                          <a:latin typeface="inter-regular"/>
                        </a:rPr>
                        <a:t> and </a:t>
                      </a:r>
                      <a:r>
                        <a:rPr lang="en-US" sz="1800" b="1" dirty="0">
                          <a:solidFill>
                            <a:srgbClr val="333333"/>
                          </a:solidFill>
                          <a:effectLst/>
                          <a:latin typeface="inter-bold"/>
                        </a:rPr>
                        <a:t>Mercurial</a:t>
                      </a:r>
                      <a:r>
                        <a:rPr lang="en-US" sz="1800" dirty="0">
                          <a:solidFill>
                            <a:srgbClr val="333333"/>
                          </a:solidFill>
                          <a:effectLst/>
                          <a:latin typeface="inter-regular"/>
                        </a:rPr>
                        <a:t>.</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93341120"/>
                  </a:ext>
                </a:extLst>
              </a:tr>
              <a:tr h="965220">
                <a:tc>
                  <a:txBody>
                    <a:bodyPr/>
                    <a:lstStyle/>
                    <a:p>
                      <a:pPr algn="l" fontAlgn="t"/>
                      <a:r>
                        <a:rPr lang="en-US" sz="1800">
                          <a:solidFill>
                            <a:srgbClr val="333333"/>
                          </a:solidFill>
                          <a:effectLst/>
                          <a:latin typeface="inter-regular"/>
                        </a:rPr>
                        <a:t>CVCS is easy to understand for beginners.</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333333"/>
                          </a:solidFill>
                          <a:effectLst/>
                          <a:latin typeface="inter-regular"/>
                        </a:rPr>
                        <a:t>DVCS has some complex process for beginners.</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52799831"/>
                  </a:ext>
                </a:extLst>
              </a:tr>
              <a:tr h="1183974">
                <a:tc>
                  <a:txBody>
                    <a:bodyPr/>
                    <a:lstStyle/>
                    <a:p>
                      <a:pPr algn="l" fontAlgn="t"/>
                      <a:r>
                        <a:rPr lang="en-US" sz="1800">
                          <a:solidFill>
                            <a:srgbClr val="333333"/>
                          </a:solidFill>
                          <a:effectLst/>
                          <a:latin typeface="inter-regular"/>
                        </a:rPr>
                        <a:t>If the server fails, No system can access data from another system.</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if any server fails and other systems were collaborating via it, that server can restore any of the client repositories</a:t>
                      </a:r>
                    </a:p>
                  </a:txBody>
                  <a:tcPr marL="182880" marR="182880" marT="182880" marB="27432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65613489"/>
                  </a:ext>
                </a:extLst>
              </a:tr>
            </a:tbl>
          </a:graphicData>
        </a:graphic>
      </p:graphicFrame>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37876525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Version </a:t>
            </a:r>
            <a:r>
              <a:rPr lang="en-US" sz="4000" b="1" i="1" dirty="0"/>
              <a:t>Control Tools</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dirty="0" smtClean="0"/>
              <a:t>Best version control/revision control tools:</a:t>
            </a:r>
          </a:p>
          <a:p>
            <a:pPr marL="1028700" lvl="1" indent="-571500">
              <a:lnSpc>
                <a:spcPct val="150000"/>
              </a:lnSpc>
              <a:buFont typeface="+mj-lt"/>
              <a:buAutoNum type="romanUcPeriod"/>
            </a:pPr>
            <a:r>
              <a:rPr lang="en-US" sz="3200" b="1" i="1" dirty="0" smtClean="0"/>
              <a:t>Git</a:t>
            </a:r>
            <a:endParaRPr lang="en-US" b="1" i="1" dirty="0" smtClean="0"/>
          </a:p>
          <a:p>
            <a:pPr marL="1028700" lvl="1" indent="-571500">
              <a:lnSpc>
                <a:spcPct val="150000"/>
              </a:lnSpc>
              <a:buFont typeface="+mj-lt"/>
              <a:buAutoNum type="romanUcPeriod"/>
            </a:pPr>
            <a:r>
              <a:rPr lang="en-US" sz="2000" i="1" dirty="0"/>
              <a:t>Mercurial</a:t>
            </a:r>
          </a:p>
          <a:p>
            <a:pPr marL="1028700" lvl="1" indent="-571500">
              <a:lnSpc>
                <a:spcPct val="150000"/>
              </a:lnSpc>
              <a:buFont typeface="+mj-lt"/>
              <a:buAutoNum type="romanUcPeriod"/>
            </a:pPr>
            <a:r>
              <a:rPr lang="en-US" sz="2000" i="1" dirty="0" smtClean="0"/>
              <a:t>Monotone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8782286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What </a:t>
            </a:r>
            <a:r>
              <a:rPr lang="en-US" sz="4000" b="1" i="1" dirty="0"/>
              <a:t>is </a:t>
            </a:r>
            <a:r>
              <a:rPr lang="en-US" sz="4000" b="1" i="1" dirty="0" smtClean="0"/>
              <a:t>Git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b="1" dirty="0" smtClean="0"/>
              <a:t>Git</a:t>
            </a:r>
            <a:r>
              <a:rPr lang="en-US" dirty="0"/>
              <a:t> is an </a:t>
            </a:r>
            <a:r>
              <a:rPr lang="en-US" b="1" dirty="0"/>
              <a:t>open-source distributed version control </a:t>
            </a:r>
            <a:r>
              <a:rPr lang="en-US" b="1" dirty="0" smtClean="0"/>
              <a:t>system</a:t>
            </a:r>
            <a:r>
              <a:rPr lang="en-US" dirty="0" smtClean="0"/>
              <a:t>.</a:t>
            </a:r>
          </a:p>
          <a:p>
            <a:pPr>
              <a:lnSpc>
                <a:spcPct val="150000"/>
              </a:lnSpc>
              <a:buFont typeface="Wingdings" panose="05000000000000000000" pitchFamily="2" charset="2"/>
              <a:buChar char="Ø"/>
            </a:pPr>
            <a:r>
              <a:rPr lang="en-US" dirty="0" smtClean="0"/>
              <a:t>It </a:t>
            </a:r>
            <a:r>
              <a:rPr lang="en-US" dirty="0"/>
              <a:t>is designed to handle minor to major projects with high speed and </a:t>
            </a:r>
            <a:r>
              <a:rPr lang="en-US" dirty="0" smtClean="0"/>
              <a:t>efficiency.</a:t>
            </a:r>
          </a:p>
          <a:p>
            <a:pPr>
              <a:lnSpc>
                <a:spcPct val="150000"/>
              </a:lnSpc>
              <a:buFont typeface="Wingdings" panose="05000000000000000000" pitchFamily="2" charset="2"/>
              <a:buChar char="Ø"/>
            </a:pPr>
            <a:r>
              <a:rPr lang="en-US" dirty="0" smtClean="0"/>
              <a:t>It </a:t>
            </a:r>
            <a:r>
              <a:rPr lang="en-US" dirty="0"/>
              <a:t>is developed to co-ordinate the work among the </a:t>
            </a:r>
            <a:r>
              <a:rPr lang="en-US" dirty="0" smtClean="0"/>
              <a:t>developers.</a:t>
            </a:r>
          </a:p>
          <a:p>
            <a:pPr>
              <a:lnSpc>
                <a:spcPct val="150000"/>
              </a:lnSpc>
              <a:buFont typeface="Wingdings" panose="05000000000000000000" pitchFamily="2" charset="2"/>
              <a:buChar char="Ø"/>
            </a:pPr>
            <a:r>
              <a:rPr lang="en-US" dirty="0" smtClean="0"/>
              <a:t>Version </a:t>
            </a:r>
            <a:r>
              <a:rPr lang="en-US" dirty="0"/>
              <a:t>control allows </a:t>
            </a:r>
            <a:r>
              <a:rPr lang="en-US" dirty="0" smtClean="0"/>
              <a:t>developers </a:t>
            </a:r>
            <a:r>
              <a:rPr lang="en-US" dirty="0"/>
              <a:t>to track and work together </a:t>
            </a:r>
            <a:r>
              <a:rPr lang="en-US" dirty="0" smtClean="0"/>
              <a:t>with </a:t>
            </a:r>
            <a:r>
              <a:rPr lang="en-US" dirty="0"/>
              <a:t>team members at the same workspace</a:t>
            </a:r>
            <a:r>
              <a:rPr lang="en-US"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2146838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Git</a:t>
            </a:r>
          </a:p>
        </p:txBody>
      </p:sp>
      <p:sp>
        <p:nvSpPr>
          <p:cNvPr id="3" name="Content Placeholder 2"/>
          <p:cNvSpPr>
            <a:spLocks noGrp="1"/>
          </p:cNvSpPr>
          <p:nvPr>
            <p:ph idx="1"/>
          </p:nvPr>
        </p:nvSpPr>
        <p:spPr>
          <a:xfrm>
            <a:off x="574766" y="1425620"/>
            <a:ext cx="11025049" cy="5103282"/>
          </a:xfrm>
        </p:spPr>
        <p:txBody>
          <a:bodyPr>
            <a:normAutofit lnSpcReduction="10000"/>
          </a:bodyPr>
          <a:lstStyle/>
          <a:p>
            <a:pPr marL="0" indent="0">
              <a:lnSpc>
                <a:spcPct val="150000"/>
              </a:lnSpc>
              <a:buNone/>
            </a:pPr>
            <a:endParaRPr lang="en-US" b="1" i="1" dirty="0" smtClean="0"/>
          </a:p>
          <a:p>
            <a:pPr marL="0" indent="0">
              <a:lnSpc>
                <a:spcPct val="150000"/>
              </a:lnSpc>
              <a:buNone/>
            </a:pPr>
            <a:endParaRPr lang="en-US" b="1" i="1" dirty="0"/>
          </a:p>
          <a:p>
            <a:pPr marL="0" indent="0">
              <a:lnSpc>
                <a:spcPct val="150000"/>
              </a:lnSpc>
              <a:buNone/>
            </a:pPr>
            <a:endParaRPr lang="en-US" b="1" i="1" dirty="0" smtClean="0"/>
          </a:p>
          <a:p>
            <a:pPr marL="0" indent="0">
              <a:lnSpc>
                <a:spcPct val="150000"/>
              </a:lnSpc>
              <a:buNone/>
            </a:pPr>
            <a:endParaRPr lang="en-US" b="1" i="1" dirty="0"/>
          </a:p>
          <a:p>
            <a:pPr marL="0" indent="0">
              <a:lnSpc>
                <a:spcPct val="150000"/>
              </a:lnSpc>
              <a:buNone/>
            </a:pPr>
            <a:endParaRPr lang="en-US" b="1" i="1" dirty="0" smtClean="0"/>
          </a:p>
          <a:p>
            <a:pPr marL="0" indent="0">
              <a:lnSpc>
                <a:spcPct val="150000"/>
              </a:lnSpc>
              <a:buNone/>
            </a:pPr>
            <a:endParaRPr lang="en-US" b="1" i="1" dirty="0"/>
          </a:p>
          <a:p>
            <a:pPr marL="0" indent="0" algn="ctr">
              <a:lnSpc>
                <a:spcPct val="150000"/>
              </a:lnSpc>
              <a:buNone/>
            </a:pPr>
            <a:r>
              <a:rPr lang="en-US" sz="1800" b="1" i="1" dirty="0" smtClean="0"/>
              <a:t>Features </a:t>
            </a:r>
            <a:r>
              <a:rPr lang="en-US" sz="1800" b="1" i="1" dirty="0"/>
              <a:t>of Git</a:t>
            </a:r>
            <a:endParaRPr lang="en-US" sz="1800"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5568" y="1308053"/>
            <a:ext cx="6548542" cy="4322038"/>
          </a:xfrm>
          <a:prstGeom prst="rect">
            <a:avLst/>
          </a:prstGeom>
        </p:spPr>
      </p:pic>
    </p:spTree>
    <p:extLst>
      <p:ext uri="{BB962C8B-B14F-4D97-AF65-F5344CB8AC3E}">
        <p14:creationId xmlns:p14="http://schemas.microsoft.com/office/powerpoint/2010/main" val="3790882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a:t>
            </a:r>
            <a:r>
              <a:rPr lang="en-US" sz="4000" b="1" i="1" dirty="0" smtClean="0"/>
              <a:t>Git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dirty="0" smtClean="0"/>
              <a:t>Open Source</a:t>
            </a:r>
            <a:endParaRPr lang="en-US" dirty="0"/>
          </a:p>
          <a:p>
            <a:pPr lvl="1">
              <a:lnSpc>
                <a:spcPct val="150000"/>
              </a:lnSpc>
            </a:pPr>
            <a:r>
              <a:rPr lang="en-US" dirty="0" smtClean="0"/>
              <a:t>Git </a:t>
            </a:r>
            <a:r>
              <a:rPr lang="en-US" dirty="0"/>
              <a:t>is an </a:t>
            </a:r>
            <a:r>
              <a:rPr lang="en-US" b="1" dirty="0"/>
              <a:t>open-source tool</a:t>
            </a:r>
            <a:r>
              <a:rPr lang="en-US" dirty="0"/>
              <a:t>. It is released under the </a:t>
            </a:r>
            <a:r>
              <a:rPr lang="en-US" b="1" dirty="0"/>
              <a:t>GPL</a:t>
            </a:r>
            <a:r>
              <a:rPr lang="en-US" dirty="0"/>
              <a:t> (General Public License) license.</a:t>
            </a:r>
          </a:p>
          <a:p>
            <a:pPr>
              <a:lnSpc>
                <a:spcPct val="150000"/>
              </a:lnSpc>
            </a:pPr>
            <a:r>
              <a:rPr lang="en-US" b="1" dirty="0" smtClean="0"/>
              <a:t>Scalable</a:t>
            </a:r>
            <a:endParaRPr lang="en-US" dirty="0"/>
          </a:p>
          <a:p>
            <a:pPr lvl="1">
              <a:lnSpc>
                <a:spcPct val="150000"/>
              </a:lnSpc>
            </a:pPr>
            <a:r>
              <a:rPr lang="en-US" dirty="0" smtClean="0"/>
              <a:t>Git </a:t>
            </a:r>
            <a:r>
              <a:rPr lang="en-US" dirty="0"/>
              <a:t>is </a:t>
            </a:r>
            <a:r>
              <a:rPr lang="en-US" b="1" dirty="0"/>
              <a:t>scalable</a:t>
            </a:r>
            <a:r>
              <a:rPr lang="en-US" dirty="0"/>
              <a:t>, which means when the number of users increases, the Git can easily handle such situations</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25972893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a:t>
            </a:r>
            <a:r>
              <a:rPr lang="en-US" sz="4000" b="1" i="1" dirty="0" smtClean="0"/>
              <a:t>Git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dirty="0" smtClean="0"/>
              <a:t>Distributed</a:t>
            </a:r>
            <a:endParaRPr lang="en-US" dirty="0"/>
          </a:p>
          <a:p>
            <a:pPr lvl="1">
              <a:lnSpc>
                <a:spcPct val="150000"/>
              </a:lnSpc>
            </a:pPr>
            <a:r>
              <a:rPr lang="en-US" dirty="0" smtClean="0"/>
              <a:t>Distributed </a:t>
            </a:r>
            <a:r>
              <a:rPr lang="en-US" dirty="0"/>
              <a:t>means that instead of switching the project to another machine, </a:t>
            </a:r>
            <a:r>
              <a:rPr lang="en-US" dirty="0" smtClean="0"/>
              <a:t>developer </a:t>
            </a:r>
            <a:r>
              <a:rPr lang="en-US" dirty="0"/>
              <a:t>can create a "clone" of the entire repository. Also, instead of just having one central repository that you send changes to, every user has their own repository that contains the entire commit history of the project. </a:t>
            </a:r>
            <a:r>
              <a:rPr lang="en-US" dirty="0" smtClean="0"/>
              <a:t>Developer </a:t>
            </a:r>
            <a:r>
              <a:rPr lang="en-US" dirty="0"/>
              <a:t>do not need to connect to the remote repository; the change is just stored on </a:t>
            </a:r>
            <a:r>
              <a:rPr lang="en-US" dirty="0" smtClean="0"/>
              <a:t>the </a:t>
            </a:r>
            <a:r>
              <a:rPr lang="en-US" dirty="0"/>
              <a:t>local repository. If necessary, we can push these changes to a remote repository.</a:t>
            </a:r>
          </a:p>
          <a:p>
            <a:pPr lvl="1">
              <a:lnSpc>
                <a:spcPct val="15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spTree>
    <p:extLst>
      <p:ext uri="{BB962C8B-B14F-4D97-AF65-F5344CB8AC3E}">
        <p14:creationId xmlns:p14="http://schemas.microsoft.com/office/powerpoint/2010/main" val="32906288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a:t>
            </a:r>
            <a:r>
              <a:rPr lang="en-US" sz="4000" b="1" i="1" dirty="0" smtClean="0"/>
              <a:t>Git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fontScale="92500" lnSpcReduction="10000"/>
          </a:bodyPr>
          <a:lstStyle/>
          <a:p>
            <a:pPr>
              <a:lnSpc>
                <a:spcPct val="150000"/>
              </a:lnSpc>
            </a:pPr>
            <a:r>
              <a:rPr lang="en-US" b="1" dirty="0" smtClean="0"/>
              <a:t>Security</a:t>
            </a:r>
            <a:endParaRPr lang="en-US" dirty="0"/>
          </a:p>
          <a:p>
            <a:pPr lvl="1">
              <a:lnSpc>
                <a:spcPct val="150000"/>
              </a:lnSpc>
            </a:pPr>
            <a:r>
              <a:rPr lang="en-US" dirty="0" smtClean="0"/>
              <a:t>Git </a:t>
            </a:r>
            <a:r>
              <a:rPr lang="en-US" dirty="0"/>
              <a:t>is secure. It uses the </a:t>
            </a:r>
            <a:r>
              <a:rPr lang="en-US" b="1" dirty="0"/>
              <a:t>SHA1 (Secure Hash Function)</a:t>
            </a:r>
            <a:r>
              <a:rPr lang="en-US" dirty="0"/>
              <a:t> to name and identify objects within its repository. Files and commits are checked and retrieved by its checksum at the time of </a:t>
            </a:r>
            <a:r>
              <a:rPr lang="en-US" dirty="0" smtClean="0"/>
              <a:t>checkout.</a:t>
            </a:r>
          </a:p>
          <a:p>
            <a:pPr lvl="1">
              <a:lnSpc>
                <a:spcPct val="150000"/>
              </a:lnSpc>
            </a:pPr>
            <a:r>
              <a:rPr lang="en-US" dirty="0" smtClean="0"/>
              <a:t>Once </a:t>
            </a:r>
            <a:r>
              <a:rPr lang="en-US" dirty="0"/>
              <a:t>it is published, one cannot make changes to its old version.</a:t>
            </a:r>
          </a:p>
          <a:p>
            <a:pPr>
              <a:lnSpc>
                <a:spcPct val="150000"/>
              </a:lnSpc>
            </a:pPr>
            <a:r>
              <a:rPr lang="en-US" b="1" dirty="0" smtClean="0"/>
              <a:t>Speed</a:t>
            </a:r>
            <a:endParaRPr lang="en-US" dirty="0"/>
          </a:p>
          <a:p>
            <a:pPr lvl="1">
              <a:lnSpc>
                <a:spcPct val="150000"/>
              </a:lnSpc>
            </a:pPr>
            <a:r>
              <a:rPr lang="en-US" dirty="0" smtClean="0"/>
              <a:t>Git </a:t>
            </a:r>
            <a:r>
              <a:rPr lang="en-US" dirty="0"/>
              <a:t>is very </a:t>
            </a:r>
            <a:r>
              <a:rPr lang="en-US" b="1" dirty="0"/>
              <a:t>fast</a:t>
            </a:r>
            <a:r>
              <a:rPr lang="en-US" dirty="0"/>
              <a:t>, so it can complete all the tasks in a while. Most of the </a:t>
            </a:r>
            <a:r>
              <a:rPr lang="en-US" dirty="0" err="1"/>
              <a:t>git</a:t>
            </a:r>
            <a:r>
              <a:rPr lang="en-US" dirty="0"/>
              <a:t> operations are done on the local repository, so it provides a </a:t>
            </a:r>
            <a:r>
              <a:rPr lang="en-US" b="1" dirty="0"/>
              <a:t>huge speed</a:t>
            </a:r>
            <a:r>
              <a:rPr lang="en-US" dirty="0"/>
              <a:t>. Also, a centralized version control system continually communicates with a server somewhere.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Tree>
    <p:extLst>
      <p:ext uri="{BB962C8B-B14F-4D97-AF65-F5344CB8AC3E}">
        <p14:creationId xmlns:p14="http://schemas.microsoft.com/office/powerpoint/2010/main" val="25744707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Git </a:t>
            </a:r>
            <a:r>
              <a:rPr lang="en-US" sz="4000" b="1" dirty="0" smtClean="0"/>
              <a:t>Staging Area</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dirty="0" smtClean="0"/>
              <a:t>Staging Area</a:t>
            </a:r>
            <a:endParaRPr lang="en-US" dirty="0" smtClean="0"/>
          </a:p>
          <a:p>
            <a:pPr lvl="1">
              <a:lnSpc>
                <a:spcPct val="150000"/>
              </a:lnSpc>
            </a:pPr>
            <a:r>
              <a:rPr lang="en-US" dirty="0" smtClean="0"/>
              <a:t>The</a:t>
            </a:r>
            <a:r>
              <a:rPr lang="en-US" dirty="0"/>
              <a:t> </a:t>
            </a:r>
            <a:r>
              <a:rPr lang="en-US" b="1" dirty="0"/>
              <a:t>Staging area</a:t>
            </a:r>
            <a:r>
              <a:rPr lang="en-US" dirty="0"/>
              <a:t> is also a </a:t>
            </a:r>
            <a:r>
              <a:rPr lang="en-US" b="1" dirty="0"/>
              <a:t>unique functionality</a:t>
            </a:r>
            <a:r>
              <a:rPr lang="en-US" dirty="0"/>
              <a:t> of Git. It can be considered as a </a:t>
            </a:r>
            <a:r>
              <a:rPr lang="en-US" b="1" dirty="0"/>
              <a:t>preview of our next commit</a:t>
            </a:r>
            <a:r>
              <a:rPr lang="en-US" dirty="0"/>
              <a:t>, moreover, an </a:t>
            </a:r>
            <a:r>
              <a:rPr lang="en-US" b="1" dirty="0"/>
              <a:t>intermediate area</a:t>
            </a:r>
            <a:r>
              <a:rPr lang="en-US" dirty="0"/>
              <a:t> where commits can be formatted and reviewed before completion. When you make a commit, Git takes changes that are in the staging area and make them as a new commit. We are allowed to add and remove changes from the staging area.</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spTree>
    <p:extLst>
      <p:ext uri="{BB962C8B-B14F-4D97-AF65-F5344CB8AC3E}">
        <p14:creationId xmlns:p14="http://schemas.microsoft.com/office/powerpoint/2010/main" val="8429025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Git </a:t>
            </a:r>
            <a:r>
              <a:rPr lang="en-US" sz="4000" b="1" dirty="0" smtClean="0"/>
              <a:t>Staging Area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dirty="0" smtClean="0"/>
              <a:t>Staging Area</a:t>
            </a:r>
            <a:endParaRPr lang="en-US"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0396" y="2520815"/>
            <a:ext cx="6853787" cy="4112272"/>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3667622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Benefits </a:t>
            </a:r>
            <a:r>
              <a:rPr lang="en-US" sz="4000" b="1" i="1" dirty="0"/>
              <a:t>of </a:t>
            </a:r>
            <a:r>
              <a:rPr lang="en-US" sz="4000" b="1" i="1" dirty="0" smtClean="0"/>
              <a:t>Git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dirty="0" smtClean="0"/>
              <a:t>Significant benefits</a:t>
            </a:r>
            <a:endParaRPr lang="en-US" b="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974" y="2087571"/>
            <a:ext cx="6548632" cy="4715015"/>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40890454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Benefits </a:t>
            </a:r>
            <a:r>
              <a:rPr lang="en-US" sz="4000" b="1" i="1" dirty="0"/>
              <a:t>of </a:t>
            </a:r>
            <a:r>
              <a:rPr lang="en-US" sz="4000" b="1" i="1" dirty="0" smtClean="0"/>
              <a:t>Git (Cont.)</a:t>
            </a:r>
            <a:endParaRPr lang="en-US" sz="4000" b="1" i="1" dirty="0"/>
          </a:p>
        </p:txBody>
      </p:sp>
      <p:sp>
        <p:nvSpPr>
          <p:cNvPr id="3" name="Content Placeholder 2"/>
          <p:cNvSpPr>
            <a:spLocks noGrp="1"/>
          </p:cNvSpPr>
          <p:nvPr>
            <p:ph idx="1"/>
          </p:nvPr>
        </p:nvSpPr>
        <p:spPr>
          <a:xfrm>
            <a:off x="574765" y="1268863"/>
            <a:ext cx="11025049" cy="5468407"/>
          </a:xfrm>
        </p:spPr>
        <p:txBody>
          <a:bodyPr>
            <a:normAutofit fontScale="70000" lnSpcReduction="20000"/>
          </a:bodyPr>
          <a:lstStyle/>
          <a:p>
            <a:pPr>
              <a:lnSpc>
                <a:spcPct val="150000"/>
              </a:lnSpc>
            </a:pPr>
            <a:r>
              <a:rPr lang="en-US" b="1" dirty="0" smtClean="0"/>
              <a:t>Saves Time</a:t>
            </a:r>
            <a:endParaRPr lang="en-US" dirty="0"/>
          </a:p>
          <a:p>
            <a:pPr lvl="1">
              <a:lnSpc>
                <a:spcPct val="150000"/>
              </a:lnSpc>
            </a:pPr>
            <a:r>
              <a:rPr lang="en-US" dirty="0" smtClean="0"/>
              <a:t>Git </a:t>
            </a:r>
            <a:r>
              <a:rPr lang="en-US" dirty="0"/>
              <a:t>is lightning fast technology. Each command takes only a few seconds to execute so we can save a lot of time as compared to login to a GitHub account and find out its features.</a:t>
            </a:r>
          </a:p>
          <a:p>
            <a:pPr>
              <a:lnSpc>
                <a:spcPct val="150000"/>
              </a:lnSpc>
            </a:pPr>
            <a:r>
              <a:rPr lang="en-US" b="1" dirty="0"/>
              <a:t>Offline </a:t>
            </a:r>
            <a:r>
              <a:rPr lang="en-US" b="1" dirty="0" smtClean="0"/>
              <a:t>Working</a:t>
            </a:r>
            <a:endParaRPr lang="en-US" dirty="0"/>
          </a:p>
          <a:p>
            <a:pPr lvl="1">
              <a:lnSpc>
                <a:spcPct val="150000"/>
              </a:lnSpc>
            </a:pPr>
            <a:r>
              <a:rPr lang="en-US" dirty="0" smtClean="0"/>
              <a:t>One </a:t>
            </a:r>
            <a:r>
              <a:rPr lang="en-US" dirty="0"/>
              <a:t>of the most important benefits of Git is that it supports </a:t>
            </a:r>
            <a:r>
              <a:rPr lang="en-US" b="1" dirty="0"/>
              <a:t>offline working</a:t>
            </a:r>
            <a:r>
              <a:rPr lang="en-US" dirty="0"/>
              <a:t>. If we are facing internet connectivity issues, it will not affect our work. In Git, we can do almost everything locally. Comparatively, other CVS like SVN is limited and prefer the connection with the central repository.</a:t>
            </a:r>
          </a:p>
          <a:p>
            <a:pPr>
              <a:lnSpc>
                <a:spcPct val="150000"/>
              </a:lnSpc>
            </a:pPr>
            <a:r>
              <a:rPr lang="en-US" b="1" dirty="0"/>
              <a:t>Undo </a:t>
            </a:r>
            <a:r>
              <a:rPr lang="en-US" b="1" dirty="0" smtClean="0"/>
              <a:t>Mistakes</a:t>
            </a:r>
            <a:endParaRPr lang="en-US" dirty="0"/>
          </a:p>
          <a:p>
            <a:pPr lvl="1">
              <a:lnSpc>
                <a:spcPct val="150000"/>
              </a:lnSpc>
            </a:pPr>
            <a:r>
              <a:rPr lang="en-US" dirty="0" smtClean="0"/>
              <a:t>One </a:t>
            </a:r>
            <a:r>
              <a:rPr lang="en-US" dirty="0"/>
              <a:t>additional benefit of Git is we can </a:t>
            </a:r>
            <a:r>
              <a:rPr lang="en-US" b="1" dirty="0"/>
              <a:t>Undo</a:t>
            </a:r>
            <a:r>
              <a:rPr lang="en-US" dirty="0"/>
              <a:t> mistakes. Sometimes the undo can be a savior option for us. Git provides the undo option for almost everything.</a:t>
            </a:r>
          </a:p>
          <a:p>
            <a:pPr>
              <a:lnSpc>
                <a:spcPct val="150000"/>
              </a:lnSpc>
            </a:pPr>
            <a:r>
              <a:rPr lang="en-US" b="1" dirty="0"/>
              <a:t>Track the </a:t>
            </a:r>
            <a:r>
              <a:rPr lang="en-US" b="1" dirty="0" smtClean="0"/>
              <a:t>Changes</a:t>
            </a:r>
            <a:endParaRPr lang="en-US" dirty="0"/>
          </a:p>
          <a:p>
            <a:pPr lvl="1">
              <a:lnSpc>
                <a:spcPct val="150000"/>
              </a:lnSpc>
            </a:pPr>
            <a:r>
              <a:rPr lang="en-US" dirty="0" smtClean="0"/>
              <a:t>Git </a:t>
            </a:r>
            <a:r>
              <a:rPr lang="en-US" dirty="0"/>
              <a:t>facilitates with some exciting features such as </a:t>
            </a:r>
            <a:r>
              <a:rPr lang="en-US" b="1" dirty="0"/>
              <a:t>Diff, Log,</a:t>
            </a:r>
            <a:r>
              <a:rPr lang="en-US" dirty="0"/>
              <a:t> and </a:t>
            </a:r>
            <a:r>
              <a:rPr lang="en-US" b="1" dirty="0"/>
              <a:t>Status</a:t>
            </a:r>
            <a:r>
              <a:rPr lang="en-US" dirty="0"/>
              <a:t>, which allows us to track changes so we can </a:t>
            </a:r>
            <a:r>
              <a:rPr lang="en-US" b="1" dirty="0"/>
              <a:t>check the status, compare</a:t>
            </a:r>
            <a:r>
              <a:rPr lang="en-US" dirty="0"/>
              <a:t> our files or </a:t>
            </a:r>
            <a:r>
              <a:rPr lang="en-US" dirty="0" smtClean="0"/>
              <a:t>branches</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31616184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GitHub</a:t>
            </a:r>
            <a:endParaRPr lang="en-US" sz="4000" b="1" i="1" dirty="0"/>
          </a:p>
        </p:txBody>
      </p:sp>
      <p:sp>
        <p:nvSpPr>
          <p:cNvPr id="3" name="Content Placeholder 2"/>
          <p:cNvSpPr>
            <a:spLocks noGrp="1"/>
          </p:cNvSpPr>
          <p:nvPr>
            <p:ph idx="1"/>
          </p:nvPr>
        </p:nvSpPr>
        <p:spPr>
          <a:xfrm>
            <a:off x="574765" y="1268863"/>
            <a:ext cx="11025049" cy="5468407"/>
          </a:xfrm>
        </p:spPr>
        <p:txBody>
          <a:bodyPr>
            <a:normAutofit/>
          </a:bodyPr>
          <a:lstStyle/>
          <a:p>
            <a:pPr>
              <a:lnSpc>
                <a:spcPct val="150000"/>
              </a:lnSpc>
            </a:pPr>
            <a:r>
              <a:rPr lang="en-US" dirty="0" smtClean="0"/>
              <a:t>GitHub is </a:t>
            </a:r>
            <a:r>
              <a:rPr lang="en-US" dirty="0"/>
              <a:t>a Git repository hosting service. GitHub also facilitates with many of its features, such as access control and collaboration. It provides a Web-based graphical </a:t>
            </a:r>
            <a:r>
              <a:rPr lang="en-US" dirty="0" smtClean="0"/>
              <a:t>interface.</a:t>
            </a:r>
          </a:p>
          <a:p>
            <a:pPr>
              <a:lnSpc>
                <a:spcPct val="150000"/>
              </a:lnSpc>
            </a:pPr>
            <a:r>
              <a:rPr lang="en-US" dirty="0" smtClean="0"/>
              <a:t>It </a:t>
            </a:r>
            <a:r>
              <a:rPr lang="en-US" dirty="0"/>
              <a:t>offers both </a:t>
            </a:r>
            <a:r>
              <a:rPr lang="en-US" b="1" dirty="0"/>
              <a:t>distributed version control and source code management (SCM)</a:t>
            </a:r>
            <a:r>
              <a:rPr lang="en-US" dirty="0"/>
              <a:t> functionality of </a:t>
            </a:r>
            <a:r>
              <a:rPr lang="en-US" dirty="0" smtClean="0"/>
              <a:t>Git.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Tree>
    <p:extLst>
      <p:ext uri="{BB962C8B-B14F-4D97-AF65-F5344CB8AC3E}">
        <p14:creationId xmlns:p14="http://schemas.microsoft.com/office/powerpoint/2010/main" val="11101420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GitHub</a:t>
            </a:r>
          </a:p>
        </p:txBody>
      </p:sp>
      <p:sp>
        <p:nvSpPr>
          <p:cNvPr id="3" name="Content Placeholder 2"/>
          <p:cNvSpPr>
            <a:spLocks noGrp="1"/>
          </p:cNvSpPr>
          <p:nvPr>
            <p:ph idx="1"/>
          </p:nvPr>
        </p:nvSpPr>
        <p:spPr>
          <a:xfrm>
            <a:off x="574765" y="1268863"/>
            <a:ext cx="11025049" cy="5468407"/>
          </a:xfrm>
        </p:spPr>
        <p:txBody>
          <a:bodyPr>
            <a:normAutofit fontScale="92500" lnSpcReduction="10000"/>
          </a:bodyPr>
          <a:lstStyle/>
          <a:p>
            <a:pPr marL="0" indent="0">
              <a:lnSpc>
                <a:spcPct val="150000"/>
              </a:lnSpc>
              <a:buNone/>
            </a:pPr>
            <a:r>
              <a:rPr lang="en-US" dirty="0" smtClean="0"/>
              <a:t>GitHub significant features.</a:t>
            </a:r>
            <a:endParaRPr lang="en-US" dirty="0"/>
          </a:p>
          <a:p>
            <a:pPr lvl="1">
              <a:lnSpc>
                <a:spcPct val="150000"/>
              </a:lnSpc>
            </a:pPr>
            <a:r>
              <a:rPr lang="en-US" dirty="0" smtClean="0"/>
              <a:t>Collaboration</a:t>
            </a:r>
          </a:p>
          <a:p>
            <a:pPr lvl="1">
              <a:lnSpc>
                <a:spcPct val="150000"/>
              </a:lnSpc>
            </a:pPr>
            <a:r>
              <a:rPr lang="en-US" dirty="0" smtClean="0"/>
              <a:t>Integrated </a:t>
            </a:r>
            <a:r>
              <a:rPr lang="en-US" dirty="0"/>
              <a:t>issue and bug </a:t>
            </a:r>
            <a:r>
              <a:rPr lang="en-US" dirty="0" smtClean="0"/>
              <a:t>tracking</a:t>
            </a:r>
          </a:p>
          <a:p>
            <a:pPr lvl="1">
              <a:lnSpc>
                <a:spcPct val="150000"/>
              </a:lnSpc>
            </a:pPr>
            <a:r>
              <a:rPr lang="en-US" dirty="0" smtClean="0"/>
              <a:t>Graphical </a:t>
            </a:r>
            <a:r>
              <a:rPr lang="en-US" dirty="0"/>
              <a:t>representation of </a:t>
            </a:r>
            <a:r>
              <a:rPr lang="en-US" dirty="0" smtClean="0"/>
              <a:t>branches</a:t>
            </a:r>
          </a:p>
          <a:p>
            <a:pPr lvl="1">
              <a:lnSpc>
                <a:spcPct val="150000"/>
              </a:lnSpc>
            </a:pPr>
            <a:r>
              <a:rPr lang="en-US" dirty="0" smtClean="0"/>
              <a:t>Git </a:t>
            </a:r>
            <a:r>
              <a:rPr lang="en-US" dirty="0"/>
              <a:t>repositories </a:t>
            </a:r>
            <a:r>
              <a:rPr lang="en-US" dirty="0" smtClean="0"/>
              <a:t>hosting</a:t>
            </a:r>
          </a:p>
          <a:p>
            <a:pPr lvl="1">
              <a:lnSpc>
                <a:spcPct val="150000"/>
              </a:lnSpc>
            </a:pPr>
            <a:r>
              <a:rPr lang="en-US" dirty="0" smtClean="0"/>
              <a:t>Project management</a:t>
            </a:r>
          </a:p>
          <a:p>
            <a:pPr lvl="1">
              <a:lnSpc>
                <a:spcPct val="150000"/>
              </a:lnSpc>
            </a:pPr>
            <a:r>
              <a:rPr lang="en-US" dirty="0" smtClean="0"/>
              <a:t>Team management</a:t>
            </a:r>
          </a:p>
          <a:p>
            <a:pPr lvl="1">
              <a:lnSpc>
                <a:spcPct val="150000"/>
              </a:lnSpc>
            </a:pPr>
            <a:r>
              <a:rPr lang="en-US" dirty="0" smtClean="0"/>
              <a:t>Code hosting</a:t>
            </a:r>
          </a:p>
          <a:p>
            <a:pPr lvl="1">
              <a:lnSpc>
                <a:spcPct val="150000"/>
              </a:lnSpc>
            </a:pPr>
            <a:r>
              <a:rPr lang="en-US" dirty="0" smtClean="0"/>
              <a:t>Track </a:t>
            </a:r>
            <a:r>
              <a:rPr lang="en-US" dirty="0"/>
              <a:t>and assign </a:t>
            </a:r>
            <a:r>
              <a:rPr lang="en-US" dirty="0" smtClean="0"/>
              <a:t>tasks</a:t>
            </a:r>
          </a:p>
          <a:p>
            <a:pPr lvl="1">
              <a:lnSpc>
                <a:spcPct val="150000"/>
              </a:lnSpc>
            </a:pPr>
            <a:r>
              <a:rPr lang="en-US" dirty="0" smtClean="0"/>
              <a:t>Conversations</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spTree>
    <p:extLst>
      <p:ext uri="{BB962C8B-B14F-4D97-AF65-F5344CB8AC3E}">
        <p14:creationId xmlns:p14="http://schemas.microsoft.com/office/powerpoint/2010/main" val="37123024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23</a:t>
            </a:fld>
            <a:endParaRPr lang="en-US"/>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6191</TotalTime>
  <Words>727</Words>
  <Application>Microsoft Office PowerPoint</Application>
  <PresentationFormat>Widescreen</PresentationFormat>
  <Paragraphs>136</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inter-bold</vt:lpstr>
      <vt:lpstr>inter-regular</vt:lpstr>
      <vt:lpstr>times new roman</vt:lpstr>
      <vt:lpstr>Wingdings</vt:lpstr>
      <vt:lpstr>Office Theme</vt:lpstr>
      <vt:lpstr>Lecture-07</vt:lpstr>
      <vt:lpstr>Contents</vt:lpstr>
      <vt:lpstr>DevOps Components </vt:lpstr>
      <vt:lpstr>Source Code Management</vt:lpstr>
      <vt:lpstr>Types of Version Control System</vt:lpstr>
      <vt:lpstr>Localized version Control System</vt:lpstr>
      <vt:lpstr>Centralized Version Control System</vt:lpstr>
      <vt:lpstr>Distributed Version Control System</vt:lpstr>
      <vt:lpstr>Centralized Version Control System VS  Distributed Version Control System</vt:lpstr>
      <vt:lpstr>Centralized Version Control System VS  Distributed Version Control System (Cont.)</vt:lpstr>
      <vt:lpstr>Version Control Tools</vt:lpstr>
      <vt:lpstr>What is Git</vt:lpstr>
      <vt:lpstr>Features of Git</vt:lpstr>
      <vt:lpstr>Features of Git (Cont.)</vt:lpstr>
      <vt:lpstr>Features of Git (Cont.)</vt:lpstr>
      <vt:lpstr>Features of Git (Cont.)</vt:lpstr>
      <vt:lpstr>Git Staging Area</vt:lpstr>
      <vt:lpstr>Git Staging Area (Cont.)</vt:lpstr>
      <vt:lpstr>Benefits of Git</vt:lpstr>
      <vt:lpstr>Benefits of Git (Cont.)</vt:lpstr>
      <vt:lpstr>GitHub</vt:lpstr>
      <vt:lpstr>Features of GitHub</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Windows User</cp:lastModifiedBy>
  <cp:revision>787</cp:revision>
  <dcterms:created xsi:type="dcterms:W3CDTF">2017-02-21T04:58:17Z</dcterms:created>
  <dcterms:modified xsi:type="dcterms:W3CDTF">2022-03-24T19:00:03Z</dcterms:modified>
</cp:coreProperties>
</file>