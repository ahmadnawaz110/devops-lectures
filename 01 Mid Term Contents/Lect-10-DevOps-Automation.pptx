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14" r:id="rId2"/>
    <p:sldId id="384" r:id="rId3"/>
    <p:sldId id="383" r:id="rId4"/>
    <p:sldId id="385" r:id="rId5"/>
    <p:sldId id="386" r:id="rId6"/>
    <p:sldId id="390" r:id="rId7"/>
    <p:sldId id="389" r:id="rId8"/>
    <p:sldId id="405" r:id="rId9"/>
    <p:sldId id="387" r:id="rId10"/>
    <p:sldId id="388" r:id="rId11"/>
    <p:sldId id="414" r:id="rId12"/>
    <p:sldId id="416" r:id="rId13"/>
    <p:sldId id="415" r:id="rId14"/>
    <p:sldId id="391" r:id="rId15"/>
    <p:sldId id="392" r:id="rId16"/>
    <p:sldId id="393" r:id="rId17"/>
    <p:sldId id="394" r:id="rId18"/>
    <p:sldId id="395" r:id="rId19"/>
    <p:sldId id="396" r:id="rId20"/>
    <p:sldId id="397" r:id="rId21"/>
    <p:sldId id="404" r:id="rId22"/>
    <p:sldId id="398" r:id="rId23"/>
    <p:sldId id="406" r:id="rId24"/>
    <p:sldId id="400" r:id="rId25"/>
    <p:sldId id="403" r:id="rId26"/>
    <p:sldId id="401" r:id="rId27"/>
    <p:sldId id="402" r:id="rId28"/>
    <p:sldId id="407" r:id="rId29"/>
    <p:sldId id="408" r:id="rId30"/>
    <p:sldId id="409" r:id="rId31"/>
    <p:sldId id="417" r:id="rId32"/>
    <p:sldId id="411" r:id="rId33"/>
    <p:sldId id="412" r:id="rId34"/>
    <p:sldId id="418" r:id="rId35"/>
    <p:sldId id="413" r:id="rId36"/>
    <p:sldId id="419" r:id="rId37"/>
    <p:sldId id="30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94" autoAdjust="0"/>
    <p:restoredTop sz="94660"/>
  </p:normalViewPr>
  <p:slideViewPr>
    <p:cSldViewPr snapToGrid="0">
      <p:cViewPr varScale="1">
        <p:scale>
          <a:sx n="73" d="100"/>
          <a:sy n="73" d="100"/>
        </p:scale>
        <p:origin x="60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8C529-43AD-492C-BD00-7663F000CDBF}" type="datetimeFigureOut">
              <a:rPr lang="en-US" smtClean="0"/>
              <a:t>4/26/2022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5CC1E-72FA-4E57-BA7F-FC1221F7791F}" type="slidenum">
              <a:rPr lang="en-US" smtClean="0"/>
              <a:t>‹#›</a:t>
            </a:fld>
            <a:endParaRPr lang="en-US"/>
          </a:p>
        </p:txBody>
      </p:sp>
    </p:spTree>
    <p:extLst>
      <p:ext uri="{BB962C8B-B14F-4D97-AF65-F5344CB8AC3E}">
        <p14:creationId xmlns:p14="http://schemas.microsoft.com/office/powerpoint/2010/main" val="4125550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83ABFB-0481-4CC5-ABF9-2C4CE9D12409}" type="datetime1">
              <a:rPr lang="en-US" smtClean="0"/>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1221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1DBEC-91FA-447A-8AB9-A8DB16DAAB17}" type="datetime1">
              <a:rPr lang="en-US" smtClean="0"/>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27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8C943D-2555-4A57-B8EB-75C7F91B71C6}" type="datetime1">
              <a:rPr lang="en-US" smtClean="0"/>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60752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BB08C4-1FBA-4FE5-8D28-8C27B7466E79}" type="datetime1">
              <a:rPr lang="en-US" smtClean="0"/>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20775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E682A9-2A64-4335-8BB6-EA1B5FE288A5}" type="datetime1">
              <a:rPr lang="en-US" smtClean="0"/>
              <a:t>4/26/2022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12946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C89B2-6DED-445A-9AF5-74F690F84E78}" type="datetime1">
              <a:rPr lang="en-US" smtClean="0"/>
              <a:t>4/26/2022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54822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E7014-808B-4A34-9722-060A0C8B943A}" type="datetime1">
              <a:rPr lang="en-US" smtClean="0"/>
              <a:t>4/26/2022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427668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158D58-A862-414E-9423-46150B41CA14}" type="datetime1">
              <a:rPr lang="en-US" smtClean="0"/>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78110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776D00-FA0D-4D29-83D4-DD5A6DDF16E7}" type="datetime1">
              <a:rPr lang="en-US" smtClean="0"/>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15177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7A5918-257A-4095-BDEB-73BDDEB4A29E}" type="datetime1">
              <a:rPr lang="en-US" smtClean="0"/>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80377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10D01-121F-4BE4-9A0D-9D74E07BA582}" type="datetime1">
              <a:rPr lang="en-US" smtClean="0"/>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07678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012F9-413F-48FB-8539-50B5C9E7D155}" type="datetime1">
              <a:rPr lang="en-US" smtClean="0"/>
              <a:t>4/26/2022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25C6B-C1FE-4297-863E-68E85899D6B2}" type="slidenum">
              <a:rPr lang="en-US" smtClean="0"/>
              <a:t>‹#›</a:t>
            </a:fld>
            <a:endParaRPr lang="en-US"/>
          </a:p>
        </p:txBody>
      </p:sp>
    </p:spTree>
    <p:extLst>
      <p:ext uri="{BB962C8B-B14F-4D97-AF65-F5344CB8AC3E}">
        <p14:creationId xmlns:p14="http://schemas.microsoft.com/office/powerpoint/2010/main" val="96902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alpacked.io/blog/infrastructure-as-code-for-devops/" TargetMode="External"/><Relationship Id="rId2" Type="http://schemas.openxmlformats.org/officeDocument/2006/relationships/hyperlink" Target="https://www.bmc.com/blogs/infrastructure-as-code/" TargetMode="External"/><Relationship Id="rId1" Type="http://schemas.openxmlformats.org/officeDocument/2006/relationships/slideLayout" Target="../slideLayouts/slideLayout2.xml"/><Relationship Id="rId4" Type="http://schemas.openxmlformats.org/officeDocument/2006/relationships/hyperlink" Target="https://www.netapp.com/devops-solutions/what-is-infrastructure-as-code-iac/"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0388" y="2913651"/>
            <a:ext cx="9144000" cy="962706"/>
          </a:xfrm>
        </p:spPr>
        <p:txBody>
          <a:bodyPr>
            <a:normAutofit/>
          </a:bodyPr>
          <a:lstStyle/>
          <a:p>
            <a:r>
              <a:rPr lang="en-US" dirty="0" smtClean="0"/>
              <a:t>Lecture-10</a:t>
            </a:r>
            <a:endParaRPr lang="en-US" dirty="0"/>
          </a:p>
        </p:txBody>
      </p:sp>
      <p:sp>
        <p:nvSpPr>
          <p:cNvPr id="3" name="Subtitle 2"/>
          <p:cNvSpPr>
            <a:spLocks noGrp="1"/>
          </p:cNvSpPr>
          <p:nvPr>
            <p:ph type="subTitle" idx="1"/>
          </p:nvPr>
        </p:nvSpPr>
        <p:spPr>
          <a:xfrm>
            <a:off x="1876697" y="3876357"/>
            <a:ext cx="9144000" cy="1655762"/>
          </a:xfrm>
        </p:spPr>
        <p:txBody>
          <a:bodyPr/>
          <a:lstStyle/>
          <a:p>
            <a:r>
              <a:rPr lang="en-US" i="1" dirty="0" smtClean="0"/>
              <a:t> </a:t>
            </a:r>
          </a:p>
        </p:txBody>
      </p:sp>
      <p:sp>
        <p:nvSpPr>
          <p:cNvPr id="4" name="Slide Number Placeholder 3"/>
          <p:cNvSpPr>
            <a:spLocks noGrp="1"/>
          </p:cNvSpPr>
          <p:nvPr>
            <p:ph type="sldNum" sz="quarter" idx="12"/>
          </p:nvPr>
        </p:nvSpPr>
        <p:spPr>
          <a:xfrm>
            <a:off x="8987971" y="6153150"/>
            <a:ext cx="2743200" cy="365125"/>
          </a:xfrm>
        </p:spPr>
        <p:txBody>
          <a:bodyPr/>
          <a:lstStyle/>
          <a:p>
            <a:fld id="{18925C6B-C1FE-4297-863E-68E85899D6B2}" type="slidenum">
              <a:rPr lang="en-US" sz="1600" smtClean="0"/>
              <a:t>1</a:t>
            </a:fld>
            <a:endParaRPr lang="en-US" sz="1600" dirty="0"/>
          </a:p>
        </p:txBody>
      </p:sp>
    </p:spTree>
    <p:extLst>
      <p:ext uri="{BB962C8B-B14F-4D97-AF65-F5344CB8AC3E}">
        <p14:creationId xmlns:p14="http://schemas.microsoft.com/office/powerpoint/2010/main" val="2434583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314" y="403907"/>
            <a:ext cx="10787742" cy="719500"/>
          </a:xfrm>
        </p:spPr>
        <p:txBody>
          <a:bodyPr>
            <a:normAutofit/>
          </a:bodyPr>
          <a:lstStyle/>
          <a:p>
            <a:pPr algn="l"/>
            <a:r>
              <a:rPr lang="en-US" sz="4000" b="1" i="1" dirty="0" smtClean="0"/>
              <a:t>Contents</a:t>
            </a:r>
            <a:endParaRPr lang="en-US" sz="4000" b="1" i="1" dirty="0"/>
          </a:p>
        </p:txBody>
      </p:sp>
      <p:sp>
        <p:nvSpPr>
          <p:cNvPr id="3" name="Subtitle 2"/>
          <p:cNvSpPr>
            <a:spLocks noGrp="1"/>
          </p:cNvSpPr>
          <p:nvPr>
            <p:ph type="subTitle" idx="1"/>
          </p:nvPr>
        </p:nvSpPr>
        <p:spPr>
          <a:xfrm>
            <a:off x="827314" y="1435415"/>
            <a:ext cx="10787741" cy="5017317"/>
          </a:xfrm>
        </p:spPr>
        <p:txBody>
          <a:bodyPr>
            <a:noAutofit/>
          </a:bodyPr>
          <a:lstStyle/>
          <a:p>
            <a:pPr marL="342900" indent="-342900" algn="l">
              <a:lnSpc>
                <a:spcPct val="150000"/>
              </a:lnSpc>
              <a:buFont typeface="Arial" panose="020B0604020202020204" pitchFamily="34" charset="0"/>
              <a:buChar char="•"/>
            </a:pPr>
            <a:r>
              <a:rPr lang="en-US" dirty="0" smtClean="0"/>
              <a:t>DevOps Automation</a:t>
            </a:r>
          </a:p>
          <a:p>
            <a:pPr marL="342900" indent="-342900" algn="l">
              <a:lnSpc>
                <a:spcPct val="150000"/>
              </a:lnSpc>
              <a:buFont typeface="Arial" panose="020B0604020202020204" pitchFamily="34" charset="0"/>
              <a:buChar char="•"/>
            </a:pPr>
            <a:r>
              <a:rPr lang="en-US" dirty="0"/>
              <a:t>DevOps </a:t>
            </a:r>
            <a:r>
              <a:rPr lang="en-US" dirty="0" smtClean="0"/>
              <a:t>Utility</a:t>
            </a:r>
          </a:p>
          <a:p>
            <a:pPr marL="342900" indent="-342900" algn="l">
              <a:lnSpc>
                <a:spcPct val="150000"/>
              </a:lnSpc>
              <a:buFont typeface="Arial" panose="020B0604020202020204" pitchFamily="34" charset="0"/>
              <a:buChar char="•"/>
            </a:pPr>
            <a:r>
              <a:rPr lang="en-US" dirty="0" smtClean="0"/>
              <a:t>CI / CD</a:t>
            </a:r>
            <a:endParaRPr lang="en-US" dirty="0"/>
          </a:p>
        </p:txBody>
      </p:sp>
      <p:sp>
        <p:nvSpPr>
          <p:cNvPr id="4" name="Slide Number Placeholder 3"/>
          <p:cNvSpPr>
            <a:spLocks noGrp="1"/>
          </p:cNvSpPr>
          <p:nvPr>
            <p:ph type="sldNum" sz="quarter" idx="12"/>
          </p:nvPr>
        </p:nvSpPr>
        <p:spPr>
          <a:xfrm>
            <a:off x="8871855" y="6087608"/>
            <a:ext cx="2743200" cy="365125"/>
          </a:xfrm>
        </p:spPr>
        <p:txBody>
          <a:bodyPr/>
          <a:lstStyle/>
          <a:p>
            <a:fld id="{18925C6B-C1FE-4297-863E-68E85899D6B2}" type="slidenum">
              <a:rPr lang="en-US" smtClean="0"/>
              <a:t>2</a:t>
            </a:fld>
            <a:endParaRPr lang="en-US" dirty="0"/>
          </a:p>
        </p:txBody>
      </p:sp>
    </p:spTree>
    <p:extLst>
      <p:ext uri="{BB962C8B-B14F-4D97-AF65-F5344CB8AC3E}">
        <p14:creationId xmlns:p14="http://schemas.microsoft.com/office/powerpoint/2010/main" val="23437160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a:t>
            </a:r>
            <a:r>
              <a:rPr lang="en-US" sz="4000" b="1" i="1" dirty="0"/>
              <a:t>Automation</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dirty="0" smtClean="0"/>
              <a:t>DevOps </a:t>
            </a:r>
            <a:r>
              <a:rPr lang="en-US" dirty="0"/>
              <a:t>automation is the practice of </a:t>
            </a:r>
            <a:r>
              <a:rPr lang="en-US" dirty="0" smtClean="0"/>
              <a:t>automating</a:t>
            </a:r>
            <a:r>
              <a:rPr lang="en-US" dirty="0"/>
              <a:t> </a:t>
            </a:r>
            <a:r>
              <a:rPr lang="en-US" dirty="0" smtClean="0"/>
              <a:t>repetitive </a:t>
            </a:r>
            <a:r>
              <a:rPr lang="en-US" dirty="0"/>
              <a:t>and manual DevOps tasks to be carried out without any human interaction. Automation can be applied throughout the DevOps lifecycle, </a:t>
            </a:r>
            <a:r>
              <a:rPr lang="en-US" dirty="0" smtClean="0"/>
              <a:t>spanning:</a:t>
            </a:r>
          </a:p>
          <a:p>
            <a:pPr lvl="1">
              <a:lnSpc>
                <a:spcPct val="150000"/>
              </a:lnSpc>
            </a:pPr>
            <a:r>
              <a:rPr lang="en-US" dirty="0" smtClean="0"/>
              <a:t>Design </a:t>
            </a:r>
            <a:r>
              <a:rPr lang="en-US" dirty="0"/>
              <a:t>and </a:t>
            </a:r>
            <a:r>
              <a:rPr lang="en-US" dirty="0" smtClean="0"/>
              <a:t>development</a:t>
            </a:r>
          </a:p>
          <a:p>
            <a:pPr lvl="1">
              <a:lnSpc>
                <a:spcPct val="150000"/>
              </a:lnSpc>
            </a:pPr>
            <a:r>
              <a:rPr lang="en-US" dirty="0" smtClean="0"/>
              <a:t>Software </a:t>
            </a:r>
            <a:r>
              <a:rPr lang="en-US" dirty="0"/>
              <a:t>deployment and </a:t>
            </a:r>
            <a:r>
              <a:rPr lang="en-US" dirty="0" smtClean="0"/>
              <a:t>release</a:t>
            </a:r>
          </a:p>
          <a:p>
            <a:pPr lvl="1">
              <a:lnSpc>
                <a:spcPct val="150000"/>
              </a:lnSpc>
            </a:pPr>
            <a:r>
              <a:rPr lang="en-US" dirty="0" smtClean="0"/>
              <a:t>Monitoring</a:t>
            </a:r>
            <a:endParaRPr lang="en-US" dirty="0"/>
          </a:p>
          <a:p>
            <a:pPr>
              <a:lnSpc>
                <a:spcPct val="150000"/>
              </a:lnSpc>
              <a:buFont typeface="Wingdings" panose="05000000000000000000" pitchFamily="2" charset="2"/>
              <a:buChar char="Ø"/>
            </a:pPr>
            <a:endParaRPr lang="en-US"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a:t>
            </a:fld>
            <a:endParaRPr lang="en-US" dirty="0"/>
          </a:p>
        </p:txBody>
      </p:sp>
    </p:spTree>
    <p:extLst>
      <p:ext uri="{BB962C8B-B14F-4D97-AF65-F5344CB8AC3E}">
        <p14:creationId xmlns:p14="http://schemas.microsoft.com/office/powerpoint/2010/main" val="14365843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Automation Benefits  </a:t>
            </a:r>
            <a:endParaRPr lang="en-US" sz="4000" b="1" i="1" dirty="0"/>
          </a:p>
        </p:txBody>
      </p:sp>
      <p:sp>
        <p:nvSpPr>
          <p:cNvPr id="3" name="Content Placeholder 2"/>
          <p:cNvSpPr>
            <a:spLocks noGrp="1"/>
          </p:cNvSpPr>
          <p:nvPr>
            <p:ph idx="1"/>
          </p:nvPr>
        </p:nvSpPr>
        <p:spPr>
          <a:xfrm>
            <a:off x="574766" y="1425620"/>
            <a:ext cx="11025049" cy="5103282"/>
          </a:xfrm>
        </p:spPr>
        <p:txBody>
          <a:bodyPr>
            <a:normAutofit lnSpcReduction="10000"/>
          </a:bodyPr>
          <a:lstStyle/>
          <a:p>
            <a:pPr>
              <a:lnSpc>
                <a:spcPct val="150000"/>
              </a:lnSpc>
              <a:buFont typeface="Wingdings" panose="05000000000000000000" pitchFamily="2" charset="2"/>
              <a:buChar char="Ø"/>
            </a:pPr>
            <a:r>
              <a:rPr lang="en-US" dirty="0" smtClean="0"/>
              <a:t>Fosters speed</a:t>
            </a:r>
          </a:p>
          <a:p>
            <a:pPr>
              <a:lnSpc>
                <a:spcPct val="150000"/>
              </a:lnSpc>
              <a:buFont typeface="Wingdings" panose="05000000000000000000" pitchFamily="2" charset="2"/>
              <a:buChar char="Ø"/>
            </a:pPr>
            <a:r>
              <a:rPr lang="en-US" dirty="0" smtClean="0"/>
              <a:t>Greater accuracy</a:t>
            </a:r>
          </a:p>
          <a:p>
            <a:pPr>
              <a:lnSpc>
                <a:spcPct val="150000"/>
              </a:lnSpc>
              <a:buFont typeface="Wingdings" panose="05000000000000000000" pitchFamily="2" charset="2"/>
              <a:buChar char="Ø"/>
            </a:pPr>
            <a:r>
              <a:rPr lang="en-US" dirty="0" smtClean="0"/>
              <a:t>Consistency</a:t>
            </a:r>
          </a:p>
          <a:p>
            <a:pPr>
              <a:lnSpc>
                <a:spcPct val="150000"/>
              </a:lnSpc>
              <a:buFont typeface="Wingdings" panose="05000000000000000000" pitchFamily="2" charset="2"/>
              <a:buChar char="Ø"/>
            </a:pPr>
            <a:r>
              <a:rPr lang="en-US" dirty="0" smtClean="0"/>
              <a:t>Reliability</a:t>
            </a:r>
          </a:p>
          <a:p>
            <a:pPr>
              <a:lnSpc>
                <a:spcPct val="150000"/>
              </a:lnSpc>
              <a:buFont typeface="Wingdings" panose="05000000000000000000" pitchFamily="2" charset="2"/>
              <a:buChar char="Ø"/>
            </a:pPr>
            <a:r>
              <a:rPr lang="en-US" dirty="0" smtClean="0"/>
              <a:t>Increases the </a:t>
            </a:r>
            <a:r>
              <a:rPr lang="en-US" dirty="0"/>
              <a:t>number of </a:t>
            </a:r>
            <a:r>
              <a:rPr lang="en-US" dirty="0" smtClean="0"/>
              <a:t>deliveries</a:t>
            </a:r>
          </a:p>
          <a:p>
            <a:pPr>
              <a:lnSpc>
                <a:spcPct val="150000"/>
              </a:lnSpc>
              <a:buFont typeface="Wingdings" panose="05000000000000000000" pitchFamily="2" charset="2"/>
              <a:buChar char="Ø"/>
            </a:pPr>
            <a:r>
              <a:rPr lang="en-US" dirty="0" smtClean="0"/>
              <a:t>Ultimately</a:t>
            </a:r>
            <a:r>
              <a:rPr lang="en-US" dirty="0"/>
              <a:t>, automation in DevOps encapsulates everything right from building, deploying and monitoring.</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a:t>
            </a:fld>
            <a:endParaRPr lang="en-US" dirty="0"/>
          </a:p>
        </p:txBody>
      </p:sp>
    </p:spTree>
    <p:extLst>
      <p:ext uri="{BB962C8B-B14F-4D97-AF65-F5344CB8AC3E}">
        <p14:creationId xmlns:p14="http://schemas.microsoft.com/office/powerpoint/2010/main" val="21082719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a:t>
            </a:r>
            <a:r>
              <a:rPr lang="en-US" sz="4000" b="1" i="1" dirty="0"/>
              <a:t>Automation Tools </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dirty="0" smtClean="0"/>
              <a:t>DevOps </a:t>
            </a:r>
            <a:r>
              <a:rPr lang="en-US" dirty="0"/>
              <a:t>team that maintain extensive massive IT infrastructure can be classified into six </a:t>
            </a:r>
            <a:r>
              <a:rPr lang="en-US" dirty="0" smtClean="0"/>
              <a:t>categories.</a:t>
            </a:r>
          </a:p>
          <a:p>
            <a:pPr marL="971550" lvl="1" indent="-514350">
              <a:lnSpc>
                <a:spcPct val="150000"/>
              </a:lnSpc>
              <a:buFont typeface="+mj-lt"/>
              <a:buAutoNum type="arabicPeriod"/>
            </a:pPr>
            <a:r>
              <a:rPr lang="fr-FR" dirty="0"/>
              <a:t>Infrastructure </a:t>
            </a:r>
            <a:r>
              <a:rPr lang="fr-FR" dirty="0" smtClean="0"/>
              <a:t>Automation</a:t>
            </a:r>
          </a:p>
          <a:p>
            <a:pPr marL="971550" lvl="1" indent="-514350">
              <a:lnSpc>
                <a:spcPct val="150000"/>
              </a:lnSpc>
              <a:buFont typeface="+mj-lt"/>
              <a:buAutoNum type="arabicPeriod"/>
            </a:pPr>
            <a:r>
              <a:rPr lang="fr-FR" sz="2400" dirty="0" smtClean="0"/>
              <a:t>Configuration Management</a:t>
            </a:r>
          </a:p>
          <a:p>
            <a:pPr marL="971550" lvl="1" indent="-514350">
              <a:lnSpc>
                <a:spcPct val="150000"/>
              </a:lnSpc>
              <a:buFont typeface="+mj-lt"/>
              <a:buAutoNum type="arabicPeriod"/>
            </a:pPr>
            <a:r>
              <a:rPr lang="fr-FR" dirty="0" err="1" smtClean="0"/>
              <a:t>Deployment</a:t>
            </a:r>
            <a:r>
              <a:rPr lang="fr-FR" dirty="0" smtClean="0"/>
              <a:t> Automation</a:t>
            </a:r>
            <a:endParaRPr lang="fr-FR" sz="2400" dirty="0" smtClean="0"/>
          </a:p>
          <a:p>
            <a:pPr marL="971550" lvl="1" indent="-514350">
              <a:lnSpc>
                <a:spcPct val="150000"/>
              </a:lnSpc>
              <a:buFont typeface="+mj-lt"/>
              <a:buAutoNum type="arabicPeriod"/>
            </a:pPr>
            <a:r>
              <a:rPr lang="fr-FR" sz="2400" dirty="0" smtClean="0"/>
              <a:t>Performance Management</a:t>
            </a:r>
          </a:p>
          <a:p>
            <a:pPr marL="971550" lvl="1" indent="-514350">
              <a:lnSpc>
                <a:spcPct val="150000"/>
              </a:lnSpc>
              <a:buFont typeface="+mj-lt"/>
              <a:buAutoNum type="arabicPeriod"/>
            </a:pPr>
            <a:r>
              <a:rPr lang="fr-FR" sz="2400" dirty="0" smtClean="0"/>
              <a:t>Log management</a:t>
            </a:r>
          </a:p>
          <a:p>
            <a:pPr marL="971550" lvl="1" indent="-514350">
              <a:lnSpc>
                <a:spcPct val="150000"/>
              </a:lnSpc>
              <a:buFont typeface="+mj-lt"/>
              <a:buAutoNum type="arabicPeriod"/>
            </a:pPr>
            <a:r>
              <a:rPr lang="fr-FR" sz="2400" dirty="0" smtClean="0"/>
              <a:t>Monitoring</a:t>
            </a:r>
            <a:endParaRPr lang="fr-FR"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a:t>
            </a:fld>
            <a:endParaRPr lang="en-US" dirty="0"/>
          </a:p>
        </p:txBody>
      </p:sp>
    </p:spTree>
    <p:extLst>
      <p:ext uri="{BB962C8B-B14F-4D97-AF65-F5344CB8AC3E}">
        <p14:creationId xmlns:p14="http://schemas.microsoft.com/office/powerpoint/2010/main" val="32314907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Automation </a:t>
            </a:r>
            <a:r>
              <a:rPr lang="en-US" sz="4000" b="1" i="1" dirty="0"/>
              <a:t>Tools </a:t>
            </a:r>
          </a:p>
        </p:txBody>
      </p:sp>
      <p:sp>
        <p:nvSpPr>
          <p:cNvPr id="3" name="Content Placeholder 2"/>
          <p:cNvSpPr>
            <a:spLocks noGrp="1"/>
          </p:cNvSpPr>
          <p:nvPr>
            <p:ph idx="1"/>
          </p:nvPr>
        </p:nvSpPr>
        <p:spPr>
          <a:xfrm>
            <a:off x="574766" y="1268863"/>
            <a:ext cx="11025049" cy="5311651"/>
          </a:xfrm>
        </p:spPr>
        <p:txBody>
          <a:bodyPr>
            <a:normAutofit/>
          </a:bodyPr>
          <a:lstStyle/>
          <a:p>
            <a:r>
              <a:rPr lang="en-US" sz="2400" dirty="0" smtClean="0"/>
              <a:t>Some </a:t>
            </a:r>
            <a:r>
              <a:rPr lang="en-US" sz="2400" dirty="0"/>
              <a:t>most popular </a:t>
            </a:r>
            <a:r>
              <a:rPr lang="en-US" sz="2400" dirty="0" smtClean="0"/>
              <a:t>DevOps </a:t>
            </a:r>
            <a:r>
              <a:rPr lang="en-US" sz="2400" dirty="0"/>
              <a:t>tools</a:t>
            </a:r>
            <a:endParaRPr lang="en-US" sz="18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8148" y="1712427"/>
            <a:ext cx="6139542" cy="5116285"/>
          </a:xfrm>
          <a:prstGeom prst="rect">
            <a:avLst/>
          </a:prstGeom>
        </p:spPr>
      </p:pic>
    </p:spTree>
    <p:extLst>
      <p:ext uri="{BB962C8B-B14F-4D97-AF65-F5344CB8AC3E}">
        <p14:creationId xmlns:p14="http://schemas.microsoft.com/office/powerpoint/2010/main" val="14642982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a:t>
            </a:r>
            <a:r>
              <a:rPr lang="en-US" sz="4000" b="1" i="1" dirty="0"/>
              <a:t>Automation </a:t>
            </a:r>
            <a:r>
              <a:rPr lang="en-US" sz="4000" b="1" i="1" dirty="0" smtClean="0"/>
              <a:t>Tools (Cont.) </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000" dirty="0" smtClean="0"/>
              <a:t>DevOps Tools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7</a:t>
            </a:fld>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9219"/>
          <a:stretch/>
        </p:blipFill>
        <p:spPr>
          <a:xfrm>
            <a:off x="2871612" y="1211996"/>
            <a:ext cx="7356604" cy="5342712"/>
          </a:xfrm>
          <a:prstGeom prst="rect">
            <a:avLst/>
          </a:prstGeom>
          <a:ln>
            <a:solidFill>
              <a:schemeClr val="bg1"/>
            </a:solidFill>
          </a:ln>
        </p:spPr>
      </p:pic>
    </p:spTree>
    <p:extLst>
      <p:ext uri="{BB962C8B-B14F-4D97-AF65-F5344CB8AC3E}">
        <p14:creationId xmlns:p14="http://schemas.microsoft.com/office/powerpoint/2010/main" val="16125320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a:t>
            </a:r>
            <a:r>
              <a:rPr lang="en-US" sz="4000" b="1" i="1" dirty="0"/>
              <a:t>Automation </a:t>
            </a:r>
            <a:r>
              <a:rPr lang="en-US" sz="4000" b="1" i="1" smtClean="0"/>
              <a:t>Tools </a:t>
            </a:r>
            <a:r>
              <a:rPr lang="en-US" sz="4000" b="1" i="1" smtClean="0"/>
              <a:t>Architecture  </a:t>
            </a:r>
            <a:r>
              <a:rPr lang="en-US" sz="4000" b="1" i="1" dirty="0" smtClean="0"/>
              <a:t>(Cont</a:t>
            </a:r>
            <a:r>
              <a:rPr lang="en-US" sz="4000" b="1" i="1" dirty="0" smtClean="0"/>
              <a:t>.) </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000" dirty="0" smtClean="0"/>
              <a:t>DevOps Tools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8</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0293" y="1873535"/>
            <a:ext cx="8417923" cy="4655367"/>
          </a:xfrm>
          <a:prstGeom prst="rect">
            <a:avLst/>
          </a:prstGeom>
        </p:spPr>
      </p:pic>
    </p:spTree>
    <p:extLst>
      <p:ext uri="{BB962C8B-B14F-4D97-AF65-F5344CB8AC3E}">
        <p14:creationId xmlns:p14="http://schemas.microsoft.com/office/powerpoint/2010/main" val="14835497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Infrastructure Automation </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smtClean="0"/>
              <a:t>Amazon </a:t>
            </a:r>
            <a:r>
              <a:rPr lang="en-US" b="1" dirty="0"/>
              <a:t>Web Services (AWS):</a:t>
            </a:r>
            <a:r>
              <a:rPr lang="en-US" dirty="0"/>
              <a:t> Being a cloud service, you don't need to be physically present in the data center, they are easy to scale on-demand, and there are no up-front hardware costs. It can be configured to provide more servers based on traffic automatically.</a:t>
            </a:r>
          </a:p>
          <a:p>
            <a:pPr marL="971550" lvl="1" indent="-514350">
              <a:lnSpc>
                <a:spcPct val="150000"/>
              </a:lnSpc>
              <a:buFont typeface="+mj-lt"/>
              <a:buAutoNum type="arabicPeriod"/>
            </a:pPr>
            <a:endParaRPr lang="fr-FR"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9</a:t>
            </a:fld>
            <a:endParaRPr lang="en-US" dirty="0"/>
          </a:p>
        </p:txBody>
      </p:sp>
    </p:spTree>
    <p:extLst>
      <p:ext uri="{BB962C8B-B14F-4D97-AF65-F5344CB8AC3E}">
        <p14:creationId xmlns:p14="http://schemas.microsoft.com/office/powerpoint/2010/main" val="20886077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Configuration </a:t>
            </a:r>
            <a:r>
              <a:rPr lang="en-US" sz="4000" b="1" i="1" dirty="0"/>
              <a:t>Management</a:t>
            </a:r>
          </a:p>
        </p:txBody>
      </p:sp>
      <p:sp>
        <p:nvSpPr>
          <p:cNvPr id="3" name="Content Placeholder 2"/>
          <p:cNvSpPr>
            <a:spLocks noGrp="1"/>
          </p:cNvSpPr>
          <p:nvPr>
            <p:ph idx="1"/>
          </p:nvPr>
        </p:nvSpPr>
        <p:spPr>
          <a:xfrm>
            <a:off x="574766" y="1425620"/>
            <a:ext cx="11025049" cy="5103282"/>
          </a:xfrm>
        </p:spPr>
        <p:txBody>
          <a:bodyPr>
            <a:normAutofit lnSpcReduction="10000"/>
          </a:bodyPr>
          <a:lstStyle/>
          <a:p>
            <a:pPr>
              <a:lnSpc>
                <a:spcPct val="150000"/>
              </a:lnSpc>
              <a:buFont typeface="Wingdings" panose="05000000000000000000" pitchFamily="2" charset="2"/>
              <a:buChar char="Ø"/>
            </a:pPr>
            <a:r>
              <a:rPr lang="en-US" b="1" dirty="0" smtClean="0"/>
              <a:t>Chef:</a:t>
            </a:r>
            <a:endParaRPr lang="en-US" dirty="0"/>
          </a:p>
          <a:p>
            <a:pPr lvl="1">
              <a:lnSpc>
                <a:spcPct val="150000"/>
              </a:lnSpc>
            </a:pPr>
            <a:r>
              <a:rPr lang="en-US" dirty="0"/>
              <a:t>It is a handy DevOps tool for achieving speed, scale, and consistency.</a:t>
            </a:r>
          </a:p>
          <a:p>
            <a:pPr lvl="1">
              <a:lnSpc>
                <a:spcPct val="150000"/>
              </a:lnSpc>
            </a:pPr>
            <a:r>
              <a:rPr lang="en-US" dirty="0"/>
              <a:t>It can be used to ease out of complex tasks and perform configuration management.</a:t>
            </a:r>
          </a:p>
          <a:p>
            <a:pPr lvl="1">
              <a:lnSpc>
                <a:spcPct val="150000"/>
              </a:lnSpc>
            </a:pPr>
            <a:r>
              <a:rPr lang="en-US" dirty="0"/>
              <a:t>The chef is used in infrastructure automation and helps in reducing manual and repetitive tasks for infrastructure management.</a:t>
            </a:r>
          </a:p>
          <a:p>
            <a:pPr lvl="1">
              <a:lnSpc>
                <a:spcPct val="150000"/>
              </a:lnSpc>
            </a:pPr>
            <a:r>
              <a:rPr lang="en-US" dirty="0"/>
              <a:t>With the help of chef, the DevOps team can avoid making changes across ten thousand servers. Rather, they need to make changes in one place, which is automatically reflected in other servers.</a:t>
            </a:r>
          </a:p>
          <a:p>
            <a:pPr marL="971550" lvl="1" indent="-514350">
              <a:lnSpc>
                <a:spcPct val="150000"/>
              </a:lnSpc>
              <a:buFont typeface="+mj-lt"/>
              <a:buAutoNum type="arabicPeriod"/>
            </a:pPr>
            <a:endParaRPr lang="fr-FR"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10</a:t>
            </a:fld>
            <a:endParaRPr lang="en-US" dirty="0"/>
          </a:p>
        </p:txBody>
      </p:sp>
    </p:spTree>
    <p:extLst>
      <p:ext uri="{BB962C8B-B14F-4D97-AF65-F5344CB8AC3E}">
        <p14:creationId xmlns:p14="http://schemas.microsoft.com/office/powerpoint/2010/main" val="7349582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Configuration Management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smtClean="0"/>
              <a:t>Puppet:</a:t>
            </a:r>
            <a:endParaRPr lang="en-US" b="1" dirty="0"/>
          </a:p>
          <a:p>
            <a:pPr lvl="1">
              <a:lnSpc>
                <a:spcPct val="150000"/>
              </a:lnSpc>
            </a:pPr>
            <a:r>
              <a:rPr lang="en-US" dirty="0" smtClean="0"/>
              <a:t>Puppet </a:t>
            </a:r>
            <a:r>
              <a:rPr lang="en-US" dirty="0"/>
              <a:t>is the most widely used DevOps </a:t>
            </a:r>
            <a:r>
              <a:rPr lang="en-US" dirty="0" smtClean="0"/>
              <a:t>tool.</a:t>
            </a:r>
          </a:p>
          <a:p>
            <a:pPr lvl="1">
              <a:lnSpc>
                <a:spcPct val="150000"/>
              </a:lnSpc>
            </a:pPr>
            <a:r>
              <a:rPr lang="en-US" dirty="0" smtClean="0"/>
              <a:t>It </a:t>
            </a:r>
            <a:r>
              <a:rPr lang="en-US" dirty="0"/>
              <a:t>allows the delivery and release of the technology changes quickly and </a:t>
            </a:r>
            <a:r>
              <a:rPr lang="en-US" dirty="0" smtClean="0"/>
              <a:t>frequently.</a:t>
            </a:r>
          </a:p>
          <a:p>
            <a:pPr lvl="1">
              <a:lnSpc>
                <a:spcPct val="150000"/>
              </a:lnSpc>
            </a:pPr>
            <a:r>
              <a:rPr lang="en-US" dirty="0" smtClean="0"/>
              <a:t>It </a:t>
            </a:r>
            <a:r>
              <a:rPr lang="en-US" dirty="0"/>
              <a:t>has features of versioning, automated testing, and continuous </a:t>
            </a:r>
            <a:r>
              <a:rPr lang="en-US" dirty="0" smtClean="0"/>
              <a:t>delivery.</a:t>
            </a:r>
          </a:p>
          <a:p>
            <a:pPr lvl="1">
              <a:lnSpc>
                <a:spcPct val="150000"/>
              </a:lnSpc>
            </a:pPr>
            <a:r>
              <a:rPr lang="en-US" dirty="0" smtClean="0"/>
              <a:t>It </a:t>
            </a:r>
            <a:r>
              <a:rPr lang="en-US" dirty="0"/>
              <a:t>enables to manage entire infrastructure as code without expanding the size of the team.</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11</a:t>
            </a:fld>
            <a:endParaRPr lang="en-US" dirty="0"/>
          </a:p>
        </p:txBody>
      </p:sp>
    </p:spTree>
    <p:extLst>
      <p:ext uri="{BB962C8B-B14F-4D97-AF65-F5344CB8AC3E}">
        <p14:creationId xmlns:p14="http://schemas.microsoft.com/office/powerpoint/2010/main" val="33986071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Configuration Management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fontScale="85000" lnSpcReduction="10000"/>
          </a:bodyPr>
          <a:lstStyle/>
          <a:p>
            <a:pPr>
              <a:lnSpc>
                <a:spcPct val="150000"/>
              </a:lnSpc>
              <a:buFont typeface="Wingdings" panose="05000000000000000000" pitchFamily="2" charset="2"/>
              <a:buChar char="Ø"/>
            </a:pPr>
            <a:r>
              <a:rPr lang="en-US" b="1" dirty="0" smtClean="0"/>
              <a:t>Ansible</a:t>
            </a:r>
            <a:r>
              <a:rPr lang="en-US" b="1" dirty="0"/>
              <a:t>:</a:t>
            </a:r>
          </a:p>
          <a:p>
            <a:pPr lvl="1">
              <a:lnSpc>
                <a:spcPct val="150000"/>
              </a:lnSpc>
            </a:pPr>
            <a:r>
              <a:rPr lang="en-US" dirty="0" smtClean="0"/>
              <a:t>Ansible </a:t>
            </a:r>
            <a:r>
              <a:rPr lang="en-US" dirty="0"/>
              <a:t>is an open-source IT engine that automates application deployment, cloud provisioning, intra service orchestration, and other IT </a:t>
            </a:r>
            <a:r>
              <a:rPr lang="en-US" dirty="0" smtClean="0"/>
              <a:t>tools.</a:t>
            </a:r>
          </a:p>
          <a:p>
            <a:pPr lvl="1">
              <a:lnSpc>
                <a:spcPct val="150000"/>
              </a:lnSpc>
            </a:pPr>
            <a:r>
              <a:rPr lang="en-US" dirty="0"/>
              <a:t>It can be used to ease out of complex tasks and perform configuration management</a:t>
            </a:r>
            <a:r>
              <a:rPr lang="en-US" dirty="0" smtClean="0"/>
              <a:t>.</a:t>
            </a:r>
          </a:p>
          <a:p>
            <a:pPr lvl="1">
              <a:lnSpc>
                <a:spcPct val="150000"/>
              </a:lnSpc>
            </a:pPr>
            <a:r>
              <a:rPr lang="en-US" dirty="0" smtClean="0"/>
              <a:t>Ansible </a:t>
            </a:r>
            <a:r>
              <a:rPr lang="en-US" dirty="0"/>
              <a:t>is easy to deploy because it does not use any </a:t>
            </a:r>
            <a:r>
              <a:rPr lang="en-US" b="1" dirty="0"/>
              <a:t>agents</a:t>
            </a:r>
            <a:r>
              <a:rPr lang="en-US" dirty="0"/>
              <a:t> or </a:t>
            </a:r>
            <a:r>
              <a:rPr lang="en-US" b="1" dirty="0"/>
              <a:t>custom security</a:t>
            </a:r>
            <a:r>
              <a:rPr lang="en-US" dirty="0"/>
              <a:t> infrastructure on the client-side, and by pushing modules to the clients. These modules are executed locally on the client-side, and the output is pushed back to the Ansible server</a:t>
            </a:r>
            <a:r>
              <a:rPr lang="en-US" dirty="0" smtClean="0"/>
              <a:t>.</a:t>
            </a:r>
          </a:p>
          <a:p>
            <a:pPr lvl="1">
              <a:lnSpc>
                <a:spcPct val="150000"/>
              </a:lnSpc>
            </a:pPr>
            <a:r>
              <a:rPr lang="en-US" dirty="0"/>
              <a:t>Ansible uses the playbook to describe automation jobs, and playbook, which uses simple language, i.e., </a:t>
            </a:r>
            <a:r>
              <a:rPr lang="en-US" b="1" dirty="0"/>
              <a:t>YAML</a:t>
            </a:r>
            <a:r>
              <a:rPr lang="en-US" dirty="0"/>
              <a:t>. YAML is a human-readable data serialization language &amp; commonly used for configuration files, but it can be used in many applications where data is being stored.</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12</a:t>
            </a:fld>
            <a:endParaRPr lang="en-US" dirty="0"/>
          </a:p>
        </p:txBody>
      </p:sp>
    </p:spTree>
    <p:extLst>
      <p:ext uri="{BB962C8B-B14F-4D97-AF65-F5344CB8AC3E}">
        <p14:creationId xmlns:p14="http://schemas.microsoft.com/office/powerpoint/2010/main" val="5559865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Configuration Management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err="1" smtClean="0"/>
              <a:t>Saltstack</a:t>
            </a:r>
            <a:r>
              <a:rPr lang="en-US" b="1" dirty="0" smtClean="0"/>
              <a:t>:</a:t>
            </a:r>
            <a:endParaRPr lang="en-US" b="1" dirty="0"/>
          </a:p>
          <a:p>
            <a:pPr lvl="1">
              <a:lnSpc>
                <a:spcPct val="150000"/>
              </a:lnSpc>
            </a:pPr>
            <a:r>
              <a:rPr lang="en-US" smtClean="0"/>
              <a:t>Ansible is an open-source IT engine that automates application deployment, cloud provisioning, intra service orchestration, and other IT tools.</a:t>
            </a:r>
          </a:p>
          <a:p>
            <a:pPr lvl="1">
              <a:lnSpc>
                <a:spcPct val="150000"/>
              </a:lnSpc>
            </a:pPr>
            <a:r>
              <a:rPr lang="en-US" smtClean="0"/>
              <a:t>Stackify </a:t>
            </a:r>
            <a:r>
              <a:rPr lang="en-US" dirty="0"/>
              <a:t>is a lightweight DevOps tool. It shows real-time error queries, logs, and more directly into the workstation. SALTSTACK is an ideal solution for intelligent orchestration for the software-defined data center.</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13</a:t>
            </a:fld>
            <a:endParaRPr lang="en-US" dirty="0"/>
          </a:p>
        </p:txBody>
      </p:sp>
    </p:spTree>
    <p:extLst>
      <p:ext uri="{BB962C8B-B14F-4D97-AF65-F5344CB8AC3E}">
        <p14:creationId xmlns:p14="http://schemas.microsoft.com/office/powerpoint/2010/main" val="10645723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Deployment Automation</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smtClean="0"/>
              <a:t>Jenkins</a:t>
            </a:r>
          </a:p>
          <a:p>
            <a:pPr lvl="1">
              <a:lnSpc>
                <a:spcPct val="150000"/>
              </a:lnSpc>
            </a:pPr>
            <a:r>
              <a:rPr lang="en-US" dirty="0" smtClean="0"/>
              <a:t>It </a:t>
            </a:r>
            <a:r>
              <a:rPr lang="en-US" dirty="0"/>
              <a:t>facilitates continuous integration and </a:t>
            </a:r>
            <a:r>
              <a:rPr lang="en-US" dirty="0" smtClean="0"/>
              <a:t>testing.</a:t>
            </a:r>
          </a:p>
          <a:p>
            <a:pPr lvl="1">
              <a:lnSpc>
                <a:spcPct val="150000"/>
              </a:lnSpc>
            </a:pPr>
            <a:r>
              <a:rPr lang="en-US" dirty="0" smtClean="0"/>
              <a:t>It </a:t>
            </a:r>
            <a:r>
              <a:rPr lang="en-US" dirty="0"/>
              <a:t>helps to integrate project changes more efficiently by quickly finding issues as soon as built is deployed.</a:t>
            </a:r>
          </a:p>
          <a:p>
            <a:pPr marL="971550" lvl="1" indent="-514350">
              <a:lnSpc>
                <a:spcPct val="150000"/>
              </a:lnSpc>
              <a:buFont typeface="+mj-lt"/>
              <a:buAutoNum type="arabicPeriod"/>
            </a:pPr>
            <a:endParaRPr lang="fr-FR"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14</a:t>
            </a:fld>
            <a:endParaRPr lang="en-US" dirty="0"/>
          </a:p>
        </p:txBody>
      </p:sp>
    </p:spTree>
    <p:extLst>
      <p:ext uri="{BB962C8B-B14F-4D97-AF65-F5344CB8AC3E}">
        <p14:creationId xmlns:p14="http://schemas.microsoft.com/office/powerpoint/2010/main" val="25938084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Performance </a:t>
            </a:r>
            <a:r>
              <a:rPr lang="en-US" sz="4000" b="1" i="1" dirty="0"/>
              <a:t>Management</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smtClean="0"/>
              <a:t>App Dynamic</a:t>
            </a:r>
          </a:p>
          <a:p>
            <a:pPr lvl="1">
              <a:lnSpc>
                <a:spcPct val="150000"/>
              </a:lnSpc>
            </a:pPr>
            <a:r>
              <a:rPr lang="en-US" dirty="0" smtClean="0"/>
              <a:t>It </a:t>
            </a:r>
            <a:r>
              <a:rPr lang="en-US" dirty="0"/>
              <a:t>offers real-time performance </a:t>
            </a:r>
            <a:r>
              <a:rPr lang="en-US" dirty="0" smtClean="0"/>
              <a:t>monitoring.</a:t>
            </a:r>
          </a:p>
          <a:p>
            <a:pPr lvl="1">
              <a:lnSpc>
                <a:spcPct val="150000"/>
              </a:lnSpc>
            </a:pPr>
            <a:r>
              <a:rPr lang="en-US" dirty="0" smtClean="0"/>
              <a:t>The </a:t>
            </a:r>
            <a:r>
              <a:rPr lang="en-US" dirty="0"/>
              <a:t>data collected by this tool help developers to debug when issues occur.</a:t>
            </a:r>
          </a:p>
          <a:p>
            <a:pPr marL="971550" lvl="1" indent="-514350">
              <a:lnSpc>
                <a:spcPct val="150000"/>
              </a:lnSpc>
              <a:buFont typeface="+mj-lt"/>
              <a:buAutoNum type="arabicPeriod"/>
            </a:pPr>
            <a:endParaRPr lang="fr-FR"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15</a:t>
            </a:fld>
            <a:endParaRPr lang="en-US" dirty="0"/>
          </a:p>
        </p:txBody>
      </p:sp>
    </p:spTree>
    <p:extLst>
      <p:ext uri="{BB962C8B-B14F-4D97-AF65-F5344CB8AC3E}">
        <p14:creationId xmlns:p14="http://schemas.microsoft.com/office/powerpoint/2010/main" val="27003222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Log </a:t>
            </a:r>
            <a:r>
              <a:rPr lang="en-US" sz="4000" b="1" i="1" dirty="0"/>
              <a:t>Management</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err="1" smtClean="0"/>
              <a:t>Splunk</a:t>
            </a:r>
            <a:endParaRPr lang="en-US" b="1" dirty="0" smtClean="0"/>
          </a:p>
          <a:p>
            <a:pPr lvl="1">
              <a:lnSpc>
                <a:spcPct val="150000"/>
              </a:lnSpc>
            </a:pPr>
            <a:r>
              <a:rPr lang="en-US" dirty="0" smtClean="0"/>
              <a:t>This </a:t>
            </a:r>
            <a:r>
              <a:rPr lang="en-US" dirty="0"/>
              <a:t>DevOps tool solves issues such as storing, aggregating, and analyzing all logs in one place.</a:t>
            </a:r>
          </a:p>
          <a:p>
            <a:pPr marL="971550" lvl="1" indent="-514350">
              <a:lnSpc>
                <a:spcPct val="150000"/>
              </a:lnSpc>
              <a:buFont typeface="+mj-lt"/>
              <a:buAutoNum type="arabicPeriod"/>
            </a:pPr>
            <a:endParaRPr lang="fr-FR"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16</a:t>
            </a:fld>
            <a:endParaRPr lang="en-US" dirty="0"/>
          </a:p>
        </p:txBody>
      </p:sp>
    </p:spTree>
    <p:extLst>
      <p:ext uri="{BB962C8B-B14F-4D97-AF65-F5344CB8AC3E}">
        <p14:creationId xmlns:p14="http://schemas.microsoft.com/office/powerpoint/2010/main" val="11792068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Monitoring</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800" b="1" dirty="0" smtClean="0"/>
              <a:t>Nagios</a:t>
            </a:r>
          </a:p>
          <a:p>
            <a:pPr lvl="1">
              <a:lnSpc>
                <a:spcPct val="150000"/>
              </a:lnSpc>
            </a:pPr>
            <a:r>
              <a:rPr lang="en-US" dirty="0" smtClean="0"/>
              <a:t>It </a:t>
            </a:r>
            <a:r>
              <a:rPr lang="en-US" dirty="0"/>
              <a:t>notified people when infrastructure and related service go down. Nagios is a tool for this purpose, which helps the DevOps team to find and correct problems.</a:t>
            </a:r>
            <a:endParaRPr lang="fr-FR"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17</a:t>
            </a:fld>
            <a:endParaRPr lang="en-US" dirty="0"/>
          </a:p>
        </p:txBody>
      </p:sp>
    </p:spTree>
    <p:extLst>
      <p:ext uri="{BB962C8B-B14F-4D97-AF65-F5344CB8AC3E}">
        <p14:creationId xmlns:p14="http://schemas.microsoft.com/office/powerpoint/2010/main" val="5741573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Code </a:t>
            </a:r>
            <a:r>
              <a:rPr lang="en-US" sz="4000" b="1" i="1" dirty="0"/>
              <a:t>V</a:t>
            </a:r>
            <a:r>
              <a:rPr lang="en-US" sz="4000" b="1" i="1" dirty="0" smtClean="0"/>
              <a:t>ersion Control</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smtClean="0"/>
              <a:t>Git</a:t>
            </a:r>
            <a:endParaRPr lang="en-US" b="1" dirty="0"/>
          </a:p>
          <a:p>
            <a:pPr lvl="1"/>
            <a:r>
              <a:rPr lang="en-US" dirty="0"/>
              <a:t>it is an open-source distributed version control </a:t>
            </a:r>
            <a:r>
              <a:rPr lang="en-US" dirty="0" smtClean="0"/>
              <a:t>system DevOps tool</a:t>
            </a:r>
            <a:endParaRPr lang="en-US" dirty="0"/>
          </a:p>
          <a:p>
            <a:pPr lvl="1">
              <a:lnSpc>
                <a:spcPct val="150000"/>
              </a:lnSpc>
            </a:pPr>
            <a:endParaRPr lang="fr-FR"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18</a:t>
            </a:fld>
            <a:endParaRPr lang="en-US" dirty="0"/>
          </a:p>
        </p:txBody>
      </p:sp>
    </p:spTree>
    <p:extLst>
      <p:ext uri="{BB962C8B-B14F-4D97-AF65-F5344CB8AC3E}">
        <p14:creationId xmlns:p14="http://schemas.microsoft.com/office/powerpoint/2010/main" val="38217697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Testing Suite</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smtClean="0"/>
              <a:t>Selenium</a:t>
            </a:r>
            <a:endParaRPr lang="en-US" b="1" dirty="0"/>
          </a:p>
          <a:p>
            <a:pPr lvl="1">
              <a:lnSpc>
                <a:spcPct val="150000"/>
              </a:lnSpc>
            </a:pPr>
            <a:r>
              <a:rPr lang="en-US" dirty="0" smtClean="0"/>
              <a:t>It is </a:t>
            </a:r>
            <a:r>
              <a:rPr lang="en-US" dirty="0"/>
              <a:t>one of the most widely used open source Web UI (User Interface) automation testing suite</a:t>
            </a:r>
            <a:r>
              <a:rPr lang="en-US" dirty="0" smtClean="0"/>
              <a:t>.</a:t>
            </a:r>
          </a:p>
          <a:p>
            <a:pPr>
              <a:lnSpc>
                <a:spcPct val="150000"/>
              </a:lnSpc>
              <a:buFont typeface="Wingdings" panose="05000000000000000000" pitchFamily="2" charset="2"/>
              <a:buChar char="Ø"/>
            </a:pPr>
            <a:r>
              <a:rPr lang="en-US" b="1" dirty="0" smtClean="0"/>
              <a:t>JIRA</a:t>
            </a:r>
          </a:p>
          <a:p>
            <a:pPr lvl="1">
              <a:lnSpc>
                <a:spcPct val="150000"/>
              </a:lnSpc>
            </a:pPr>
            <a:r>
              <a:rPr lang="en-US" dirty="0"/>
              <a:t>It is a software testing tool developed by the Australian Company </a:t>
            </a:r>
            <a:r>
              <a:rPr lang="en-US" dirty="0" err="1"/>
              <a:t>Atlassian</a:t>
            </a:r>
            <a:r>
              <a:rPr lang="en-US" dirty="0"/>
              <a:t>. It is a bug tracking tool that reports all the issues related to your software or mobile apps. </a:t>
            </a:r>
          </a:p>
          <a:p>
            <a:pPr lvl="1"/>
            <a:endParaRPr lang="en-US" dirty="0"/>
          </a:p>
          <a:p>
            <a:pPr lvl="1">
              <a:lnSpc>
                <a:spcPct val="150000"/>
              </a:lnSpc>
            </a:pPr>
            <a:endParaRPr lang="fr-FR"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19</a:t>
            </a:fld>
            <a:endParaRPr lang="en-US" dirty="0"/>
          </a:p>
        </p:txBody>
      </p:sp>
    </p:spTree>
    <p:extLst>
      <p:ext uri="{BB962C8B-B14F-4D97-AF65-F5344CB8AC3E}">
        <p14:creationId xmlns:p14="http://schemas.microsoft.com/office/powerpoint/2010/main" val="3698491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Code build</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smtClean="0"/>
              <a:t>Maven</a:t>
            </a:r>
            <a:endParaRPr lang="en-US" dirty="0"/>
          </a:p>
          <a:p>
            <a:pPr lvl="1">
              <a:lnSpc>
                <a:spcPct val="150000"/>
              </a:lnSpc>
            </a:pPr>
            <a:r>
              <a:rPr lang="en-US" dirty="0"/>
              <a:t>It is a powerful project management tool that is based on POM (project object model). It is used for projects build, dependency and </a:t>
            </a:r>
            <a:r>
              <a:rPr lang="en-US" dirty="0" smtClean="0"/>
              <a:t>documentation.</a:t>
            </a:r>
          </a:p>
          <a:p>
            <a:pPr lvl="1">
              <a:lnSpc>
                <a:spcPct val="150000"/>
              </a:lnSpc>
            </a:pPr>
            <a:r>
              <a:rPr lang="en-US" sz="2400" dirty="0" smtClean="0"/>
              <a:t>It </a:t>
            </a:r>
            <a:r>
              <a:rPr lang="en-US" sz="2400" dirty="0"/>
              <a:t>simplifies the build process like ANT. But it is too much advanced than ANT.</a:t>
            </a:r>
          </a:p>
          <a:p>
            <a:pPr lvl="1">
              <a:lnSpc>
                <a:spcPct val="150000"/>
              </a:lnSpc>
            </a:pPr>
            <a:endParaRPr lang="en-US" dirty="0"/>
          </a:p>
          <a:p>
            <a:pPr lvl="1"/>
            <a:endParaRPr lang="en-US" dirty="0"/>
          </a:p>
          <a:p>
            <a:pPr lvl="1">
              <a:lnSpc>
                <a:spcPct val="150000"/>
              </a:lnSpc>
            </a:pPr>
            <a:endParaRPr lang="fr-FR"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20</a:t>
            </a:fld>
            <a:endParaRPr lang="en-US" dirty="0"/>
          </a:p>
        </p:txBody>
      </p:sp>
    </p:spTree>
    <p:extLst>
      <p:ext uri="{BB962C8B-B14F-4D97-AF65-F5344CB8AC3E}">
        <p14:creationId xmlns:p14="http://schemas.microsoft.com/office/powerpoint/2010/main" val="7990980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DevOps Collaboration</a:t>
            </a:r>
          </a:p>
        </p:txBody>
      </p:sp>
      <p:sp>
        <p:nvSpPr>
          <p:cNvPr id="3" name="Content Placeholder 2"/>
          <p:cNvSpPr>
            <a:spLocks noGrp="1"/>
          </p:cNvSpPr>
          <p:nvPr>
            <p:ph idx="1"/>
          </p:nvPr>
        </p:nvSpPr>
        <p:spPr>
          <a:xfrm>
            <a:off x="574764" y="1268864"/>
            <a:ext cx="11025051" cy="5103282"/>
          </a:xfrm>
        </p:spPr>
        <p:txBody>
          <a:bodyPr>
            <a:normAutofit/>
          </a:bodyPr>
          <a:lstStyle/>
          <a:p>
            <a:pPr>
              <a:lnSpc>
                <a:spcPct val="150000"/>
              </a:lnSpc>
            </a:pPr>
            <a:r>
              <a:rPr lang="en-US" sz="2500" dirty="0"/>
              <a:t>DevOps enables continuous communication between cross-functional and autonomous teams. Also, DevOps advocates for getting customer feedback early on during sprints to help inform expectations, thus guiding developers on what features to focus on to minimize revisions.</a:t>
            </a:r>
          </a:p>
          <a:p>
            <a:pPr>
              <a:lnSpc>
                <a:spcPct val="150000"/>
              </a:lnSpc>
            </a:pPr>
            <a:r>
              <a:rPr lang="en-US" sz="2500" dirty="0"/>
              <a:t>This principle also promotes end-to-end responsibility by ensuring that each DevOps architect knows their role and works toward supporting efficient implementations across the entire DevOps pipeline</a:t>
            </a:r>
            <a:r>
              <a:rPr lang="en-US" sz="2500" dirty="0" smtClean="0"/>
              <a:t>.</a:t>
            </a:r>
            <a:endParaRPr lang="en-US" sz="25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21</a:t>
            </a:fld>
            <a:endParaRPr lang="en-US" dirty="0"/>
          </a:p>
        </p:txBody>
      </p:sp>
    </p:spTree>
    <p:extLst>
      <p:ext uri="{BB962C8B-B14F-4D97-AF65-F5344CB8AC3E}">
        <p14:creationId xmlns:p14="http://schemas.microsoft.com/office/powerpoint/2010/main" val="8047879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137" y="1344204"/>
            <a:ext cx="11025050" cy="3071042"/>
          </a:xfrm>
        </p:spPr>
        <p:txBody>
          <a:bodyPr>
            <a:noAutofit/>
          </a:bodyPr>
          <a:lstStyle/>
          <a:p>
            <a:pPr algn="ctr"/>
            <a:r>
              <a:rPr lang="en-US" sz="8800" b="1" i="1" dirty="0" smtClean="0"/>
              <a:t>CI / CD</a:t>
            </a:r>
            <a:endParaRPr lang="en-US" sz="8800" b="1" i="1" dirty="0"/>
          </a:p>
        </p:txBody>
      </p:sp>
      <p:sp>
        <p:nvSpPr>
          <p:cNvPr id="3" name="Content Placeholder 2"/>
          <p:cNvSpPr>
            <a:spLocks noGrp="1"/>
          </p:cNvSpPr>
          <p:nvPr>
            <p:ph idx="1"/>
          </p:nvPr>
        </p:nvSpPr>
        <p:spPr>
          <a:xfrm>
            <a:off x="574764" y="4415246"/>
            <a:ext cx="11025051" cy="1956900"/>
          </a:xfrm>
        </p:spPr>
        <p:txBody>
          <a:bodyPr>
            <a:normAutofit/>
          </a:bodyPr>
          <a:lstStyle/>
          <a:p>
            <a:pPr marL="0" indent="0">
              <a:lnSpc>
                <a:spcPct val="150000"/>
              </a:lnSpc>
              <a:buNone/>
            </a:pPr>
            <a:r>
              <a:rPr lang="en-US" b="1" dirty="0"/>
              <a:t> </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22</a:t>
            </a:fld>
            <a:endParaRPr lang="en-US" dirty="0"/>
          </a:p>
        </p:txBody>
      </p:sp>
    </p:spTree>
    <p:extLst>
      <p:ext uri="{BB962C8B-B14F-4D97-AF65-F5344CB8AC3E}">
        <p14:creationId xmlns:p14="http://schemas.microsoft.com/office/powerpoint/2010/main" val="243569135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CI / CD</a:t>
            </a:r>
            <a:endParaRPr lang="en-US" sz="4000" b="1" i="1" dirty="0"/>
          </a:p>
        </p:txBody>
      </p:sp>
      <p:sp>
        <p:nvSpPr>
          <p:cNvPr id="3" name="Content Placeholder 2"/>
          <p:cNvSpPr>
            <a:spLocks noGrp="1"/>
          </p:cNvSpPr>
          <p:nvPr>
            <p:ph idx="1"/>
          </p:nvPr>
        </p:nvSpPr>
        <p:spPr>
          <a:xfrm>
            <a:off x="574764" y="1268864"/>
            <a:ext cx="11025051" cy="5103282"/>
          </a:xfrm>
        </p:spPr>
        <p:txBody>
          <a:bodyPr>
            <a:normAutofit/>
          </a:bodyPr>
          <a:lstStyle/>
          <a:p>
            <a:pPr>
              <a:lnSpc>
                <a:spcPct val="150000"/>
              </a:lnSpc>
              <a:buFont typeface="Wingdings" panose="05000000000000000000" pitchFamily="2" charset="2"/>
              <a:buChar char="Ø"/>
            </a:pPr>
            <a:r>
              <a:rPr lang="en-US" b="1" dirty="0" smtClean="0"/>
              <a:t>CI/CD</a:t>
            </a:r>
          </a:p>
          <a:p>
            <a:pPr>
              <a:lnSpc>
                <a:spcPct val="150000"/>
              </a:lnSpc>
            </a:pPr>
            <a:r>
              <a:rPr lang="en-US" sz="2400" dirty="0"/>
              <a:t>The main concepts attributed to CI/CD are </a:t>
            </a:r>
            <a:r>
              <a:rPr lang="en-US" sz="2400" b="1" i="1" dirty="0" smtClean="0"/>
              <a:t>Continuous Integration, Continuous Delivery, And Continuous Deployment.</a:t>
            </a:r>
            <a:endParaRPr lang="en-US" sz="2400" b="1" i="1" dirty="0"/>
          </a:p>
          <a:p>
            <a:pPr>
              <a:lnSpc>
                <a:spcPct val="150000"/>
              </a:lnSpc>
            </a:pPr>
            <a:r>
              <a:rPr lang="en-US" sz="2400" dirty="0" smtClean="0"/>
              <a:t>It is </a:t>
            </a:r>
            <a:r>
              <a:rPr lang="en-US" sz="2400" dirty="0"/>
              <a:t>a method to frequently deliver apps to customers </a:t>
            </a:r>
            <a:r>
              <a:rPr lang="en-US" sz="2400" dirty="0" smtClean="0"/>
              <a:t>by introducing</a:t>
            </a:r>
            <a:r>
              <a:rPr lang="en-US" sz="2400" dirty="0"/>
              <a:t> automation into the stages of app development</a:t>
            </a:r>
            <a:r>
              <a:rPr lang="en-US" sz="2400"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23</a:t>
            </a:fld>
            <a:endParaRPr lang="en-US" dirty="0"/>
          </a:p>
        </p:txBody>
      </p:sp>
    </p:spTree>
    <p:extLst>
      <p:ext uri="{BB962C8B-B14F-4D97-AF65-F5344CB8AC3E}">
        <p14:creationId xmlns:p14="http://schemas.microsoft.com/office/powerpoint/2010/main" val="9631709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Continuous </a:t>
            </a:r>
            <a:r>
              <a:rPr lang="en-US" sz="4000" b="1" i="1" dirty="0"/>
              <a:t>I</a:t>
            </a:r>
            <a:r>
              <a:rPr lang="en-US" sz="4000" b="1" i="1" dirty="0" smtClean="0"/>
              <a:t>ntegration</a:t>
            </a:r>
            <a:endParaRPr lang="en-US" sz="4000" b="1" i="1" dirty="0"/>
          </a:p>
        </p:txBody>
      </p:sp>
      <p:sp>
        <p:nvSpPr>
          <p:cNvPr id="3" name="Content Placeholder 2"/>
          <p:cNvSpPr>
            <a:spLocks noGrp="1"/>
          </p:cNvSpPr>
          <p:nvPr>
            <p:ph idx="1"/>
          </p:nvPr>
        </p:nvSpPr>
        <p:spPr>
          <a:xfrm>
            <a:off x="574764" y="1268864"/>
            <a:ext cx="11025051" cy="5103282"/>
          </a:xfrm>
        </p:spPr>
        <p:txBody>
          <a:bodyPr>
            <a:normAutofit lnSpcReduction="10000"/>
          </a:bodyPr>
          <a:lstStyle/>
          <a:p>
            <a:pPr>
              <a:lnSpc>
                <a:spcPct val="150000"/>
              </a:lnSpc>
            </a:pPr>
            <a:r>
              <a:rPr lang="en-US" sz="2400" dirty="0" smtClean="0"/>
              <a:t>Continuous </a:t>
            </a:r>
            <a:r>
              <a:rPr lang="en-US" sz="2400" dirty="0"/>
              <a:t>integration is a </a:t>
            </a:r>
            <a:r>
              <a:rPr lang="en-US" sz="2400" dirty="0" smtClean="0"/>
              <a:t>DevOps</a:t>
            </a:r>
            <a:r>
              <a:rPr lang="en-US" sz="2400" dirty="0"/>
              <a:t> </a:t>
            </a:r>
            <a:r>
              <a:rPr lang="en-US" sz="2400" dirty="0" smtClean="0"/>
              <a:t>software </a:t>
            </a:r>
            <a:r>
              <a:rPr lang="en-US" sz="2400" dirty="0"/>
              <a:t>development practice where developers regularly merge their code changes into a central repository, after which automated builds and tests are </a:t>
            </a:r>
            <a:r>
              <a:rPr lang="en-US" sz="2400" dirty="0" smtClean="0"/>
              <a:t>run.</a:t>
            </a:r>
          </a:p>
          <a:p>
            <a:pPr>
              <a:lnSpc>
                <a:spcPct val="150000"/>
              </a:lnSpc>
            </a:pPr>
            <a:r>
              <a:rPr lang="en-US" sz="2400" dirty="0" smtClean="0"/>
              <a:t>Continuous </a:t>
            </a:r>
            <a:r>
              <a:rPr lang="en-US" sz="2400" dirty="0"/>
              <a:t>integration most often refers to the build or integration stage of the software release process and entails both an automation component (e.g. a CI or build service) and a cultural component (e.g. learning to integrate frequently</a:t>
            </a:r>
            <a:r>
              <a:rPr lang="en-US" sz="2400" dirty="0" smtClean="0"/>
              <a:t>).</a:t>
            </a:r>
          </a:p>
          <a:p>
            <a:pPr>
              <a:lnSpc>
                <a:spcPct val="150000"/>
              </a:lnSpc>
            </a:pPr>
            <a:r>
              <a:rPr lang="en-US" sz="2400" dirty="0" smtClean="0"/>
              <a:t>The </a:t>
            </a:r>
            <a:r>
              <a:rPr lang="en-US" sz="2400" dirty="0"/>
              <a:t>key goals of continuous integration are to find and address bugs quicker, improve software quality, and reduce the time it takes to validate and release new software updates</a:t>
            </a:r>
            <a:r>
              <a:rPr lang="en-US" sz="2400" dirty="0" smtClean="0"/>
              <a:t>.</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24</a:t>
            </a:fld>
            <a:endParaRPr lang="en-US" dirty="0"/>
          </a:p>
        </p:txBody>
      </p:sp>
    </p:spTree>
    <p:extLst>
      <p:ext uri="{BB962C8B-B14F-4D97-AF65-F5344CB8AC3E}">
        <p14:creationId xmlns:p14="http://schemas.microsoft.com/office/powerpoint/2010/main" val="8480853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Continuous </a:t>
            </a:r>
            <a:r>
              <a:rPr lang="en-US" sz="4000" b="1" i="1" dirty="0" smtClean="0"/>
              <a:t>Delivery</a:t>
            </a:r>
            <a:endParaRPr lang="en-US" sz="4000" b="1" i="1" dirty="0"/>
          </a:p>
        </p:txBody>
      </p:sp>
      <p:sp>
        <p:nvSpPr>
          <p:cNvPr id="3" name="Content Placeholder 2"/>
          <p:cNvSpPr>
            <a:spLocks noGrp="1"/>
          </p:cNvSpPr>
          <p:nvPr>
            <p:ph idx="1"/>
          </p:nvPr>
        </p:nvSpPr>
        <p:spPr>
          <a:xfrm>
            <a:off x="574764" y="1268864"/>
            <a:ext cx="11025051" cy="5103282"/>
          </a:xfrm>
        </p:spPr>
        <p:txBody>
          <a:bodyPr>
            <a:normAutofit/>
          </a:bodyPr>
          <a:lstStyle/>
          <a:p>
            <a:pPr>
              <a:lnSpc>
                <a:spcPct val="150000"/>
              </a:lnSpc>
              <a:buFont typeface="Wingdings" panose="05000000000000000000" pitchFamily="2" charset="2"/>
              <a:buChar char="Ø"/>
            </a:pPr>
            <a:r>
              <a:rPr lang="en-US" sz="2400" b="1" i="1" dirty="0" smtClean="0"/>
              <a:t>Continuous </a:t>
            </a:r>
            <a:r>
              <a:rPr lang="en-US" sz="2400" b="1" i="1" dirty="0"/>
              <a:t>delivery </a:t>
            </a:r>
            <a:r>
              <a:rPr lang="en-US" sz="2400" dirty="0"/>
              <a:t>is a software development practice where code changes are automatically prepared for a release to </a:t>
            </a:r>
            <a:r>
              <a:rPr lang="en-US" sz="2400" dirty="0" smtClean="0"/>
              <a:t>production.</a:t>
            </a:r>
          </a:p>
          <a:p>
            <a:pPr>
              <a:lnSpc>
                <a:spcPct val="150000"/>
              </a:lnSpc>
              <a:buFont typeface="Wingdings" panose="05000000000000000000" pitchFamily="2" charset="2"/>
              <a:buChar char="Ø"/>
            </a:pPr>
            <a:r>
              <a:rPr lang="en-US" sz="2400" dirty="0" smtClean="0"/>
              <a:t>A </a:t>
            </a:r>
            <a:r>
              <a:rPr lang="en-US" sz="2400" dirty="0"/>
              <a:t>pillar of modern application development, continuous delivery expands upon continuous integration by deploying all code changes to a testing environment and/or a production environment after the build stage. When properly implemented, developers will always have a deployment-ready build artifact that has passed through a standardized test process.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25</a:t>
            </a:fld>
            <a:endParaRPr lang="en-US" dirty="0"/>
          </a:p>
        </p:txBody>
      </p:sp>
    </p:spTree>
    <p:extLst>
      <p:ext uri="{BB962C8B-B14F-4D97-AF65-F5344CB8AC3E}">
        <p14:creationId xmlns:p14="http://schemas.microsoft.com/office/powerpoint/2010/main" val="3876551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How </a:t>
            </a:r>
            <a:r>
              <a:rPr lang="en-US" sz="4000" b="1" i="1" dirty="0"/>
              <a:t>does Continuous Integration Work?</a:t>
            </a:r>
          </a:p>
        </p:txBody>
      </p:sp>
      <p:sp>
        <p:nvSpPr>
          <p:cNvPr id="3" name="Content Placeholder 2"/>
          <p:cNvSpPr>
            <a:spLocks noGrp="1"/>
          </p:cNvSpPr>
          <p:nvPr>
            <p:ph idx="1"/>
          </p:nvPr>
        </p:nvSpPr>
        <p:spPr>
          <a:xfrm>
            <a:off x="574764" y="1268864"/>
            <a:ext cx="11025051" cy="5103282"/>
          </a:xfrm>
        </p:spPr>
        <p:txBody>
          <a:bodyPr>
            <a:normAutofit/>
          </a:bodyPr>
          <a:lstStyle/>
          <a:p>
            <a:pPr>
              <a:lnSpc>
                <a:spcPct val="150000"/>
              </a:lnSpc>
              <a:buFont typeface="Wingdings" panose="05000000000000000000" pitchFamily="2" charset="2"/>
              <a:buChar char="Ø"/>
            </a:pPr>
            <a:r>
              <a:rPr lang="en-US" sz="2400" dirty="0" smtClean="0"/>
              <a:t>With </a:t>
            </a:r>
            <a:r>
              <a:rPr lang="en-US" sz="2400" dirty="0"/>
              <a:t>continuous integration, developers frequently commit to a shared repository using a version control system such as Git. Prior to each commit, developers may choose to run local unit tests on their code as an extra verification layer before integrating. A continuous integration service automatically builds and runs unit tests on the new code changes to immediately surface any errors.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26</a:t>
            </a:fld>
            <a:endParaRPr lang="en-US" dirty="0"/>
          </a:p>
        </p:txBody>
      </p:sp>
    </p:spTree>
    <p:extLst>
      <p:ext uri="{BB962C8B-B14F-4D97-AF65-F5344CB8AC3E}">
        <p14:creationId xmlns:p14="http://schemas.microsoft.com/office/powerpoint/2010/main" val="13499788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Continuous </a:t>
            </a:r>
            <a:r>
              <a:rPr lang="en-US" sz="4000" b="1" i="1" dirty="0"/>
              <a:t>Workflow</a:t>
            </a:r>
            <a:r>
              <a:rPr lang="en-US" sz="4000" b="1" i="1" dirty="0" smtClean="0"/>
              <a:t> (Cont.)</a:t>
            </a:r>
            <a:endParaRPr lang="en-US" sz="4000" b="1" i="1" dirty="0"/>
          </a:p>
        </p:txBody>
      </p:sp>
      <p:sp>
        <p:nvSpPr>
          <p:cNvPr id="3" name="Content Placeholder 2"/>
          <p:cNvSpPr>
            <a:spLocks noGrp="1"/>
          </p:cNvSpPr>
          <p:nvPr>
            <p:ph idx="1"/>
          </p:nvPr>
        </p:nvSpPr>
        <p:spPr>
          <a:xfrm>
            <a:off x="574764" y="1268864"/>
            <a:ext cx="11025051" cy="5103282"/>
          </a:xfrm>
        </p:spPr>
        <p:txBody>
          <a:bodyPr>
            <a:normAutofit/>
          </a:bodyPr>
          <a:lstStyle/>
          <a:p>
            <a:pPr marL="0" indent="0">
              <a:lnSpc>
                <a:spcPct val="150000"/>
              </a:lnSpc>
              <a:buNone/>
            </a:pPr>
            <a:r>
              <a:rPr lang="en-US" sz="2400" dirty="0" smtClean="0"/>
              <a:t>  </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27</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9739" y="1517571"/>
            <a:ext cx="6515100" cy="5219700"/>
          </a:xfrm>
          <a:prstGeom prst="rect">
            <a:avLst/>
          </a:prstGeom>
          <a:ln>
            <a:solidFill>
              <a:schemeClr val="accent1">
                <a:lumMod val="20000"/>
                <a:lumOff val="80000"/>
              </a:schemeClr>
            </a:solidFill>
          </a:ln>
        </p:spPr>
      </p:pic>
    </p:spTree>
    <p:extLst>
      <p:ext uri="{BB962C8B-B14F-4D97-AF65-F5344CB8AC3E}">
        <p14:creationId xmlns:p14="http://schemas.microsoft.com/office/powerpoint/2010/main" val="4428443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Continuous </a:t>
            </a:r>
            <a:r>
              <a:rPr lang="en-US" sz="4000" b="1" i="1" dirty="0" smtClean="0"/>
              <a:t>Workflow </a:t>
            </a:r>
            <a:r>
              <a:rPr lang="en-US" sz="4000" b="1" i="1" dirty="0"/>
              <a:t>(Cont.)</a:t>
            </a:r>
          </a:p>
        </p:txBody>
      </p:sp>
      <p:sp>
        <p:nvSpPr>
          <p:cNvPr id="3" name="Content Placeholder 2"/>
          <p:cNvSpPr>
            <a:spLocks noGrp="1"/>
          </p:cNvSpPr>
          <p:nvPr>
            <p:ph idx="1"/>
          </p:nvPr>
        </p:nvSpPr>
        <p:spPr>
          <a:xfrm>
            <a:off x="574764" y="1268864"/>
            <a:ext cx="11025051" cy="5103282"/>
          </a:xfrm>
        </p:spPr>
        <p:txBody>
          <a:bodyPr>
            <a:normAutofit/>
          </a:bodyPr>
          <a:lstStyle/>
          <a:p>
            <a:pPr marL="0" indent="0">
              <a:lnSpc>
                <a:spcPct val="150000"/>
              </a:lnSpc>
              <a:buNone/>
            </a:pPr>
            <a:r>
              <a:rPr lang="en-US" sz="2400" dirty="0" smtClean="0"/>
              <a:t>  </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28</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776" y="1728466"/>
            <a:ext cx="11249025" cy="3142134"/>
          </a:xfrm>
          <a:prstGeom prst="rect">
            <a:avLst/>
          </a:prstGeom>
          <a:ln>
            <a:solidFill>
              <a:schemeClr val="accent1">
                <a:lumMod val="20000"/>
                <a:lumOff val="80000"/>
              </a:schemeClr>
            </a:solidFill>
          </a:ln>
        </p:spPr>
      </p:pic>
    </p:spTree>
    <p:extLst>
      <p:ext uri="{BB962C8B-B14F-4D97-AF65-F5344CB8AC3E}">
        <p14:creationId xmlns:p14="http://schemas.microsoft.com/office/powerpoint/2010/main" val="21213604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3" y="2322654"/>
            <a:ext cx="11025050" cy="3071042"/>
          </a:xfrm>
        </p:spPr>
        <p:txBody>
          <a:bodyPr>
            <a:noAutofit/>
          </a:bodyPr>
          <a:lstStyle/>
          <a:p>
            <a:pPr algn="ctr"/>
            <a:r>
              <a:rPr lang="en-US" sz="8800" b="1" i="1" dirty="0" smtClean="0"/>
              <a:t>Infrastructure </a:t>
            </a:r>
            <a:r>
              <a:rPr lang="en-US" sz="8800" b="1" i="1" dirty="0"/>
              <a:t>as Code</a:t>
            </a:r>
          </a:p>
        </p:txBody>
      </p:sp>
      <p:sp>
        <p:nvSpPr>
          <p:cNvPr id="3" name="Content Placeholder 2"/>
          <p:cNvSpPr>
            <a:spLocks noGrp="1"/>
          </p:cNvSpPr>
          <p:nvPr>
            <p:ph idx="1"/>
          </p:nvPr>
        </p:nvSpPr>
        <p:spPr>
          <a:xfrm>
            <a:off x="574764" y="4415246"/>
            <a:ext cx="11025051" cy="1956900"/>
          </a:xfrm>
        </p:spPr>
        <p:txBody>
          <a:bodyPr>
            <a:normAutofit/>
          </a:bodyPr>
          <a:lstStyle/>
          <a:p>
            <a:pPr marL="0" indent="0">
              <a:lnSpc>
                <a:spcPct val="150000"/>
              </a:lnSpc>
              <a:buNone/>
            </a:pPr>
            <a:r>
              <a:rPr lang="en-US" b="1" dirty="0"/>
              <a:t> </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29</a:t>
            </a:fld>
            <a:endParaRPr lang="en-US" dirty="0"/>
          </a:p>
        </p:txBody>
      </p:sp>
    </p:spTree>
    <p:extLst>
      <p:ext uri="{BB962C8B-B14F-4D97-AF65-F5344CB8AC3E}">
        <p14:creationId xmlns:p14="http://schemas.microsoft.com/office/powerpoint/2010/main" val="14173924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Infrastructure </a:t>
            </a:r>
            <a:r>
              <a:rPr lang="en-US" sz="4000" b="1" i="1" dirty="0"/>
              <a:t>as Code (IaC)</a:t>
            </a:r>
          </a:p>
        </p:txBody>
      </p:sp>
      <p:sp>
        <p:nvSpPr>
          <p:cNvPr id="3" name="Content Placeholder 2"/>
          <p:cNvSpPr>
            <a:spLocks noGrp="1"/>
          </p:cNvSpPr>
          <p:nvPr>
            <p:ph idx="1"/>
          </p:nvPr>
        </p:nvSpPr>
        <p:spPr>
          <a:xfrm>
            <a:off x="574764" y="1268864"/>
            <a:ext cx="11025051" cy="5103282"/>
          </a:xfrm>
        </p:spPr>
        <p:txBody>
          <a:bodyPr>
            <a:normAutofit/>
          </a:bodyPr>
          <a:lstStyle/>
          <a:p>
            <a:pPr>
              <a:lnSpc>
                <a:spcPct val="150000"/>
              </a:lnSpc>
            </a:pPr>
            <a:r>
              <a:rPr lang="en-US" sz="2400" dirty="0" smtClean="0"/>
              <a:t>Infrastructure </a:t>
            </a:r>
            <a:r>
              <a:rPr lang="en-US" sz="2400" dirty="0"/>
              <a:t>as Code (IaC) is an approach to managing data center server, storage, and networking infrastructure. IaC is meant to significantly simplify large-scale configuration and management.</a:t>
            </a:r>
          </a:p>
          <a:p>
            <a:pPr>
              <a:lnSpc>
                <a:spcPct val="150000"/>
              </a:lnSpc>
            </a:pPr>
            <a:r>
              <a:rPr lang="en-US" sz="2400" dirty="0"/>
              <a:t>With IaC, infrastructure configuration information is housed in standardized files, which can be read by software that maintains the state of the infrastructure.</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30</a:t>
            </a:fld>
            <a:endParaRPr lang="en-US" dirty="0"/>
          </a:p>
        </p:txBody>
      </p:sp>
    </p:spTree>
    <p:extLst>
      <p:ext uri="{BB962C8B-B14F-4D97-AF65-F5344CB8AC3E}">
        <p14:creationId xmlns:p14="http://schemas.microsoft.com/office/powerpoint/2010/main" val="6057458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How </a:t>
            </a:r>
            <a:r>
              <a:rPr lang="en-US" sz="4000" b="1" i="1" dirty="0"/>
              <a:t>does Infrastructure as Code work?</a:t>
            </a:r>
          </a:p>
        </p:txBody>
      </p:sp>
      <p:sp>
        <p:nvSpPr>
          <p:cNvPr id="3" name="Content Placeholder 2"/>
          <p:cNvSpPr>
            <a:spLocks noGrp="1"/>
          </p:cNvSpPr>
          <p:nvPr>
            <p:ph idx="1"/>
          </p:nvPr>
        </p:nvSpPr>
        <p:spPr>
          <a:xfrm>
            <a:off x="574764" y="1268864"/>
            <a:ext cx="11025051" cy="5103282"/>
          </a:xfrm>
        </p:spPr>
        <p:txBody>
          <a:bodyPr>
            <a:normAutofit/>
          </a:bodyPr>
          <a:lstStyle/>
          <a:p>
            <a:pPr>
              <a:lnSpc>
                <a:spcPct val="150000"/>
              </a:lnSpc>
            </a:pPr>
            <a:r>
              <a:rPr lang="en-US" sz="2400" dirty="0" smtClean="0"/>
              <a:t>Infrastructure </a:t>
            </a:r>
            <a:r>
              <a:rPr lang="en-US" sz="2400" dirty="0"/>
              <a:t>automation becomes possible thanks to template files that are human and machine </a:t>
            </a:r>
            <a:r>
              <a:rPr lang="en-US" sz="2400" dirty="0" smtClean="0"/>
              <a:t>readable.</a:t>
            </a:r>
          </a:p>
          <a:p>
            <a:pPr>
              <a:lnSpc>
                <a:spcPct val="150000"/>
              </a:lnSpc>
            </a:pPr>
            <a:r>
              <a:rPr lang="en-US" sz="2400" dirty="0" smtClean="0"/>
              <a:t>These </a:t>
            </a:r>
            <a:r>
              <a:rPr lang="en-US" sz="2400" dirty="0"/>
              <a:t>YAML/JSON template files contain instructions for underlying tool on how to manage and provision cloud or server (or both) resources</a:t>
            </a:r>
            <a:r>
              <a:rPr lang="en-US" sz="2400" dirty="0" smtClean="0"/>
              <a:t>.</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31</a:t>
            </a:fld>
            <a:endParaRPr lang="en-US" dirty="0"/>
          </a:p>
        </p:txBody>
      </p:sp>
    </p:spTree>
    <p:extLst>
      <p:ext uri="{BB962C8B-B14F-4D97-AF65-F5344CB8AC3E}">
        <p14:creationId xmlns:p14="http://schemas.microsoft.com/office/powerpoint/2010/main" val="28906260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pPr fontAlgn="base"/>
            <a:r>
              <a:rPr lang="en-US" sz="4000" b="1" i="1" dirty="0" smtClean="0"/>
              <a:t>Infrastructure </a:t>
            </a:r>
            <a:r>
              <a:rPr lang="en-US" sz="4000" b="1" i="1" dirty="0"/>
              <a:t>as code benefits</a:t>
            </a:r>
          </a:p>
        </p:txBody>
      </p:sp>
      <p:sp>
        <p:nvSpPr>
          <p:cNvPr id="3" name="Content Placeholder 2"/>
          <p:cNvSpPr>
            <a:spLocks noGrp="1"/>
          </p:cNvSpPr>
          <p:nvPr>
            <p:ph idx="1"/>
          </p:nvPr>
        </p:nvSpPr>
        <p:spPr>
          <a:xfrm>
            <a:off x="574764" y="1268864"/>
            <a:ext cx="11025051" cy="5103282"/>
          </a:xfrm>
        </p:spPr>
        <p:txBody>
          <a:bodyPr>
            <a:normAutofit/>
          </a:bodyPr>
          <a:lstStyle/>
          <a:p>
            <a:pPr fontAlgn="base">
              <a:lnSpc>
                <a:spcPct val="150000"/>
              </a:lnSpc>
            </a:pPr>
            <a:r>
              <a:rPr lang="en-US" sz="2400" b="1" dirty="0" smtClean="0"/>
              <a:t>Improved productivity:</a:t>
            </a:r>
          </a:p>
          <a:p>
            <a:pPr lvl="1" fontAlgn="base">
              <a:lnSpc>
                <a:spcPct val="150000"/>
              </a:lnSpc>
            </a:pPr>
            <a:r>
              <a:rPr lang="en-US" sz="2200" dirty="0" smtClean="0"/>
              <a:t>Administrators </a:t>
            </a:r>
            <a:r>
              <a:rPr lang="en-US" sz="2200" dirty="0"/>
              <a:t>and operators no longer must perform manual configuration steps for data center infrastructure changes.</a:t>
            </a:r>
          </a:p>
          <a:p>
            <a:pPr fontAlgn="base">
              <a:lnSpc>
                <a:spcPct val="150000"/>
              </a:lnSpc>
            </a:pPr>
            <a:r>
              <a:rPr lang="en-US" sz="2400" b="1" dirty="0"/>
              <a:t>Improved </a:t>
            </a:r>
            <a:r>
              <a:rPr lang="en-US" sz="2400" b="1" dirty="0" smtClean="0"/>
              <a:t>reliability:</a:t>
            </a:r>
          </a:p>
          <a:p>
            <a:pPr lvl="1" fontAlgn="base">
              <a:lnSpc>
                <a:spcPct val="150000"/>
              </a:lnSpc>
            </a:pPr>
            <a:r>
              <a:rPr lang="en-US" sz="2200" dirty="0"/>
              <a:t>The configuration of the infrastructure is contained in electronic files, and software is responsible for initiating infrastructure changes, so there is less chance of human error.</a:t>
            </a:r>
          </a:p>
          <a:p>
            <a:pPr>
              <a:lnSpc>
                <a:spcPct val="150000"/>
              </a:lnSpc>
            </a:pP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32</a:t>
            </a:fld>
            <a:endParaRPr lang="en-US" dirty="0"/>
          </a:p>
        </p:txBody>
      </p:sp>
    </p:spTree>
    <p:extLst>
      <p:ext uri="{BB962C8B-B14F-4D97-AF65-F5344CB8AC3E}">
        <p14:creationId xmlns:p14="http://schemas.microsoft.com/office/powerpoint/2010/main" val="19872208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pPr fontAlgn="base"/>
            <a:r>
              <a:rPr lang="en-US" sz="4000" b="1" i="1" dirty="0" smtClean="0"/>
              <a:t>Tools </a:t>
            </a:r>
            <a:r>
              <a:rPr lang="en-US" sz="4000" b="1" i="1" dirty="0"/>
              <a:t>for Infrastructure as Code</a:t>
            </a:r>
          </a:p>
        </p:txBody>
      </p:sp>
      <p:sp>
        <p:nvSpPr>
          <p:cNvPr id="3" name="Content Placeholder 2"/>
          <p:cNvSpPr>
            <a:spLocks noGrp="1"/>
          </p:cNvSpPr>
          <p:nvPr>
            <p:ph idx="1"/>
          </p:nvPr>
        </p:nvSpPr>
        <p:spPr>
          <a:xfrm>
            <a:off x="574764" y="1268864"/>
            <a:ext cx="11025051" cy="5103282"/>
          </a:xfrm>
        </p:spPr>
        <p:txBody>
          <a:bodyPr>
            <a:normAutofit/>
          </a:bodyPr>
          <a:lstStyle/>
          <a:p>
            <a:pPr marL="0" indent="0" fontAlgn="base">
              <a:lnSpc>
                <a:spcPct val="150000"/>
              </a:lnSpc>
              <a:buNone/>
            </a:pPr>
            <a:r>
              <a:rPr lang="en-US" sz="2200" dirty="0"/>
              <a:t>Some IaC tools publicly available are:</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33</a:t>
            </a:fld>
            <a:endParaRPr lang="en-US" dirty="0"/>
          </a:p>
        </p:txBody>
      </p:sp>
    </p:spTree>
    <p:extLst>
      <p:ext uri="{BB962C8B-B14F-4D97-AF65-F5344CB8AC3E}">
        <p14:creationId xmlns:p14="http://schemas.microsoft.com/office/powerpoint/2010/main" val="150687396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pPr fontAlgn="base"/>
            <a:r>
              <a:rPr lang="en-US" sz="4000" b="1" i="1" dirty="0" smtClean="0"/>
              <a:t>  </a:t>
            </a:r>
            <a:endParaRPr lang="en-US" sz="4000" b="1" i="1" dirty="0"/>
          </a:p>
        </p:txBody>
      </p:sp>
      <p:sp>
        <p:nvSpPr>
          <p:cNvPr id="3" name="Content Placeholder 2"/>
          <p:cNvSpPr>
            <a:spLocks noGrp="1"/>
          </p:cNvSpPr>
          <p:nvPr>
            <p:ph idx="1"/>
          </p:nvPr>
        </p:nvSpPr>
        <p:spPr>
          <a:xfrm>
            <a:off x="574764" y="1268864"/>
            <a:ext cx="11025051" cy="5103282"/>
          </a:xfrm>
        </p:spPr>
        <p:txBody>
          <a:bodyPr>
            <a:normAutofit/>
          </a:bodyPr>
          <a:lstStyle/>
          <a:p>
            <a:pPr>
              <a:lnSpc>
                <a:spcPct val="150000"/>
              </a:lnSpc>
            </a:pPr>
            <a:r>
              <a:rPr lang="en-US" sz="2400" dirty="0" smtClean="0"/>
              <a:t> </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34</a:t>
            </a:fld>
            <a:endParaRPr lang="en-US" dirty="0"/>
          </a:p>
        </p:txBody>
      </p:sp>
      <p:pic>
        <p:nvPicPr>
          <p:cNvPr id="7" name="Picture 6"/>
          <p:cNvPicPr>
            <a:picLocks noChangeAspect="1"/>
          </p:cNvPicPr>
          <p:nvPr/>
        </p:nvPicPr>
        <p:blipFill>
          <a:blip r:embed="rId2"/>
          <a:stretch>
            <a:fillRect/>
          </a:stretch>
        </p:blipFill>
        <p:spPr>
          <a:xfrm>
            <a:off x="574764" y="-370"/>
            <a:ext cx="11129990" cy="6858000"/>
          </a:xfrm>
          <a:prstGeom prst="rect">
            <a:avLst/>
          </a:prstGeom>
        </p:spPr>
      </p:pic>
    </p:spTree>
    <p:extLst>
      <p:ext uri="{BB962C8B-B14F-4D97-AF65-F5344CB8AC3E}">
        <p14:creationId xmlns:p14="http://schemas.microsoft.com/office/powerpoint/2010/main" val="30168643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pPr fontAlgn="base"/>
            <a:r>
              <a:rPr lang="en-US" sz="4000" b="1" i="1" dirty="0" smtClean="0"/>
              <a:t>Configurations Management Tools types</a:t>
            </a:r>
            <a:endParaRPr lang="en-US" sz="4000" b="1" i="1" dirty="0"/>
          </a:p>
        </p:txBody>
      </p:sp>
      <p:sp>
        <p:nvSpPr>
          <p:cNvPr id="3" name="Content Placeholder 2"/>
          <p:cNvSpPr>
            <a:spLocks noGrp="1"/>
          </p:cNvSpPr>
          <p:nvPr>
            <p:ph idx="1"/>
          </p:nvPr>
        </p:nvSpPr>
        <p:spPr>
          <a:xfrm>
            <a:off x="574764" y="1268864"/>
            <a:ext cx="11025051" cy="5103282"/>
          </a:xfrm>
        </p:spPr>
        <p:txBody>
          <a:bodyPr>
            <a:normAutofit/>
          </a:bodyPr>
          <a:lstStyle/>
          <a:p>
            <a:pPr fontAlgn="base">
              <a:lnSpc>
                <a:spcPct val="150000"/>
              </a:lnSpc>
            </a:pPr>
            <a:r>
              <a:rPr lang="en-US" sz="2400" b="1" dirty="0"/>
              <a:t>A declarative </a:t>
            </a:r>
            <a:r>
              <a:rPr lang="en-US" sz="2400" b="1" dirty="0" smtClean="0"/>
              <a:t>or </a:t>
            </a:r>
            <a:r>
              <a:rPr lang="en-US" sz="2400" b="1" dirty="0"/>
              <a:t>Push base </a:t>
            </a:r>
            <a:r>
              <a:rPr lang="en-US" sz="2400" b="1" dirty="0" smtClean="0"/>
              <a:t>approach:</a:t>
            </a:r>
            <a:endParaRPr lang="en-US" sz="2400" b="1" dirty="0"/>
          </a:p>
          <a:p>
            <a:pPr lvl="1" fontAlgn="base">
              <a:lnSpc>
                <a:spcPct val="150000"/>
              </a:lnSpc>
            </a:pPr>
            <a:r>
              <a:rPr lang="en-US" sz="2200" dirty="0" smtClean="0"/>
              <a:t>Push bases Configuration server pushes configuration code to nodes (i.e. </a:t>
            </a:r>
            <a:r>
              <a:rPr lang="en-US" sz="2200" b="1" dirty="0" smtClean="0"/>
              <a:t>Ansible</a:t>
            </a:r>
            <a:r>
              <a:rPr lang="en-US" sz="2200" dirty="0" smtClean="0"/>
              <a:t>)</a:t>
            </a:r>
            <a:endParaRPr lang="en-US" sz="2200" dirty="0"/>
          </a:p>
          <a:p>
            <a:pPr fontAlgn="base">
              <a:lnSpc>
                <a:spcPct val="150000"/>
              </a:lnSpc>
            </a:pPr>
            <a:r>
              <a:rPr lang="en-US" sz="2400" b="1" dirty="0"/>
              <a:t>An imperative </a:t>
            </a:r>
            <a:r>
              <a:rPr lang="en-US" sz="2400" b="1" dirty="0" smtClean="0"/>
              <a:t>or </a:t>
            </a:r>
            <a:r>
              <a:rPr lang="en-US" sz="2400" b="1" dirty="0"/>
              <a:t>Pull base </a:t>
            </a:r>
            <a:r>
              <a:rPr lang="en-US" sz="2400" b="1" dirty="0" smtClean="0"/>
              <a:t>approach:</a:t>
            </a:r>
            <a:endParaRPr lang="en-US" sz="2400" b="1" dirty="0"/>
          </a:p>
          <a:p>
            <a:pPr lvl="1" fontAlgn="base">
              <a:lnSpc>
                <a:spcPct val="150000"/>
              </a:lnSpc>
            </a:pPr>
            <a:r>
              <a:rPr lang="en-US" sz="2200" dirty="0"/>
              <a:t>Pull configuration Node checks with the server periodically and </a:t>
            </a:r>
            <a:r>
              <a:rPr lang="en-US" sz="2200" dirty="0" err="1"/>
              <a:t>fetchs</a:t>
            </a:r>
            <a:r>
              <a:rPr lang="en-US" sz="2200" dirty="0"/>
              <a:t> code from the server if there is any update available</a:t>
            </a:r>
            <a:r>
              <a:rPr lang="en-US" sz="2200" dirty="0" smtClean="0"/>
              <a:t>. (i.e. </a:t>
            </a:r>
            <a:r>
              <a:rPr lang="en-US" sz="2000" b="1" dirty="0" smtClean="0"/>
              <a:t>Chef, Puppet </a:t>
            </a:r>
            <a:r>
              <a:rPr lang="en-US" sz="2200" dirty="0" smtClean="0"/>
              <a:t>)</a:t>
            </a:r>
            <a:endParaRPr lang="en-US" sz="22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35</a:t>
            </a:fld>
            <a:endParaRPr lang="en-US" dirty="0"/>
          </a:p>
        </p:txBody>
      </p:sp>
    </p:spTree>
    <p:extLst>
      <p:ext uri="{BB962C8B-B14F-4D97-AF65-F5344CB8AC3E}">
        <p14:creationId xmlns:p14="http://schemas.microsoft.com/office/powerpoint/2010/main" val="341845420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pPr fontAlgn="base"/>
            <a:r>
              <a:rPr lang="en-US" sz="4000" b="1" i="1" dirty="0" smtClean="0"/>
              <a:t>Source References</a:t>
            </a:r>
            <a:endParaRPr lang="en-US" sz="4000" b="1" i="1" dirty="0"/>
          </a:p>
        </p:txBody>
      </p:sp>
      <p:sp>
        <p:nvSpPr>
          <p:cNvPr id="3" name="Content Placeholder 2"/>
          <p:cNvSpPr>
            <a:spLocks noGrp="1"/>
          </p:cNvSpPr>
          <p:nvPr>
            <p:ph idx="1"/>
          </p:nvPr>
        </p:nvSpPr>
        <p:spPr>
          <a:xfrm>
            <a:off x="574764" y="1268864"/>
            <a:ext cx="11025051" cy="5103282"/>
          </a:xfrm>
        </p:spPr>
        <p:txBody>
          <a:bodyPr>
            <a:normAutofit/>
          </a:bodyPr>
          <a:lstStyle/>
          <a:p>
            <a:pPr fontAlgn="base">
              <a:lnSpc>
                <a:spcPct val="150000"/>
              </a:lnSpc>
            </a:pPr>
            <a:r>
              <a:rPr lang="en-US" sz="2400" b="1" i="1" dirty="0" smtClean="0"/>
              <a:t>Infrastructure </a:t>
            </a:r>
            <a:r>
              <a:rPr lang="en-US" sz="2400" b="1" i="1" dirty="0"/>
              <a:t>as </a:t>
            </a:r>
            <a:r>
              <a:rPr lang="en-US" sz="2400" b="1" i="1" dirty="0" smtClean="0"/>
              <a:t>Code</a:t>
            </a:r>
            <a:endParaRPr lang="en-US" sz="2400" dirty="0" smtClean="0">
              <a:hlinkClick r:id="rId2"/>
            </a:endParaRPr>
          </a:p>
          <a:p>
            <a:pPr lvl="1" fontAlgn="base">
              <a:lnSpc>
                <a:spcPct val="150000"/>
              </a:lnSpc>
            </a:pPr>
            <a:r>
              <a:rPr lang="en-US" sz="2000" dirty="0" smtClean="0">
                <a:hlinkClick r:id="rId2"/>
              </a:rPr>
              <a:t>https</a:t>
            </a:r>
            <a:r>
              <a:rPr lang="en-US" sz="2000" dirty="0">
                <a:hlinkClick r:id="rId2"/>
              </a:rPr>
              <a:t>://</a:t>
            </a:r>
            <a:r>
              <a:rPr lang="en-US" sz="2000" dirty="0" smtClean="0">
                <a:hlinkClick r:id="rId2"/>
              </a:rPr>
              <a:t>www.bmc.com/blogs/infrastructure-as-code/</a:t>
            </a:r>
            <a:endParaRPr lang="en-US" sz="2000" dirty="0"/>
          </a:p>
          <a:p>
            <a:pPr lvl="1" fontAlgn="base">
              <a:lnSpc>
                <a:spcPct val="150000"/>
              </a:lnSpc>
            </a:pPr>
            <a:r>
              <a:rPr lang="en-US" sz="2000" dirty="0" smtClean="0">
                <a:hlinkClick r:id="rId3"/>
              </a:rPr>
              <a:t>https</a:t>
            </a:r>
            <a:r>
              <a:rPr lang="en-US" sz="2000" dirty="0">
                <a:hlinkClick r:id="rId3"/>
              </a:rPr>
              <a:t>://</a:t>
            </a:r>
            <a:r>
              <a:rPr lang="en-US" sz="2000" dirty="0" smtClean="0">
                <a:hlinkClick r:id="rId3"/>
              </a:rPr>
              <a:t>alpacked.io/blog/infrastructure-as-code-for-devops/</a:t>
            </a:r>
            <a:endParaRPr lang="en-US" sz="2000" dirty="0" smtClean="0"/>
          </a:p>
          <a:p>
            <a:pPr lvl="1" fontAlgn="base">
              <a:lnSpc>
                <a:spcPct val="150000"/>
              </a:lnSpc>
            </a:pPr>
            <a:r>
              <a:rPr lang="en-US" sz="2000" dirty="0">
                <a:hlinkClick r:id="rId4"/>
              </a:rPr>
              <a:t>https://www.netapp.com/devops-solutions/what-is-infrastructure-as-code-iac</a:t>
            </a:r>
            <a:r>
              <a:rPr lang="en-US" sz="2000" dirty="0" smtClean="0">
                <a:hlinkClick r:id="rId4"/>
              </a:rPr>
              <a:t>/</a:t>
            </a:r>
            <a:endParaRPr lang="en-US" sz="2000"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36</a:t>
            </a:fld>
            <a:endParaRPr lang="en-US" dirty="0"/>
          </a:p>
        </p:txBody>
      </p:sp>
    </p:spTree>
    <p:extLst>
      <p:ext uri="{BB962C8B-B14F-4D97-AF65-F5344CB8AC3E}">
        <p14:creationId xmlns:p14="http://schemas.microsoft.com/office/powerpoint/2010/main" val="30188914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000" b="1" i="1" dirty="0"/>
              <a:t>Thanks</a:t>
            </a:r>
            <a:endParaRPr lang="en-US" sz="3600" b="1" i="1" dirty="0"/>
          </a:p>
        </p:txBody>
      </p:sp>
      <p:sp>
        <p:nvSpPr>
          <p:cNvPr id="3" name="Content Placeholder 2"/>
          <p:cNvSpPr>
            <a:spLocks noGrp="1"/>
          </p:cNvSpPr>
          <p:nvPr>
            <p:ph idx="1"/>
          </p:nvPr>
        </p:nvSpPr>
        <p:spPr/>
        <p:txBody>
          <a:bodyPr>
            <a:noAutofit/>
          </a:bodyPr>
          <a:lstStyle/>
          <a:p>
            <a:pPr marL="0" indent="0" algn="ctr">
              <a:buNone/>
            </a:pPr>
            <a:r>
              <a:rPr lang="en-US" sz="23900" dirty="0" smtClean="0"/>
              <a:t>…?</a:t>
            </a:r>
            <a:endParaRPr lang="en-US" sz="23900" dirty="0"/>
          </a:p>
        </p:txBody>
      </p:sp>
      <p:sp>
        <p:nvSpPr>
          <p:cNvPr id="4" name="Slide Number Placeholder 3"/>
          <p:cNvSpPr>
            <a:spLocks noGrp="1"/>
          </p:cNvSpPr>
          <p:nvPr>
            <p:ph type="sldNum" sz="quarter" idx="12"/>
          </p:nvPr>
        </p:nvSpPr>
        <p:spPr/>
        <p:txBody>
          <a:bodyPr/>
          <a:lstStyle/>
          <a:p>
            <a:fld id="{18925C6B-C1FE-4297-863E-68E85899D6B2}" type="slidenum">
              <a:rPr lang="en-US" smtClean="0"/>
              <a:t>37</a:t>
            </a:fld>
            <a:endParaRPr lang="en-US"/>
          </a:p>
        </p:txBody>
      </p:sp>
    </p:spTree>
    <p:extLst>
      <p:ext uri="{BB962C8B-B14F-4D97-AF65-F5344CB8AC3E}">
        <p14:creationId xmlns:p14="http://schemas.microsoft.com/office/powerpoint/2010/main" val="1702088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8559</TotalTime>
  <Words>1068</Words>
  <Application>Microsoft Office PowerPoint</Application>
  <PresentationFormat>Widescreen</PresentationFormat>
  <Paragraphs>171</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Wingdings</vt:lpstr>
      <vt:lpstr>Office Theme</vt:lpstr>
      <vt:lpstr>Lecture-10</vt:lpstr>
      <vt:lpstr>Contents</vt:lpstr>
      <vt:lpstr>DevOps Automation</vt:lpstr>
      <vt:lpstr>DevOps Automation Benefits  </vt:lpstr>
      <vt:lpstr>DevOps Automation Tools </vt:lpstr>
      <vt:lpstr>DevOps Automation Tools </vt:lpstr>
      <vt:lpstr>DevOps Automation Tools (Cont.) </vt:lpstr>
      <vt:lpstr>DevOps Automation Tools Architecture  (Cont.) </vt:lpstr>
      <vt:lpstr>Infrastructure Automation </vt:lpstr>
      <vt:lpstr>Configuration Management</vt:lpstr>
      <vt:lpstr>Configuration Management (Cont.)</vt:lpstr>
      <vt:lpstr>Configuration Management (Cont.)</vt:lpstr>
      <vt:lpstr>Configuration Management (Cont.)</vt:lpstr>
      <vt:lpstr>Deployment Automation</vt:lpstr>
      <vt:lpstr>Performance Management</vt:lpstr>
      <vt:lpstr>Log Management</vt:lpstr>
      <vt:lpstr>Monitoring</vt:lpstr>
      <vt:lpstr>Code Version Control</vt:lpstr>
      <vt:lpstr>Testing Suite</vt:lpstr>
      <vt:lpstr>Code build</vt:lpstr>
      <vt:lpstr>DevOps Collaboration</vt:lpstr>
      <vt:lpstr>CI / CD</vt:lpstr>
      <vt:lpstr>CI / CD</vt:lpstr>
      <vt:lpstr>Continuous Integration</vt:lpstr>
      <vt:lpstr>Continuous Delivery</vt:lpstr>
      <vt:lpstr>How does Continuous Integration Work?</vt:lpstr>
      <vt:lpstr>Continuous Workflow (Cont.)</vt:lpstr>
      <vt:lpstr>Continuous Workflow (Cont.)</vt:lpstr>
      <vt:lpstr>Infrastructure as Code</vt:lpstr>
      <vt:lpstr>Infrastructure as Code (IaC)</vt:lpstr>
      <vt:lpstr>How does Infrastructure as Code work?</vt:lpstr>
      <vt:lpstr>Infrastructure as code benefits</vt:lpstr>
      <vt:lpstr>Tools for Infrastructure as Code</vt:lpstr>
      <vt:lpstr>  </vt:lpstr>
      <vt:lpstr>Configurations Management Tools types</vt:lpstr>
      <vt:lpstr>Source References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Muhammad Hanif</dc:creator>
  <cp:lastModifiedBy>Sharif Hussain</cp:lastModifiedBy>
  <cp:revision>1075</cp:revision>
  <dcterms:created xsi:type="dcterms:W3CDTF">2017-02-21T04:58:17Z</dcterms:created>
  <dcterms:modified xsi:type="dcterms:W3CDTF">2022-04-25T21:21:36Z</dcterms:modified>
</cp:coreProperties>
</file>