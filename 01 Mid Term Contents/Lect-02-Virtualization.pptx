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324" r:id="rId3"/>
    <p:sldId id="285" r:id="rId4"/>
    <p:sldId id="257" r:id="rId5"/>
    <p:sldId id="327" r:id="rId6"/>
    <p:sldId id="326" r:id="rId7"/>
    <p:sldId id="329" r:id="rId8"/>
    <p:sldId id="328" r:id="rId9"/>
    <p:sldId id="335" r:id="rId10"/>
    <p:sldId id="330" r:id="rId11"/>
    <p:sldId id="333" r:id="rId12"/>
    <p:sldId id="336" r:id="rId13"/>
    <p:sldId id="332" r:id="rId14"/>
    <p:sldId id="337" r:id="rId15"/>
    <p:sldId id="334" r:id="rId16"/>
    <p:sldId id="338" r:id="rId17"/>
    <p:sldId id="339" r:id="rId18"/>
    <p:sldId id="343" r:id="rId19"/>
    <p:sldId id="340" r:id="rId20"/>
    <p:sldId id="341" r:id="rId21"/>
    <p:sldId id="30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1" autoAdjust="0"/>
    <p:restoredTop sz="94660"/>
  </p:normalViewPr>
  <p:slideViewPr>
    <p:cSldViewPr snapToGrid="0">
      <p:cViewPr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1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4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2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5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6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09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77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A0F82-837D-4582-8679-71A595E2155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25C6B-C1FE-4297-863E-68E85899D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2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697" y="3081496"/>
            <a:ext cx="9144000" cy="962706"/>
          </a:xfrm>
        </p:spPr>
        <p:txBody>
          <a:bodyPr>
            <a:normAutofit/>
          </a:bodyPr>
          <a:lstStyle/>
          <a:p>
            <a:r>
              <a:rPr lang="en-US" dirty="0" smtClean="0"/>
              <a:t>Lecture-02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697" y="3562849"/>
            <a:ext cx="9144000" cy="1655762"/>
          </a:xfrm>
        </p:spPr>
        <p:txBody>
          <a:bodyPr/>
          <a:lstStyle/>
          <a:p>
            <a:r>
              <a:rPr lang="en-US" i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4583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6434" y="377780"/>
            <a:ext cx="9144000" cy="967694"/>
          </a:xfrm>
        </p:spPr>
        <p:txBody>
          <a:bodyPr/>
          <a:lstStyle/>
          <a:p>
            <a:pPr algn="l"/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0937" y="1929989"/>
            <a:ext cx="9144000" cy="4340182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Cloud Computing Architecture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Services Structure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Virtualization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Hypervisor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Virtualizations </a:t>
            </a:r>
            <a:r>
              <a:rPr lang="en-US" dirty="0" smtClean="0"/>
              <a:t>Architectures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Vmware</a:t>
            </a:r>
            <a:r>
              <a:rPr lang="en-US" dirty="0"/>
              <a:t> workstation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Containerization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Containers VS Virtual </a:t>
            </a:r>
            <a:r>
              <a:rPr lang="en-US" dirty="0" smtClean="0"/>
              <a:t>Machines.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960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Cloud </a:t>
            </a:r>
            <a:r>
              <a:rPr lang="en-US" b="1" i="1" dirty="0" smtClean="0"/>
              <a:t>Computing Services Structure 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566587"/>
              </p:ext>
            </p:extLst>
          </p:nvPr>
        </p:nvGraphicFramePr>
        <p:xfrm>
          <a:off x="838200" y="1825625"/>
          <a:ext cx="10515600" cy="458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397035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45939647"/>
                    </a:ext>
                  </a:extLst>
                </a:gridCol>
              </a:tblGrid>
              <a:tr h="45882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55556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3"/>
          <a:stretch/>
        </p:blipFill>
        <p:spPr>
          <a:xfrm>
            <a:off x="1243148" y="2819990"/>
            <a:ext cx="4714400" cy="25995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336" y="2219454"/>
            <a:ext cx="3302317" cy="380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6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Cloud Computing Architecture: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Cloud </a:t>
            </a:r>
            <a:r>
              <a:rPr lang="en-US" dirty="0"/>
              <a:t>computing architecture </a:t>
            </a:r>
            <a:r>
              <a:rPr lang="en-US" dirty="0" smtClean="0"/>
              <a:t>are build on </a:t>
            </a:r>
            <a:r>
              <a:rPr lang="en-US" b="1" dirty="0" smtClean="0"/>
              <a:t>service-oriented architecture</a:t>
            </a:r>
            <a:r>
              <a:rPr lang="en-US" dirty="0"/>
              <a:t> </a:t>
            </a:r>
            <a:r>
              <a:rPr lang="en-US" dirty="0" smtClean="0"/>
              <a:t>(SOA) base.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(</a:t>
            </a:r>
            <a:r>
              <a:rPr lang="en-US" dirty="0" smtClean="0"/>
              <a:t>SOA </a:t>
            </a:r>
            <a:r>
              <a:rPr lang="en-US" dirty="0"/>
              <a:t>is a software design where services are provided to the other components by application components, through a communication protocol over a </a:t>
            </a:r>
            <a:r>
              <a:rPr lang="en-US" dirty="0" smtClean="0"/>
              <a:t>network, they provide </a:t>
            </a:r>
            <a:r>
              <a:rPr lang="en-US" dirty="0"/>
              <a:t>interoperability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34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24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Cloud Computing Architecture (Cont.)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594" y="1337987"/>
            <a:ext cx="7136811" cy="5157462"/>
          </a:xfr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1949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24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Cloud Computing Architecture (Cont.)</a:t>
            </a: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i="1" dirty="0"/>
              <a:t>Front End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Client Infrastructure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Client Infrastructure refers to the frontend components. It contains the applications and user interfaces which are required to access the cloud platform.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3245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24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Cloud Computing Architecture (Cont.)</a:t>
            </a: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82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i="1" dirty="0" smtClean="0"/>
              <a:t>Back End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000" dirty="0"/>
              <a:t>The back end is used by the service provider.</a:t>
            </a:r>
          </a:p>
          <a:p>
            <a:pPr marL="571500" indent="-571500" fontAlgn="base">
              <a:lnSpc>
                <a:spcPct val="110000"/>
              </a:lnSpc>
              <a:buFont typeface="+mj-lt"/>
              <a:buAutoNum type="romanUcPeriod"/>
            </a:pPr>
            <a:r>
              <a:rPr lang="en-US" sz="2400" b="1" dirty="0" smtClean="0"/>
              <a:t>Application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/>
              <a:t>Application in backend refers to a software or platform to which client accesses. Means it provides the service in backend as per the client </a:t>
            </a:r>
            <a:r>
              <a:rPr lang="en-US" sz="2000" dirty="0" smtClean="0"/>
              <a:t>requirement.</a:t>
            </a:r>
          </a:p>
          <a:p>
            <a:pPr marL="514350" indent="-514350" fontAlgn="base">
              <a:buFont typeface="+mj-lt"/>
              <a:buAutoNum type="romanUcPeriod"/>
            </a:pPr>
            <a:r>
              <a:rPr lang="en-US" sz="2400" b="1" dirty="0"/>
              <a:t>Service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/>
              <a:t>Service in backend refers to the cloud based services like SaaS, PaaS, and IaaS. Also manages which type of service the user accesses.</a:t>
            </a:r>
          </a:p>
          <a:p>
            <a:pPr marL="514350" indent="-514350" fontAlgn="base">
              <a:buFont typeface="+mj-lt"/>
              <a:buAutoNum type="romanUcPeriod"/>
            </a:pPr>
            <a:r>
              <a:rPr lang="en-US" sz="2400" b="1" dirty="0"/>
              <a:t>Cloud Runtime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/>
              <a:t>Runtime cloud in backend refers to provide of execution and runtime facilities to the virtual machine.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19537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24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/>
              <a:t>Cloud Computing Architecture (Cont.)</a:t>
            </a:r>
            <a:endParaRPr lang="en-US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337987"/>
            <a:ext cx="10515600" cy="4838976"/>
          </a:xfrm>
        </p:spPr>
        <p:txBody>
          <a:bodyPr>
            <a:normAutofit/>
          </a:bodyPr>
          <a:lstStyle/>
          <a:p>
            <a:pPr marL="571500" indent="-571500" fontAlgn="base">
              <a:buFont typeface="+mj-lt"/>
              <a:buAutoNum type="romanUcPeriod" startAt="4"/>
            </a:pPr>
            <a:r>
              <a:rPr lang="en-US" sz="2400" b="1" dirty="0"/>
              <a:t>Storage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/>
              <a:t>Storage in backend refers to provide flexible and scalable storage service and management of stored data.</a:t>
            </a:r>
          </a:p>
          <a:p>
            <a:pPr marL="514350" indent="-514350" fontAlgn="base">
              <a:buFont typeface="+mj-lt"/>
              <a:buAutoNum type="romanUcPeriod" startAt="4"/>
            </a:pPr>
            <a:r>
              <a:rPr lang="en-US" sz="2400" b="1" dirty="0"/>
              <a:t>Infrastructure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/>
              <a:t>Cloud Infrastructure in backend refers to hardware components of cloud like it includes servers, storage, network devices, virtualization software etc.</a:t>
            </a:r>
          </a:p>
          <a:p>
            <a:pPr marL="514350" indent="-514350" fontAlgn="base">
              <a:buFont typeface="+mj-lt"/>
              <a:buAutoNum type="romanUcPeriod" startAt="4"/>
            </a:pPr>
            <a:r>
              <a:rPr lang="en-US" sz="2400" b="1" dirty="0"/>
              <a:t>Management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/>
              <a:t>Back-end  components which is used to manage the application, service, runtime cloud, storage, infrastructure, and other security issues in the backend and establish coordination between them.</a:t>
            </a:r>
          </a:p>
          <a:p>
            <a:pPr marL="514350" indent="-514350" fontAlgn="base">
              <a:buFont typeface="+mj-lt"/>
              <a:buAutoNum type="romanUcPeriod" startAt="4"/>
            </a:pPr>
            <a:r>
              <a:rPr lang="en-US" sz="2400" b="1" dirty="0"/>
              <a:t>Security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/>
              <a:t>To implementation of different security mechanisms in the backend for secure cloud resources.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457200" lvl="1" indent="0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230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Virtualization is a </a:t>
            </a:r>
            <a:r>
              <a:rPr lang="en-US" dirty="0"/>
              <a:t>technology</a:t>
            </a:r>
            <a:r>
              <a:rPr lang="en-US" dirty="0" smtClean="0"/>
              <a:t>, </a:t>
            </a:r>
            <a:r>
              <a:rPr lang="en-US" dirty="0"/>
              <a:t>which creates a layer of abstraction between the applications and the underlying hardware or a host operating </a:t>
            </a:r>
            <a:r>
              <a:rPr lang="en-US" dirty="0" smtClean="0"/>
              <a:t>system.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 smtClean="0"/>
              <a:t>OR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Virtualization </a:t>
            </a:r>
            <a:r>
              <a:rPr lang="en-US" dirty="0"/>
              <a:t>is a technique, which allows to share a single physical instance of a resource or an application among multiple customers and </a:t>
            </a:r>
            <a:r>
              <a:rPr lang="en-US" dirty="0" smtClean="0"/>
              <a:t>organizations.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i="1" dirty="0" smtClean="0"/>
              <a:t>Virtualization </a:t>
            </a:r>
            <a:r>
              <a:rPr lang="en-US" dirty="0"/>
              <a:t>has been a big driver in the movement toward the cloud.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47929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Virtualization (Cont.)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7"/>
          <a:stretch/>
        </p:blipFill>
        <p:spPr>
          <a:xfrm>
            <a:off x="4191000" y="2129246"/>
            <a:ext cx="3810000" cy="3645467"/>
          </a:xfrm>
        </p:spPr>
      </p:pic>
    </p:spTree>
    <p:extLst>
      <p:ext uri="{BB962C8B-B14F-4D97-AF65-F5344CB8AC3E}">
        <p14:creationId xmlns:p14="http://schemas.microsoft.com/office/powerpoint/2010/main" val="218765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Virtualization (Cont.)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machine on which the virtual machine is going to create is known as </a:t>
            </a:r>
            <a:r>
              <a:rPr lang="en-US" b="1" dirty="0"/>
              <a:t>Host Machine</a:t>
            </a:r>
            <a:r>
              <a:rPr lang="en-US" dirty="0"/>
              <a:t> and that virtual machine is referred as a </a:t>
            </a:r>
            <a:r>
              <a:rPr lang="en-US" b="1" dirty="0"/>
              <a:t>Guest </a:t>
            </a:r>
            <a:r>
              <a:rPr lang="en-US" b="1" dirty="0" smtClean="0"/>
              <a:t>Machine.</a:t>
            </a:r>
          </a:p>
          <a:p>
            <a:pPr algn="just"/>
            <a:r>
              <a:rPr lang="en-US" dirty="0" smtClean="0"/>
              <a:t>This virtual machine is managed by a software or firmware, which is known as </a:t>
            </a:r>
            <a:r>
              <a:rPr lang="en-US" b="1" dirty="0" smtClean="0"/>
              <a:t>hypervisor.</a:t>
            </a:r>
          </a:p>
          <a:p>
            <a:pPr marL="0" indent="0" algn="just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7502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 smtClean="0"/>
              <a:t>Hypervisor 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A</a:t>
            </a:r>
            <a:r>
              <a:rPr lang="en-US" dirty="0"/>
              <a:t> hypervisor, also known as a virtual machine monitor or </a:t>
            </a:r>
            <a:r>
              <a:rPr lang="en-US" dirty="0" smtClean="0"/>
              <a:t>VMM.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VMM is a software </a:t>
            </a:r>
            <a:r>
              <a:rPr lang="en-US" dirty="0"/>
              <a:t>that creates and runs virtual machines (VMs</a:t>
            </a:r>
            <a:r>
              <a:rPr lang="en-US" dirty="0" smtClean="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hypervisor allows one host computer to support multiple guest VMs by virtually sharing its resources, such as memory and processing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 well-known example of a hosted hypervisor is Oracle VM </a:t>
            </a:r>
            <a:r>
              <a:rPr lang="en-US" dirty="0" err="1"/>
              <a:t>VirtualBox</a:t>
            </a:r>
            <a:r>
              <a:rPr lang="en-US" dirty="0"/>
              <a:t>. Others include VMware Server and Workstation, Microsoft Virtual PC, KVM, </a:t>
            </a:r>
            <a:r>
              <a:rPr lang="en-US" dirty="0" smtClean="0"/>
              <a:t>QEMU</a:t>
            </a:r>
            <a:r>
              <a:rPr lang="en-US" dirty="0"/>
              <a:t> and Parallels.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67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i="1" dirty="0" smtClean="0"/>
              <a:t>Operating System And virtualizations Architectures</a:t>
            </a:r>
            <a:endParaRPr lang="en-US" b="1" i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011" y="1886743"/>
            <a:ext cx="9135972" cy="4413897"/>
          </a:xfrm>
        </p:spPr>
      </p:pic>
    </p:spTree>
    <p:extLst>
      <p:ext uri="{BB962C8B-B14F-4D97-AF65-F5344CB8AC3E}">
        <p14:creationId xmlns:p14="http://schemas.microsoft.com/office/powerpoint/2010/main" val="1654854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24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Benefits Of Virtualization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More </a:t>
            </a:r>
            <a:r>
              <a:rPr lang="en-US" dirty="0"/>
              <a:t>flexible and efficient allocation of </a:t>
            </a:r>
            <a:r>
              <a:rPr lang="en-US" dirty="0" smtClean="0"/>
              <a:t>resources.</a:t>
            </a:r>
            <a:endParaRPr lang="en-US" dirty="0"/>
          </a:p>
          <a:p>
            <a:r>
              <a:rPr lang="en-US" dirty="0" smtClean="0"/>
              <a:t>Enhance </a:t>
            </a:r>
            <a:r>
              <a:rPr lang="en-US" dirty="0"/>
              <a:t>development </a:t>
            </a:r>
            <a:r>
              <a:rPr lang="en-US" dirty="0" smtClean="0"/>
              <a:t>productivity.</a:t>
            </a:r>
            <a:endParaRPr lang="en-US" dirty="0"/>
          </a:p>
          <a:p>
            <a:r>
              <a:rPr lang="en-US" dirty="0" smtClean="0"/>
              <a:t>It </a:t>
            </a:r>
            <a:r>
              <a:rPr lang="en-US" dirty="0"/>
              <a:t>lowers the cost of IT </a:t>
            </a:r>
            <a:r>
              <a:rPr lang="en-US" dirty="0" smtClean="0"/>
              <a:t>infrastructure.</a:t>
            </a:r>
            <a:endParaRPr lang="en-US" dirty="0"/>
          </a:p>
          <a:p>
            <a:r>
              <a:rPr lang="en-US" dirty="0" smtClean="0"/>
              <a:t>Remote </a:t>
            </a:r>
            <a:r>
              <a:rPr lang="en-US" dirty="0"/>
              <a:t>access and rapid </a:t>
            </a:r>
            <a:r>
              <a:rPr lang="en-US" dirty="0" smtClean="0"/>
              <a:t>scalability.</a:t>
            </a:r>
            <a:endParaRPr lang="en-US" dirty="0"/>
          </a:p>
          <a:p>
            <a:r>
              <a:rPr lang="en-US" dirty="0" smtClean="0"/>
              <a:t>High </a:t>
            </a:r>
            <a:r>
              <a:rPr lang="en-US" dirty="0"/>
              <a:t>availability and disaster </a:t>
            </a:r>
            <a:r>
              <a:rPr lang="en-US" dirty="0" smtClean="0"/>
              <a:t>recovery.</a:t>
            </a:r>
            <a:endParaRPr lang="en-US" dirty="0"/>
          </a:p>
          <a:p>
            <a:r>
              <a:rPr lang="en-US" dirty="0" smtClean="0"/>
              <a:t>Pay </a:t>
            </a:r>
            <a:r>
              <a:rPr lang="en-US" dirty="0"/>
              <a:t>peruse of the IT infrastructure on </a:t>
            </a:r>
            <a:r>
              <a:rPr lang="en-US" dirty="0" smtClean="0"/>
              <a:t>demand.</a:t>
            </a:r>
            <a:endParaRPr lang="en-US" dirty="0"/>
          </a:p>
          <a:p>
            <a:r>
              <a:rPr lang="en-US" dirty="0" smtClean="0"/>
              <a:t>Enables </a:t>
            </a:r>
            <a:r>
              <a:rPr lang="en-US" dirty="0"/>
              <a:t>running multiple operating systems. </a:t>
            </a:r>
          </a:p>
        </p:txBody>
      </p:sp>
    </p:spTree>
    <p:extLst>
      <p:ext uri="{BB962C8B-B14F-4D97-AF65-F5344CB8AC3E}">
        <p14:creationId xmlns:p14="http://schemas.microsoft.com/office/powerpoint/2010/main" val="361268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b="1" i="1" dirty="0"/>
              <a:t>Linux Operating System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Vmware</a:t>
            </a:r>
            <a:r>
              <a:rPr lang="en-US" dirty="0" smtClean="0"/>
              <a:t> </a:t>
            </a:r>
            <a:r>
              <a:rPr lang="en-US" dirty="0"/>
              <a:t>workstation software is used to do the virtualization of Operating </a:t>
            </a:r>
            <a:r>
              <a:rPr lang="en-US" dirty="0" smtClean="0"/>
              <a:t>System.</a:t>
            </a:r>
          </a:p>
          <a:p>
            <a:r>
              <a:rPr lang="en-US" dirty="0" smtClean="0"/>
              <a:t>For </a:t>
            </a:r>
            <a:r>
              <a:rPr lang="en-US" dirty="0"/>
              <a:t>installing any Operating System virtually, you need to install VMware software.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are using VMware </a:t>
            </a:r>
            <a:r>
              <a:rPr lang="en-US" dirty="0" smtClean="0"/>
              <a:t>workstation.</a:t>
            </a:r>
            <a:endParaRPr lang="en-US" dirty="0"/>
          </a:p>
          <a:p>
            <a:r>
              <a:rPr lang="en-US" dirty="0"/>
              <a:t>Before installing </a:t>
            </a:r>
            <a:r>
              <a:rPr lang="en-US" dirty="0" err="1"/>
              <a:t>linux</a:t>
            </a:r>
            <a:r>
              <a:rPr lang="en-US" dirty="0"/>
              <a:t> OS, you need to have </a:t>
            </a:r>
            <a:r>
              <a:rPr lang="en-US" dirty="0" err="1"/>
              <a:t>iso</a:t>
            </a:r>
            <a:r>
              <a:rPr lang="en-US" dirty="0"/>
              <a:t> image file of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en-US" dirty="0" smtClean="0"/>
              <a:t>OS.</a:t>
            </a:r>
          </a:p>
          <a:p>
            <a:r>
              <a:rPr lang="en-US" dirty="0" smtClean="0"/>
              <a:t>Let's </a:t>
            </a:r>
            <a:r>
              <a:rPr lang="en-US" dirty="0"/>
              <a:t>see the steps to install the 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virtually.</a:t>
            </a:r>
          </a:p>
          <a:p>
            <a:pPr marL="0" indent="0" algn="just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5125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749" y="3016251"/>
            <a:ext cx="6336184" cy="33742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Containerization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0452" y="1690688"/>
            <a:ext cx="10515600" cy="36389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Containerization is a operating system virtualization in </a:t>
            </a:r>
            <a:r>
              <a:rPr lang="en-US" dirty="0" smtClean="0"/>
              <a:t>which application </a:t>
            </a:r>
            <a:r>
              <a:rPr lang="en-US" dirty="0"/>
              <a:t>can run in isolated user spaces called </a:t>
            </a:r>
            <a:r>
              <a:rPr lang="en-US" dirty="0" smtClean="0"/>
              <a:t>containers.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Everything </a:t>
            </a:r>
            <a:r>
              <a:rPr lang="en-US" dirty="0"/>
              <a:t>an application needs is all its libraries , binaries ,resources , and its dependencies which are maintained by the containers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593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Containers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Containers </a:t>
            </a:r>
            <a:r>
              <a:rPr lang="en-US" sz="2400" dirty="0"/>
              <a:t>are packages of software that contain all of the necessary elements to run in any </a:t>
            </a:r>
            <a:r>
              <a:rPr lang="en-US" sz="2400" dirty="0" smtClean="0"/>
              <a:t>environment.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</a:t>
            </a:r>
            <a:r>
              <a:rPr lang="en-US" sz="2400" dirty="0" smtClean="0"/>
              <a:t>ontainers </a:t>
            </a:r>
            <a:r>
              <a:rPr lang="en-US" sz="2400" dirty="0"/>
              <a:t>virtualize the operating system and run </a:t>
            </a:r>
            <a:r>
              <a:rPr lang="en-US" sz="2400" dirty="0" smtClean="0"/>
              <a:t>anywhere.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Like private </a:t>
            </a:r>
            <a:r>
              <a:rPr lang="en-US" sz="2000" dirty="0"/>
              <a:t>data </a:t>
            </a:r>
            <a:r>
              <a:rPr lang="en-US" sz="2000" dirty="0" smtClean="0"/>
              <a:t>center.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Public cloud.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even on personal </a:t>
            </a:r>
            <a:r>
              <a:rPr lang="en-US" sz="2000" dirty="0"/>
              <a:t>laptop. </a:t>
            </a:r>
          </a:p>
        </p:txBody>
      </p:sp>
    </p:spTree>
    <p:extLst>
      <p:ext uri="{BB962C8B-B14F-4D97-AF65-F5344CB8AC3E}">
        <p14:creationId xmlns:p14="http://schemas.microsoft.com/office/powerpoint/2010/main" val="3102356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b="1" i="1" dirty="0"/>
              <a:t>Containers </a:t>
            </a:r>
            <a:r>
              <a:rPr lang="en-US" sz="4000" b="1" i="1" dirty="0" smtClean="0"/>
              <a:t>Tools</a:t>
            </a:r>
            <a:endParaRPr lang="en-US" sz="40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Docker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smtClean="0"/>
              <a:t>Kubernetes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22003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b="1" i="1" smtClean="0"/>
              <a:t>Containers vs </a:t>
            </a:r>
            <a:r>
              <a:rPr lang="en-US" sz="4000" b="1" i="1" dirty="0"/>
              <a:t>Virtual </a:t>
            </a:r>
            <a:r>
              <a:rPr lang="en-US" sz="4000" b="1" i="1" dirty="0" smtClean="0"/>
              <a:t>Machines</a:t>
            </a:r>
            <a:endParaRPr lang="en-US" sz="4000" b="1" i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5"/>
          <a:stretch/>
        </p:blipFill>
        <p:spPr>
          <a:xfrm>
            <a:off x="6455229" y="1930128"/>
            <a:ext cx="5366657" cy="471957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6" y="1980781"/>
            <a:ext cx="5598405" cy="46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64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1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b="1" i="1" dirty="0" smtClean="0"/>
              <a:t>Containers VS </a:t>
            </a:r>
            <a:r>
              <a:rPr lang="en-US" sz="4000" b="1" i="1" dirty="0"/>
              <a:t>Virtual </a:t>
            </a:r>
            <a:r>
              <a:rPr lang="en-US" sz="4000" b="1" i="1" dirty="0" smtClean="0"/>
              <a:t>Machines (Cont.)</a:t>
            </a:r>
            <a:endParaRPr lang="en-US" sz="4000" b="1" i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7802225"/>
              </p:ext>
            </p:extLst>
          </p:nvPr>
        </p:nvGraphicFramePr>
        <p:xfrm>
          <a:off x="838200" y="1825625"/>
          <a:ext cx="10515600" cy="4444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543161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37589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b="1" i="1" dirty="0" smtClean="0"/>
                        <a:t>Containers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i="1" dirty="0" smtClean="0"/>
                        <a:t>Virtual Machines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675085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Containers are an abstraction at the app layer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level</a:t>
                      </a:r>
                      <a:r>
                        <a:rPr lang="en-US" dirty="0" smtClean="0"/>
                        <a:t>) that packages code and dependencies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Virtual machines (VMs) are an abstraction of physical hardware turning one server into many servers (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level</a:t>
                      </a:r>
                      <a:r>
                        <a:rPr lang="en-US" dirty="0" smtClean="0"/>
                        <a:t>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077623"/>
                  </a:ext>
                </a:extLst>
              </a:tr>
              <a:tr h="416106"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Containers are much more lightweight than VMs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VM</a:t>
                      </a:r>
                      <a:r>
                        <a:rPr lang="en-US" baseline="0" dirty="0" smtClean="0"/>
                        <a:t> not lightweight.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13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Multiple containers can run on the same machine and share the OS kernel with other containers, each running as isolated processes in user space.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The hypervisor allows multiple VMs to run on a single machine.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422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 smtClean="0"/>
                        <a:t>Can handle more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Each VM includes a full copy of an operating system, the application, necessary binaries and libraries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80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 smtClean="0"/>
                        <a:t>Containers take up less space than VMs.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 smtClean="0"/>
                        <a:t>Container images are typically 10MBs in size.</a:t>
                      </a:r>
                      <a:endParaRPr lang="en-US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 smtClean="0"/>
                        <a:t>Taking up 10 GBs space.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 smtClean="0"/>
                        <a:t>VMs can also be slow to boot.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073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771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Cloud Computing </a:t>
            </a:r>
            <a:r>
              <a:rPr lang="en-US" dirty="0" smtClean="0"/>
              <a:t>Architecture</a:t>
            </a:r>
          </a:p>
          <a:p>
            <a:pPr lvl="1" algn="just"/>
            <a:r>
              <a:rPr lang="en-US" sz="2000" dirty="0"/>
              <a:t>Front </a:t>
            </a:r>
            <a:r>
              <a:rPr lang="en-US" sz="2000" dirty="0" smtClean="0"/>
              <a:t>End, Back-end</a:t>
            </a:r>
            <a:endParaRPr lang="en-US" sz="2000" dirty="0"/>
          </a:p>
          <a:p>
            <a:pPr algn="just"/>
            <a:r>
              <a:rPr lang="en-US" dirty="0" smtClean="0"/>
              <a:t>Virtualization</a:t>
            </a:r>
          </a:p>
          <a:p>
            <a:pPr lvl="1" algn="just"/>
            <a:r>
              <a:rPr lang="en-US" sz="2000" dirty="0" smtClean="0"/>
              <a:t>A technique</a:t>
            </a:r>
            <a:r>
              <a:rPr lang="en-US" sz="2000" dirty="0"/>
              <a:t>, which allows to share a single physical instance of a </a:t>
            </a:r>
            <a:r>
              <a:rPr lang="en-US" sz="2000" dirty="0" smtClean="0"/>
              <a:t>resource in multiple </a:t>
            </a:r>
            <a:r>
              <a:rPr lang="en-US" sz="2000" dirty="0"/>
              <a:t>customers and organizations</a:t>
            </a:r>
            <a:r>
              <a:rPr lang="en-US" sz="2000" dirty="0" smtClean="0"/>
              <a:t>.</a:t>
            </a:r>
            <a:endParaRPr lang="en-US" dirty="0"/>
          </a:p>
          <a:p>
            <a:pPr algn="just"/>
            <a:r>
              <a:rPr lang="en-US" dirty="0"/>
              <a:t>H</a:t>
            </a:r>
            <a:r>
              <a:rPr lang="en-US" dirty="0" smtClean="0"/>
              <a:t>ypervisor</a:t>
            </a:r>
            <a:endParaRPr lang="en-US" dirty="0"/>
          </a:p>
          <a:p>
            <a:pPr lvl="1" algn="just"/>
            <a:r>
              <a:rPr lang="en-US" sz="2000" dirty="0" err="1"/>
              <a:t>Vmware</a:t>
            </a:r>
            <a:r>
              <a:rPr lang="en-US" sz="2000" dirty="0"/>
              <a:t> </a:t>
            </a:r>
            <a:r>
              <a:rPr lang="en-US" sz="2000" dirty="0" smtClean="0"/>
              <a:t>workstation</a:t>
            </a:r>
          </a:p>
          <a:p>
            <a:pPr algn="just"/>
            <a:r>
              <a:rPr lang="en-US" dirty="0"/>
              <a:t>Containerization</a:t>
            </a:r>
          </a:p>
          <a:p>
            <a:pPr algn="just"/>
            <a:r>
              <a:rPr lang="en-US" dirty="0"/>
              <a:t>Containers VS Virtual Machines</a:t>
            </a:r>
          </a:p>
        </p:txBody>
      </p:sp>
    </p:spTree>
    <p:extLst>
      <p:ext uri="{BB962C8B-B14F-4D97-AF65-F5344CB8AC3E}">
        <p14:creationId xmlns:p14="http://schemas.microsoft.com/office/powerpoint/2010/main" val="170208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2521</TotalTime>
  <Words>909</Words>
  <Application>Microsoft Office PowerPoint</Application>
  <PresentationFormat>Widescreen</PresentationFormat>
  <Paragraphs>100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Lecture-02</vt:lpstr>
      <vt:lpstr>Contents</vt:lpstr>
      <vt:lpstr>Cloud Computing Services Structure </vt:lpstr>
      <vt:lpstr>Cloud Computing Architecture:</vt:lpstr>
      <vt:lpstr>Cloud Computing Architecture (Cont.)</vt:lpstr>
      <vt:lpstr>Cloud Computing Architecture (Cont.)</vt:lpstr>
      <vt:lpstr>Cloud Computing Architecture (Cont.)</vt:lpstr>
      <vt:lpstr>Cloud Computing Architecture (Cont.)</vt:lpstr>
      <vt:lpstr>Virtualization</vt:lpstr>
      <vt:lpstr>Virtualization (Cont.) </vt:lpstr>
      <vt:lpstr>Virtualization (Cont.) </vt:lpstr>
      <vt:lpstr>Hypervisor </vt:lpstr>
      <vt:lpstr>Operating System And virtualizations Architectures</vt:lpstr>
      <vt:lpstr>Benefits Of Virtualization</vt:lpstr>
      <vt:lpstr>Linux Operating System Virtualization</vt:lpstr>
      <vt:lpstr>Containerization</vt:lpstr>
      <vt:lpstr>Containers</vt:lpstr>
      <vt:lpstr>Containers Tools</vt:lpstr>
      <vt:lpstr>Containers vs Virtual Machines</vt:lpstr>
      <vt:lpstr>Containers VS Virtual Machines (Cont.)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Muhammad Hanif</dc:creator>
  <cp:lastModifiedBy>Ahmad</cp:lastModifiedBy>
  <cp:revision>224</cp:revision>
  <dcterms:created xsi:type="dcterms:W3CDTF">2017-02-21T04:58:17Z</dcterms:created>
  <dcterms:modified xsi:type="dcterms:W3CDTF">2023-03-03T10:08:25Z</dcterms:modified>
</cp:coreProperties>
</file>