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24" r:id="rId3"/>
    <p:sldId id="339" r:id="rId4"/>
    <p:sldId id="343" r:id="rId5"/>
    <p:sldId id="344" r:id="rId6"/>
    <p:sldId id="345" r:id="rId7"/>
    <p:sldId id="346" r:id="rId8"/>
    <p:sldId id="356" r:id="rId9"/>
    <p:sldId id="349" r:id="rId10"/>
    <p:sldId id="348" r:id="rId11"/>
    <p:sldId id="350" r:id="rId12"/>
    <p:sldId id="351" r:id="rId13"/>
    <p:sldId id="352" r:id="rId14"/>
    <p:sldId id="347" r:id="rId15"/>
    <p:sldId id="353" r:id="rId16"/>
    <p:sldId id="355" r:id="rId17"/>
    <p:sldId id="354" r:id="rId18"/>
    <p:sldId id="359" r:id="rId19"/>
    <p:sldId id="357" r:id="rId20"/>
    <p:sldId id="360" r:id="rId21"/>
    <p:sldId id="362" r:id="rId22"/>
    <p:sldId id="363" r:id="rId23"/>
    <p:sldId id="364" r:id="rId24"/>
    <p:sldId id="365" r:id="rId25"/>
    <p:sldId id="366" r:id="rId26"/>
    <p:sldId id="367"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21" autoAdjust="0"/>
    <p:restoredTop sz="94660"/>
  </p:normalViewPr>
  <p:slideViewPr>
    <p:cSldViewPr snapToGrid="0">
      <p:cViewPr varScale="1">
        <p:scale>
          <a:sx n="88" d="100"/>
          <a:sy n="88" d="100"/>
        </p:scale>
        <p:origin x="48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8DA0F82-837D-4582-8679-71A595E2155B}" type="datetimeFigureOut">
              <a:rPr lang="en-US" smtClean="0"/>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DA0F82-837D-4582-8679-71A595E2155B}" type="datetimeFigureOut">
              <a:rPr lang="en-US" smtClean="0"/>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8DA0F82-837D-4582-8679-71A595E2155B}" type="datetimeFigureOut">
              <a:rPr lang="en-US" smtClean="0"/>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8DA0F82-837D-4582-8679-71A595E2155B}" type="datetimeFigureOut">
              <a:rPr lang="en-US" smtClean="0"/>
              <a:t>3/15/2023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8DA0F82-837D-4582-8679-71A595E2155B}" type="datetimeFigureOut">
              <a:rPr lang="en-US" smtClean="0"/>
              <a:t>3/15/2023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8DA0F82-837D-4582-8679-71A595E2155B}" type="datetimeFigureOut">
              <a:rPr lang="en-US" smtClean="0"/>
              <a:t>3/15/2023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DA0F82-837D-4582-8679-71A595E2155B}" type="datetimeFigureOut">
              <a:rPr lang="en-US" smtClean="0"/>
              <a:t>3/15/2023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8DA0F82-837D-4582-8679-71A595E2155B}" type="datetimeFigureOut">
              <a:rPr lang="en-US" smtClean="0"/>
              <a:t>3/15/2023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8DA0F82-837D-4582-8679-71A595E2155B}" type="datetimeFigureOut">
              <a:rPr lang="en-US" smtClean="0"/>
              <a:t>3/15/2023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DA0F82-837D-4582-8679-71A595E2155B}" type="datetimeFigureOut">
              <a:rPr lang="en-US" smtClean="0"/>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DA0F82-837D-4582-8679-71A595E2155B}" type="datetimeFigureOut">
              <a:rPr lang="en-US" smtClean="0"/>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DA0F82-837D-4582-8679-71A595E2155B}" type="datetimeFigureOut">
              <a:rPr lang="en-US" smtClean="0"/>
              <a:t>3/15/2023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docker.com/products/docker-desktop"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697" y="3081496"/>
            <a:ext cx="9144000" cy="962706"/>
          </a:xfrm>
        </p:spPr>
        <p:txBody>
          <a:bodyPr>
            <a:normAutofit fontScale="90000"/>
          </a:bodyPr>
          <a:lstStyle/>
          <a:p>
            <a:r>
              <a:rPr lang="en-US" dirty="0" smtClean="0"/>
              <a:t>Containers</a:t>
            </a:r>
            <a:br>
              <a:rPr lang="en-US" dirty="0" smtClean="0"/>
            </a:br>
            <a:r>
              <a:rPr lang="en-US" sz="2700" dirty="0" smtClean="0"/>
              <a:t>Instructor: Engr. Muhammad Ahmad Nawaz</a:t>
            </a:r>
            <a:endParaRPr lang="en-US" sz="2700" dirty="0"/>
          </a:p>
        </p:txBody>
      </p:sp>
      <p:sp>
        <p:nvSpPr>
          <p:cNvPr id="3" name="Subtitle 2"/>
          <p:cNvSpPr>
            <a:spLocks noGrp="1"/>
          </p:cNvSpPr>
          <p:nvPr>
            <p:ph type="subTitle" idx="1"/>
          </p:nvPr>
        </p:nvSpPr>
        <p:spPr>
          <a:xfrm>
            <a:off x="1876697" y="3562849"/>
            <a:ext cx="9144000" cy="1655762"/>
          </a:xfrm>
        </p:spPr>
        <p:txBody>
          <a:bodyPr/>
          <a:lstStyle/>
          <a:p>
            <a:r>
              <a:rPr lang="en-US" i="1" dirty="0" smtClean="0"/>
              <a:t> </a:t>
            </a:r>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6434" y="377780"/>
            <a:ext cx="9144000" cy="967694"/>
          </a:xfrm>
        </p:spPr>
        <p:txBody>
          <a:bodyPr/>
          <a:lstStyle/>
          <a:p>
            <a:pPr algn="l"/>
            <a:r>
              <a:rPr lang="en-US" dirty="0" smtClean="0"/>
              <a:t>Contents</a:t>
            </a:r>
            <a:endParaRPr lang="en-US" dirty="0"/>
          </a:p>
        </p:txBody>
      </p:sp>
      <p:sp>
        <p:nvSpPr>
          <p:cNvPr id="3" name="Subtitle 2"/>
          <p:cNvSpPr>
            <a:spLocks noGrp="1"/>
          </p:cNvSpPr>
          <p:nvPr>
            <p:ph type="subTitle" idx="1"/>
          </p:nvPr>
        </p:nvSpPr>
        <p:spPr>
          <a:xfrm>
            <a:off x="1510937" y="1929989"/>
            <a:ext cx="9144000" cy="4340182"/>
          </a:xfrm>
        </p:spPr>
        <p:txBody>
          <a:bodyPr>
            <a:noAutofit/>
          </a:bodyPr>
          <a:lstStyle/>
          <a:p>
            <a:pPr marL="342900" indent="-342900" algn="l">
              <a:buFont typeface="Arial" panose="020B0604020202020204" pitchFamily="34" charset="0"/>
              <a:buChar char="•"/>
            </a:pPr>
            <a:r>
              <a:rPr lang="en-US" dirty="0"/>
              <a:t>Containers</a:t>
            </a:r>
          </a:p>
          <a:p>
            <a:pPr marL="342900" indent="-342900" algn="l">
              <a:buFont typeface="Arial" panose="020B0604020202020204" pitchFamily="34" charset="0"/>
              <a:buChar char="•"/>
            </a:pPr>
            <a:r>
              <a:rPr lang="en-US" dirty="0" smtClean="0"/>
              <a:t>Containers </a:t>
            </a:r>
            <a:r>
              <a:rPr lang="en-US" dirty="0"/>
              <a:t>tools</a:t>
            </a:r>
          </a:p>
          <a:p>
            <a:pPr marL="342900" indent="-342900" algn="l">
              <a:buFont typeface="Arial" panose="020B0604020202020204" pitchFamily="34" charset="0"/>
              <a:buChar char="•"/>
            </a:pPr>
            <a:r>
              <a:rPr lang="en-US" dirty="0"/>
              <a:t>Docker</a:t>
            </a:r>
          </a:p>
          <a:p>
            <a:pPr marL="342900" indent="-342900" algn="l">
              <a:buFont typeface="Arial" panose="020B0604020202020204" pitchFamily="34" charset="0"/>
              <a:buChar char="•"/>
            </a:pPr>
            <a:r>
              <a:rPr lang="en-US" dirty="0"/>
              <a:t>Features of Docker</a:t>
            </a:r>
          </a:p>
          <a:p>
            <a:pPr marL="342900" indent="-342900" algn="l">
              <a:buFont typeface="Arial" panose="020B0604020202020204" pitchFamily="34" charset="0"/>
              <a:buChar char="•"/>
            </a:pPr>
            <a:r>
              <a:rPr lang="en-US" dirty="0"/>
              <a:t>Docker Architecture</a:t>
            </a:r>
          </a:p>
          <a:p>
            <a:pPr marL="342900" indent="-342900" algn="l">
              <a:buFont typeface="Arial" panose="020B0604020202020204" pitchFamily="34" charset="0"/>
              <a:buChar char="•"/>
            </a:pPr>
            <a:r>
              <a:rPr lang="en-US" dirty="0"/>
              <a:t>Docker Management</a:t>
            </a:r>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38819609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1" y="365125"/>
            <a:ext cx="10515600" cy="1325563"/>
          </a:xfrm>
        </p:spPr>
        <p:txBody>
          <a:bodyPr>
            <a:noAutofit/>
          </a:bodyPr>
          <a:lstStyle/>
          <a:p>
            <a:r>
              <a:rPr lang="en-US" sz="4000" b="1" i="1" dirty="0" smtClean="0"/>
              <a:t>Containers</a:t>
            </a:r>
            <a:endParaRPr lang="en-US" sz="4000" b="1" i="1" dirty="0"/>
          </a:p>
        </p:txBody>
      </p:sp>
      <p:sp>
        <p:nvSpPr>
          <p:cNvPr id="3" name="Content Placeholder 2"/>
          <p:cNvSpPr>
            <a:spLocks noGrp="1"/>
          </p:cNvSpPr>
          <p:nvPr>
            <p:ph idx="1"/>
          </p:nvPr>
        </p:nvSpPr>
        <p:spPr>
          <a:xfrm>
            <a:off x="838200" y="1825625"/>
            <a:ext cx="10515600" cy="4705804"/>
          </a:xfrm>
        </p:spPr>
        <p:txBody>
          <a:bodyPr>
            <a:noAutofit/>
          </a:bodyPr>
          <a:lstStyle/>
          <a:p>
            <a:pPr>
              <a:lnSpc>
                <a:spcPct val="150000"/>
              </a:lnSpc>
            </a:pPr>
            <a:r>
              <a:rPr lang="en-US" sz="2400" dirty="0" smtClean="0"/>
              <a:t>Containers </a:t>
            </a:r>
            <a:r>
              <a:rPr lang="en-US" sz="2400" dirty="0"/>
              <a:t>are packages of software that contain all of the necessary elements to run in any </a:t>
            </a:r>
            <a:r>
              <a:rPr lang="en-US" sz="2400" dirty="0" smtClean="0"/>
              <a:t>environment.</a:t>
            </a:r>
          </a:p>
          <a:p>
            <a:pPr>
              <a:lnSpc>
                <a:spcPct val="150000"/>
              </a:lnSpc>
            </a:pPr>
            <a:r>
              <a:rPr lang="en-US" b="1" dirty="0"/>
              <a:t>Containers</a:t>
            </a:r>
            <a:r>
              <a:rPr lang="en-US" dirty="0"/>
              <a:t> provide a standard method of packaging an application's code, runtime, system tools, system libraries, and configurations into one </a:t>
            </a:r>
            <a:r>
              <a:rPr lang="en-US" b="1" dirty="0" smtClean="0"/>
              <a:t>instance</a:t>
            </a:r>
            <a:r>
              <a:rPr lang="en-US" dirty="0" smtClean="0"/>
              <a:t>.</a:t>
            </a:r>
          </a:p>
          <a:p>
            <a:pPr>
              <a:lnSpc>
                <a:spcPct val="150000"/>
              </a:lnSpc>
            </a:pPr>
            <a:r>
              <a:rPr lang="en-US" dirty="0" smtClean="0"/>
              <a:t>Containers </a:t>
            </a:r>
            <a:r>
              <a:rPr lang="en-US" dirty="0"/>
              <a:t>share one </a:t>
            </a:r>
            <a:r>
              <a:rPr lang="en-US" b="1" dirty="0"/>
              <a:t>kernel</a:t>
            </a:r>
            <a:r>
              <a:rPr lang="en-US" dirty="0"/>
              <a:t> (operating system), which is installed on the hardware.</a:t>
            </a:r>
            <a:endParaRPr lang="en-US" sz="2400" dirty="0" smtClean="0"/>
          </a:p>
        </p:txBody>
      </p:sp>
    </p:spTree>
    <p:extLst>
      <p:ext uri="{BB962C8B-B14F-4D97-AF65-F5344CB8AC3E}">
        <p14:creationId xmlns:p14="http://schemas.microsoft.com/office/powerpoint/2010/main" val="31023564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1" y="365125"/>
            <a:ext cx="10515600" cy="1325563"/>
          </a:xfrm>
        </p:spPr>
        <p:txBody>
          <a:bodyPr>
            <a:noAutofit/>
          </a:bodyPr>
          <a:lstStyle/>
          <a:p>
            <a:r>
              <a:rPr lang="en-US" sz="4000" b="1" i="1" dirty="0"/>
              <a:t>Containers </a:t>
            </a:r>
            <a:r>
              <a:rPr lang="en-US" sz="4000" b="1" i="1" dirty="0" smtClean="0"/>
              <a:t>Tools</a:t>
            </a:r>
            <a:endParaRPr lang="en-US" sz="4000" b="1" i="1" dirty="0"/>
          </a:p>
        </p:txBody>
      </p:sp>
      <p:sp>
        <p:nvSpPr>
          <p:cNvPr id="3" name="Content Placeholder 2"/>
          <p:cNvSpPr>
            <a:spLocks noGrp="1"/>
          </p:cNvSpPr>
          <p:nvPr>
            <p:ph idx="1"/>
          </p:nvPr>
        </p:nvSpPr>
        <p:spPr/>
        <p:txBody>
          <a:bodyPr>
            <a:noAutofit/>
          </a:bodyPr>
          <a:lstStyle/>
          <a:p>
            <a:pPr marL="457200" indent="-457200">
              <a:lnSpc>
                <a:spcPct val="150000"/>
              </a:lnSpc>
              <a:buFont typeface="+mj-lt"/>
              <a:buAutoNum type="arabicPeriod"/>
            </a:pPr>
            <a:r>
              <a:rPr lang="en-US" sz="2400" b="1" dirty="0"/>
              <a:t>Docker</a:t>
            </a:r>
          </a:p>
          <a:p>
            <a:pPr marL="457200" indent="-457200">
              <a:lnSpc>
                <a:spcPct val="150000"/>
              </a:lnSpc>
              <a:buFont typeface="+mj-lt"/>
              <a:buAutoNum type="arabicPeriod"/>
            </a:pPr>
            <a:r>
              <a:rPr lang="en-US" sz="2400" b="1" dirty="0" smtClean="0"/>
              <a:t>Kubernetes</a:t>
            </a:r>
          </a:p>
          <a:p>
            <a:pPr>
              <a:lnSpc>
                <a:spcPct val="150000"/>
              </a:lnSpc>
              <a:buFont typeface="Wingdings" panose="05000000000000000000" pitchFamily="2" charset="2"/>
              <a:buChar char="Ø"/>
            </a:pPr>
            <a:r>
              <a:rPr lang="en-US" sz="2400" b="1" dirty="0" smtClean="0"/>
              <a:t>And many more</a:t>
            </a:r>
            <a:endParaRPr lang="en-US" sz="2400" b="1" dirty="0"/>
          </a:p>
        </p:txBody>
      </p:sp>
    </p:spTree>
    <p:extLst>
      <p:ext uri="{BB962C8B-B14F-4D97-AF65-F5344CB8AC3E}">
        <p14:creationId xmlns:p14="http://schemas.microsoft.com/office/powerpoint/2010/main" val="36220030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i="1" dirty="0"/>
              <a:t>What is Docker?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0244" y="2651174"/>
            <a:ext cx="5279572" cy="3579808"/>
          </a:xfrm>
          <a:prstGeom prst="rect">
            <a:avLst/>
          </a:prstGeom>
        </p:spPr>
      </p:pic>
      <p:sp>
        <p:nvSpPr>
          <p:cNvPr id="3" name="Content Placeholder 2"/>
          <p:cNvSpPr>
            <a:spLocks noGrp="1"/>
          </p:cNvSpPr>
          <p:nvPr>
            <p:ph idx="1"/>
          </p:nvPr>
        </p:nvSpPr>
        <p:spPr>
          <a:xfrm>
            <a:off x="838199" y="1812561"/>
            <a:ext cx="10761617" cy="4418421"/>
          </a:xfrm>
        </p:spPr>
        <p:txBody>
          <a:bodyPr>
            <a:normAutofit/>
          </a:bodyPr>
          <a:lstStyle/>
          <a:p>
            <a:pPr>
              <a:lnSpc>
                <a:spcPct val="150000"/>
              </a:lnSpc>
            </a:pPr>
            <a:r>
              <a:rPr lang="en-US" sz="2400" dirty="0"/>
              <a:t>Docker is a software platform that allows you to build, test, and </a:t>
            </a:r>
            <a:r>
              <a:rPr lang="en-US" sz="2400" dirty="0" smtClean="0"/>
              <a:t>deploy applications </a:t>
            </a:r>
            <a:r>
              <a:rPr lang="en-US" sz="2400" dirty="0"/>
              <a:t>quickly, packaging software into standardized units called containers</a:t>
            </a:r>
            <a:r>
              <a:rPr lang="en-US" sz="2400" dirty="0" smtClean="0"/>
              <a:t>.</a:t>
            </a:r>
          </a:p>
        </p:txBody>
      </p:sp>
    </p:spTree>
    <p:extLst>
      <p:ext uri="{BB962C8B-B14F-4D97-AF65-F5344CB8AC3E}">
        <p14:creationId xmlns:p14="http://schemas.microsoft.com/office/powerpoint/2010/main" val="26806527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i="1" dirty="0"/>
              <a:t>Features of </a:t>
            </a:r>
            <a:r>
              <a:rPr lang="en-US" sz="4000" b="1" i="1" dirty="0" smtClean="0"/>
              <a:t>Docker</a:t>
            </a:r>
            <a:endParaRPr lang="en-US" sz="4000" b="1" i="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8540" y="13064"/>
            <a:ext cx="2493460" cy="1690688"/>
          </a:xfrm>
          <a:prstGeom prst="rect">
            <a:avLst/>
          </a:prstGeom>
        </p:spPr>
      </p:pic>
      <p:sp>
        <p:nvSpPr>
          <p:cNvPr id="3" name="Content Placeholder 2"/>
          <p:cNvSpPr>
            <a:spLocks noGrp="1"/>
          </p:cNvSpPr>
          <p:nvPr>
            <p:ph idx="1"/>
          </p:nvPr>
        </p:nvSpPr>
        <p:spPr>
          <a:xfrm>
            <a:off x="838199" y="1812561"/>
            <a:ext cx="10761617" cy="4418421"/>
          </a:xfrm>
        </p:spPr>
        <p:txBody>
          <a:bodyPr>
            <a:normAutofit/>
          </a:bodyPr>
          <a:lstStyle/>
          <a:p>
            <a:pPr>
              <a:lnSpc>
                <a:spcPct val="150000"/>
              </a:lnSpc>
            </a:pPr>
            <a:r>
              <a:rPr lang="en-US" sz="2400" dirty="0"/>
              <a:t>Docker has the ability to reduce the size of development by providing a smaller footprint of the operating system via containers.</a:t>
            </a:r>
          </a:p>
          <a:p>
            <a:pPr>
              <a:lnSpc>
                <a:spcPct val="150000"/>
              </a:lnSpc>
            </a:pPr>
            <a:r>
              <a:rPr lang="en-US" sz="2400" dirty="0"/>
              <a:t>With containers, it becomes easier for teams across different units, such as development, QA and Operations to work seamlessly across applications.</a:t>
            </a:r>
          </a:p>
          <a:p>
            <a:pPr>
              <a:lnSpc>
                <a:spcPct val="150000"/>
              </a:lnSpc>
            </a:pPr>
            <a:r>
              <a:rPr lang="en-US" sz="2400" dirty="0"/>
              <a:t>You can deploy Docker containers anywhere, on any physical and virtual machines and even on the cloud.</a:t>
            </a:r>
          </a:p>
          <a:p>
            <a:pPr>
              <a:lnSpc>
                <a:spcPct val="150000"/>
              </a:lnSpc>
            </a:pPr>
            <a:r>
              <a:rPr lang="en-US" sz="2400" dirty="0"/>
              <a:t>Since Docker containers are pretty lightweight, they are very easily scalable.</a:t>
            </a:r>
          </a:p>
        </p:txBody>
      </p:sp>
    </p:spTree>
    <p:extLst>
      <p:ext uri="{BB962C8B-B14F-4D97-AF65-F5344CB8AC3E}">
        <p14:creationId xmlns:p14="http://schemas.microsoft.com/office/powerpoint/2010/main" val="8141239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i="1" dirty="0"/>
              <a:t>Features of </a:t>
            </a:r>
            <a:r>
              <a:rPr lang="en-US" sz="4000" b="1" i="1" dirty="0" smtClean="0"/>
              <a:t>Docker (Cont.)</a:t>
            </a:r>
            <a:endParaRPr lang="en-US" sz="4000" b="1" i="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8540" y="13064"/>
            <a:ext cx="2493460" cy="1690688"/>
          </a:xfrm>
          <a:prstGeom prst="rect">
            <a:avLst/>
          </a:prstGeom>
        </p:spPr>
      </p:pic>
      <p:sp>
        <p:nvSpPr>
          <p:cNvPr id="3" name="Content Placeholder 2"/>
          <p:cNvSpPr>
            <a:spLocks noGrp="1"/>
          </p:cNvSpPr>
          <p:nvPr>
            <p:ph idx="1"/>
          </p:nvPr>
        </p:nvSpPr>
        <p:spPr>
          <a:xfrm>
            <a:off x="838199" y="1812561"/>
            <a:ext cx="10761617" cy="4418421"/>
          </a:xfrm>
        </p:spPr>
        <p:txBody>
          <a:bodyPr>
            <a:normAutofit/>
          </a:bodyPr>
          <a:lstStyle/>
          <a:p>
            <a:r>
              <a:rPr lang="en-US" sz="2400" b="1" i="1" dirty="0"/>
              <a:t>Easy and Faster </a:t>
            </a:r>
            <a:r>
              <a:rPr lang="en-US" sz="2400" b="1" i="1" dirty="0" smtClean="0"/>
              <a:t>Configuration: </a:t>
            </a:r>
            <a:r>
              <a:rPr lang="en-US" sz="2000" dirty="0" smtClean="0"/>
              <a:t>Deploy </a:t>
            </a:r>
            <a:r>
              <a:rPr lang="en-US" sz="2000" dirty="0"/>
              <a:t>the code in less time and efforts.</a:t>
            </a:r>
          </a:p>
          <a:p>
            <a:r>
              <a:rPr lang="en-US" sz="2400" b="1" i="1" dirty="0"/>
              <a:t>Increase </a:t>
            </a:r>
            <a:r>
              <a:rPr lang="en-US" sz="2400" b="1" i="1" dirty="0" smtClean="0"/>
              <a:t>productivity: </a:t>
            </a:r>
            <a:r>
              <a:rPr lang="en-US" sz="2100" dirty="0" smtClean="0"/>
              <a:t>It </a:t>
            </a:r>
            <a:r>
              <a:rPr lang="en-US" sz="2100" dirty="0"/>
              <a:t>has increase productivity.  </a:t>
            </a:r>
            <a:endParaRPr lang="en-US" sz="2100" dirty="0" smtClean="0"/>
          </a:p>
          <a:p>
            <a:r>
              <a:rPr lang="en-US" sz="2400" b="1" i="1" dirty="0" smtClean="0"/>
              <a:t>Application Isolation: </a:t>
            </a:r>
            <a:r>
              <a:rPr lang="en-US" sz="2100" dirty="0"/>
              <a:t>It is used to run applications in isolation environment. Each container is independent to another and allows us to execute any kind of application</a:t>
            </a:r>
            <a:r>
              <a:rPr lang="en-US" sz="2100" dirty="0" smtClean="0"/>
              <a:t>.</a:t>
            </a:r>
            <a:endParaRPr lang="en-US" sz="2100" dirty="0"/>
          </a:p>
        </p:txBody>
      </p:sp>
    </p:spTree>
    <p:extLst>
      <p:ext uri="{BB962C8B-B14F-4D97-AF65-F5344CB8AC3E}">
        <p14:creationId xmlns:p14="http://schemas.microsoft.com/office/powerpoint/2010/main" val="14439390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i="1" dirty="0" smtClean="0"/>
              <a:t>Install </a:t>
            </a:r>
            <a:r>
              <a:rPr lang="en-US" sz="4000" b="1" i="1" dirty="0"/>
              <a:t>D</a:t>
            </a:r>
            <a:r>
              <a:rPr lang="en-US" sz="4000" b="1" i="1" dirty="0" smtClean="0"/>
              <a:t>ocker </a:t>
            </a:r>
            <a:r>
              <a:rPr lang="en-US" sz="4000" b="1" i="1" dirty="0"/>
              <a:t>on </a:t>
            </a:r>
            <a:r>
              <a:rPr lang="en-US" sz="4000" b="1" i="1" dirty="0" smtClean="0"/>
              <a:t>Windows</a:t>
            </a:r>
            <a:endParaRPr lang="en-US" sz="4000" b="1" i="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8540" y="13064"/>
            <a:ext cx="2493460" cy="1690688"/>
          </a:xfrm>
          <a:prstGeom prst="rect">
            <a:avLst/>
          </a:prstGeom>
        </p:spPr>
      </p:pic>
      <p:sp>
        <p:nvSpPr>
          <p:cNvPr id="3" name="Content Placeholder 2"/>
          <p:cNvSpPr>
            <a:spLocks noGrp="1"/>
          </p:cNvSpPr>
          <p:nvPr>
            <p:ph idx="1"/>
          </p:nvPr>
        </p:nvSpPr>
        <p:spPr>
          <a:xfrm>
            <a:off x="838199" y="1812561"/>
            <a:ext cx="10761617" cy="4418421"/>
          </a:xfrm>
        </p:spPr>
        <p:txBody>
          <a:bodyPr>
            <a:normAutofit/>
          </a:bodyPr>
          <a:lstStyle/>
          <a:p>
            <a:r>
              <a:rPr lang="en-US" dirty="0" smtClean="0"/>
              <a:t>Docker install on </a:t>
            </a:r>
            <a:r>
              <a:rPr lang="en-US" dirty="0"/>
              <a:t>any operating system </a:t>
            </a:r>
            <a:r>
              <a:rPr lang="en-US" dirty="0" smtClean="0"/>
              <a:t>i.e.</a:t>
            </a:r>
            <a:r>
              <a:rPr lang="en-US" dirty="0"/>
              <a:t> </a:t>
            </a:r>
            <a:r>
              <a:rPr lang="en-US" b="1" dirty="0"/>
              <a:t>Windows, Linux,</a:t>
            </a:r>
            <a:r>
              <a:rPr lang="en-US" dirty="0"/>
              <a:t> or </a:t>
            </a:r>
            <a:r>
              <a:rPr lang="en-US" b="1" dirty="0"/>
              <a:t>Mac</a:t>
            </a:r>
            <a:r>
              <a:rPr lang="en-US" dirty="0"/>
              <a:t>. </a:t>
            </a:r>
            <a:endParaRPr lang="en-US" dirty="0" smtClean="0"/>
          </a:p>
          <a:p>
            <a:r>
              <a:rPr lang="en-US" sz="2000" dirty="0">
                <a:hlinkClick r:id="rId3"/>
              </a:rPr>
              <a:t>https://www.docker.com/products/docker-desktop</a:t>
            </a:r>
            <a:r>
              <a:rPr lang="en-US" sz="2000" dirty="0"/>
              <a:t> </a:t>
            </a:r>
          </a:p>
        </p:txBody>
      </p:sp>
    </p:spTree>
    <p:extLst>
      <p:ext uri="{BB962C8B-B14F-4D97-AF65-F5344CB8AC3E}">
        <p14:creationId xmlns:p14="http://schemas.microsoft.com/office/powerpoint/2010/main" val="17970154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t>Docker Architecture</a:t>
            </a:r>
            <a:endParaRPr lang="en-US" sz="3600" b="1" i="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906" y="1428144"/>
            <a:ext cx="9220202" cy="5187254"/>
          </a:xfrm>
          <a:prstGeom prst="rect">
            <a:avLst/>
          </a:prstGeom>
          <a:ln>
            <a:solidFill>
              <a:schemeClr val="bg1">
                <a:lumMod val="95000"/>
              </a:schemeClr>
            </a:solidFill>
          </a:ln>
        </p:spPr>
      </p:pic>
      <p:sp>
        <p:nvSpPr>
          <p:cNvPr id="3" name="Content Placeholder 2"/>
          <p:cNvSpPr>
            <a:spLocks noGrp="1"/>
          </p:cNvSpPr>
          <p:nvPr>
            <p:ph idx="1"/>
          </p:nvPr>
        </p:nvSpPr>
        <p:spPr>
          <a:xfrm>
            <a:off x="838199" y="1812561"/>
            <a:ext cx="10761617" cy="4802837"/>
          </a:xfrm>
        </p:spPr>
        <p:txBody>
          <a:bodyPr>
            <a:normAutofit/>
          </a:bodyPr>
          <a:lstStyle/>
          <a:p>
            <a:pPr marL="0" indent="0">
              <a:lnSpc>
                <a:spcPct val="150000"/>
              </a:lnSpc>
              <a:buNone/>
            </a:pPr>
            <a:r>
              <a:rPr lang="en-US" sz="2400" dirty="0" smtClean="0"/>
              <a:t> </a:t>
            </a:r>
            <a:endParaRPr lang="en-US" sz="2400" dirty="0"/>
          </a:p>
        </p:txBody>
      </p:sp>
    </p:spTree>
    <p:extLst>
      <p:ext uri="{BB962C8B-B14F-4D97-AF65-F5344CB8AC3E}">
        <p14:creationId xmlns:p14="http://schemas.microsoft.com/office/powerpoint/2010/main" val="35392673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t>Docker Architecture </a:t>
            </a:r>
            <a:r>
              <a:rPr lang="en-US" sz="3600" b="1" i="1" dirty="0"/>
              <a:t>(Cont.)</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dirty="0" smtClean="0"/>
              <a:t>Docker </a:t>
            </a:r>
            <a:r>
              <a:rPr lang="en-US" dirty="0"/>
              <a:t>follows Client-Server </a:t>
            </a:r>
            <a:r>
              <a:rPr lang="en-US" dirty="0" smtClean="0"/>
              <a:t>architecture.</a:t>
            </a:r>
          </a:p>
          <a:p>
            <a:pPr>
              <a:lnSpc>
                <a:spcPct val="150000"/>
              </a:lnSpc>
            </a:pPr>
            <a:r>
              <a:rPr lang="en-US" dirty="0" smtClean="0"/>
              <a:t>There are three </a:t>
            </a:r>
            <a:r>
              <a:rPr lang="en-US" dirty="0"/>
              <a:t>main components that </a:t>
            </a:r>
            <a:r>
              <a:rPr lang="en-US" dirty="0" smtClean="0"/>
              <a:t>are:</a:t>
            </a:r>
          </a:p>
          <a:p>
            <a:pPr lvl="1">
              <a:lnSpc>
                <a:spcPct val="150000"/>
              </a:lnSpc>
            </a:pPr>
            <a:r>
              <a:rPr lang="en-US" b="1" dirty="0" smtClean="0"/>
              <a:t>Docker Client</a:t>
            </a:r>
            <a:endParaRPr lang="en-US" dirty="0"/>
          </a:p>
          <a:p>
            <a:pPr lvl="1">
              <a:lnSpc>
                <a:spcPct val="150000"/>
              </a:lnSpc>
            </a:pPr>
            <a:r>
              <a:rPr lang="en-US" b="1" dirty="0" smtClean="0"/>
              <a:t>Docker Host</a:t>
            </a:r>
            <a:endParaRPr lang="en-US" dirty="0"/>
          </a:p>
          <a:p>
            <a:pPr lvl="1">
              <a:lnSpc>
                <a:spcPct val="150000"/>
              </a:lnSpc>
            </a:pPr>
            <a:r>
              <a:rPr lang="en-US" b="1" dirty="0" smtClean="0"/>
              <a:t>Docker </a:t>
            </a:r>
            <a:r>
              <a:rPr lang="en-US" b="1" dirty="0"/>
              <a:t>Registry</a:t>
            </a:r>
            <a:r>
              <a:rPr lang="en-US" dirty="0"/>
              <a:t>.</a:t>
            </a:r>
            <a:endParaRPr lang="en-US" sz="20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Tree>
    <p:extLst>
      <p:ext uri="{BB962C8B-B14F-4D97-AF65-F5344CB8AC3E}">
        <p14:creationId xmlns:p14="http://schemas.microsoft.com/office/powerpoint/2010/main" val="25126514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t>Docker Architecture </a:t>
            </a:r>
            <a:r>
              <a:rPr lang="en-US" sz="3600" b="1" i="1" dirty="0"/>
              <a:t>(Cont.)</a:t>
            </a:r>
          </a:p>
        </p:txBody>
      </p:sp>
      <p:sp>
        <p:nvSpPr>
          <p:cNvPr id="3" name="Content Placeholder 2"/>
          <p:cNvSpPr>
            <a:spLocks noGrp="1"/>
          </p:cNvSpPr>
          <p:nvPr>
            <p:ph idx="1"/>
          </p:nvPr>
        </p:nvSpPr>
        <p:spPr>
          <a:xfrm>
            <a:off x="838199" y="1812561"/>
            <a:ext cx="10761617" cy="4802837"/>
          </a:xfrm>
        </p:spPr>
        <p:txBody>
          <a:bodyPr>
            <a:normAutofit fontScale="92500" lnSpcReduction="20000"/>
          </a:bodyPr>
          <a:lstStyle/>
          <a:p>
            <a:pPr>
              <a:lnSpc>
                <a:spcPct val="150000"/>
              </a:lnSpc>
            </a:pPr>
            <a:r>
              <a:rPr lang="en-US" sz="2400" b="1" dirty="0"/>
              <a:t>Docker </a:t>
            </a:r>
            <a:r>
              <a:rPr lang="en-US" sz="2400" b="1" dirty="0" smtClean="0"/>
              <a:t>Client</a:t>
            </a:r>
          </a:p>
          <a:p>
            <a:pPr lvl="1">
              <a:lnSpc>
                <a:spcPct val="150000"/>
              </a:lnSpc>
            </a:pPr>
            <a:r>
              <a:rPr lang="en-US" dirty="0"/>
              <a:t>Docker client uses </a:t>
            </a:r>
            <a:r>
              <a:rPr lang="en-US" b="1" dirty="0"/>
              <a:t>commands</a:t>
            </a:r>
            <a:r>
              <a:rPr lang="en-US" dirty="0"/>
              <a:t> and </a:t>
            </a:r>
            <a:r>
              <a:rPr lang="en-US" b="1" dirty="0"/>
              <a:t>REST APIs</a:t>
            </a:r>
            <a:r>
              <a:rPr lang="en-US" dirty="0"/>
              <a:t> to communicate with the Docker Daemon (</a:t>
            </a:r>
            <a:r>
              <a:rPr lang="en-US" dirty="0" smtClean="0"/>
              <a:t>Server).</a:t>
            </a:r>
          </a:p>
          <a:p>
            <a:pPr lvl="1">
              <a:lnSpc>
                <a:spcPct val="150000"/>
              </a:lnSpc>
            </a:pPr>
            <a:r>
              <a:rPr lang="en-US" dirty="0" smtClean="0"/>
              <a:t>When </a:t>
            </a:r>
            <a:r>
              <a:rPr lang="en-US" dirty="0"/>
              <a:t>a client runs any </a:t>
            </a:r>
            <a:r>
              <a:rPr lang="en-US" dirty="0" err="1"/>
              <a:t>docker</a:t>
            </a:r>
            <a:r>
              <a:rPr lang="en-US" dirty="0"/>
              <a:t> command on the </a:t>
            </a:r>
            <a:r>
              <a:rPr lang="en-US" dirty="0" err="1"/>
              <a:t>docker</a:t>
            </a:r>
            <a:r>
              <a:rPr lang="en-US" dirty="0"/>
              <a:t> client terminal, the client terminal sends these </a:t>
            </a:r>
            <a:r>
              <a:rPr lang="en-US" dirty="0" err="1"/>
              <a:t>docker</a:t>
            </a:r>
            <a:r>
              <a:rPr lang="en-US" dirty="0"/>
              <a:t> commands to the Docker daemon. Docker daemon receives these commands from the </a:t>
            </a:r>
            <a:r>
              <a:rPr lang="en-US" dirty="0" err="1"/>
              <a:t>docker</a:t>
            </a:r>
            <a:r>
              <a:rPr lang="en-US" dirty="0"/>
              <a:t> client in the form of command and REST API's request</a:t>
            </a:r>
            <a:r>
              <a:rPr lang="en-US" dirty="0" smtClean="0"/>
              <a:t>.</a:t>
            </a:r>
          </a:p>
          <a:p>
            <a:pPr lvl="1">
              <a:lnSpc>
                <a:spcPct val="150000"/>
              </a:lnSpc>
            </a:pPr>
            <a:r>
              <a:rPr lang="en-US" dirty="0" smtClean="0"/>
              <a:t>Some </a:t>
            </a:r>
            <a:r>
              <a:rPr lang="en-US" dirty="0" err="1" smtClean="0"/>
              <a:t>docker</a:t>
            </a:r>
            <a:r>
              <a:rPr lang="en-US" dirty="0" smtClean="0"/>
              <a:t> Commands</a:t>
            </a:r>
          </a:p>
          <a:p>
            <a:pPr lvl="2"/>
            <a:r>
              <a:rPr lang="en-US" dirty="0" err="1"/>
              <a:t>docker</a:t>
            </a:r>
            <a:r>
              <a:rPr lang="en-US" dirty="0"/>
              <a:t> </a:t>
            </a:r>
            <a:r>
              <a:rPr lang="en-US" dirty="0" smtClean="0"/>
              <a:t>build</a:t>
            </a:r>
          </a:p>
          <a:p>
            <a:pPr lvl="2"/>
            <a:r>
              <a:rPr lang="en-US" dirty="0" err="1" smtClean="0"/>
              <a:t>docker</a:t>
            </a:r>
            <a:r>
              <a:rPr lang="en-US" dirty="0" smtClean="0"/>
              <a:t> pull</a:t>
            </a:r>
          </a:p>
          <a:p>
            <a:pPr lvl="2"/>
            <a:r>
              <a:rPr lang="en-US" dirty="0" err="1" smtClean="0"/>
              <a:t>docker</a:t>
            </a:r>
            <a:r>
              <a:rPr lang="en-US" dirty="0" smtClean="0"/>
              <a:t> </a:t>
            </a:r>
            <a:r>
              <a:rPr lang="en-US" dirty="0"/>
              <a:t>run</a:t>
            </a:r>
          </a:p>
          <a:p>
            <a:pPr lvl="1">
              <a:lnSpc>
                <a:spcPct val="150000"/>
              </a:lnSpc>
            </a:pPr>
            <a:endParaRPr lang="en-US" sz="20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Tree>
    <p:extLst>
      <p:ext uri="{BB962C8B-B14F-4D97-AF65-F5344CB8AC3E}">
        <p14:creationId xmlns:p14="http://schemas.microsoft.com/office/powerpoint/2010/main" val="7799765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t>Docker Architecture </a:t>
            </a:r>
            <a:r>
              <a:rPr lang="en-US" sz="3600" b="1" i="1" dirty="0"/>
              <a:t>(Cont.)</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sz="2400" b="1" dirty="0" smtClean="0"/>
              <a:t>Docker </a:t>
            </a:r>
            <a:r>
              <a:rPr lang="en-US" sz="2400" b="1" dirty="0"/>
              <a:t>Registry</a:t>
            </a:r>
            <a:r>
              <a:rPr lang="en-US" sz="2400" b="1" dirty="0" smtClean="0"/>
              <a:t>.</a:t>
            </a:r>
          </a:p>
          <a:p>
            <a:r>
              <a:rPr lang="en-US" sz="2200" dirty="0" smtClean="0"/>
              <a:t> It </a:t>
            </a:r>
            <a:r>
              <a:rPr lang="en-US" sz="2200" dirty="0" smtClean="0"/>
              <a:t>is responsible to manages </a:t>
            </a:r>
            <a:r>
              <a:rPr lang="en-US" sz="2200" dirty="0"/>
              <a:t>and stores the Docker </a:t>
            </a:r>
            <a:r>
              <a:rPr lang="en-US" sz="2200" dirty="0" smtClean="0"/>
              <a:t>images</a:t>
            </a:r>
            <a:r>
              <a:rPr lang="en-US" sz="2200" dirty="0" smtClean="0"/>
              <a:t>.</a:t>
            </a:r>
          </a:p>
          <a:p>
            <a:pPr marL="0" indent="0">
              <a:buNone/>
            </a:pPr>
            <a:endParaRPr lang="en-US" sz="2200" dirty="0" smtClean="0"/>
          </a:p>
          <a:p>
            <a:r>
              <a:rPr lang="en-US" sz="2200" dirty="0"/>
              <a:t>Provide repositories facilities </a:t>
            </a:r>
            <a:r>
              <a:rPr lang="en-US" sz="2200" dirty="0" smtClean="0"/>
              <a:t>on </a:t>
            </a:r>
            <a:r>
              <a:rPr lang="en-US" sz="2200" dirty="0"/>
              <a:t>Docker hub (</a:t>
            </a:r>
            <a:r>
              <a:rPr lang="en-US" sz="2200" dirty="0">
                <a:hlinkClick r:id="rId2"/>
              </a:rPr>
              <a:t>https://hub.docker.com</a:t>
            </a:r>
            <a:r>
              <a:rPr lang="en-US" sz="2200" dirty="0" smtClean="0">
                <a:hlinkClick r:id="rId2"/>
              </a:rPr>
              <a:t>/</a:t>
            </a:r>
            <a:r>
              <a:rPr lang="en-US" sz="2200" dirty="0" smtClean="0"/>
              <a:t> </a:t>
            </a:r>
            <a:r>
              <a:rPr lang="en-US" sz="2200" dirty="0" smtClean="0"/>
              <a:t>) .</a:t>
            </a:r>
            <a:endParaRPr lang="en-US" sz="2200" dirty="0"/>
          </a:p>
          <a:p>
            <a:r>
              <a:rPr lang="en-US" sz="2200" dirty="0"/>
              <a:t>There are two types of </a:t>
            </a:r>
            <a:r>
              <a:rPr lang="en-US" sz="2200" dirty="0" smtClean="0"/>
              <a:t>registries</a:t>
            </a:r>
            <a:endParaRPr lang="en-US" sz="2200" dirty="0"/>
          </a:p>
          <a:p>
            <a:pPr lvl="1"/>
            <a:r>
              <a:rPr lang="en-US" sz="2000" b="1" dirty="0"/>
              <a:t>Pubic </a:t>
            </a:r>
            <a:r>
              <a:rPr lang="en-US" sz="2000" b="1" dirty="0" smtClean="0"/>
              <a:t>Registry</a:t>
            </a:r>
            <a:endParaRPr lang="en-US" sz="1800" dirty="0" smtClean="0"/>
          </a:p>
          <a:p>
            <a:pPr lvl="1"/>
            <a:r>
              <a:rPr lang="en-US" sz="2000" b="1" dirty="0"/>
              <a:t>Private Registry -</a:t>
            </a:r>
            <a:r>
              <a:rPr lang="en-US" sz="1800" dirty="0"/>
              <a:t> It is used to share images within the enterprise.</a:t>
            </a:r>
          </a:p>
          <a:p>
            <a:pPr marL="0" indent="0">
              <a:lnSpc>
                <a:spcPct val="150000"/>
              </a:lnSpc>
              <a:buNone/>
            </a:pPr>
            <a:endParaRPr lang="en-US" sz="2400" b="1"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Tree>
    <p:extLst>
      <p:ext uri="{BB962C8B-B14F-4D97-AF65-F5344CB8AC3E}">
        <p14:creationId xmlns:p14="http://schemas.microsoft.com/office/powerpoint/2010/main" val="11685937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smtClean="0"/>
              <a:t>Docker Architecture </a:t>
            </a:r>
            <a:r>
              <a:rPr lang="en-US" sz="3600" b="1" i="1" dirty="0"/>
              <a:t>(Cont.)</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sz="2400" b="1" dirty="0" smtClean="0"/>
              <a:t>Docker Host</a:t>
            </a:r>
          </a:p>
          <a:p>
            <a:pPr>
              <a:lnSpc>
                <a:spcPct val="150000"/>
              </a:lnSpc>
            </a:pPr>
            <a:r>
              <a:rPr lang="en-US" sz="2200" dirty="0" smtClean="0"/>
              <a:t>This component are use to </a:t>
            </a:r>
            <a:r>
              <a:rPr lang="en-US" sz="2200" dirty="0"/>
              <a:t>provide an environment to execute and run applications. It contains the </a:t>
            </a:r>
            <a:r>
              <a:rPr lang="en-US" sz="2200" dirty="0" err="1"/>
              <a:t>docker</a:t>
            </a:r>
            <a:r>
              <a:rPr lang="en-US" sz="2200" dirty="0"/>
              <a:t> daemon, images, containers, networks, and storage</a:t>
            </a:r>
            <a:r>
              <a:rPr lang="en-US" sz="2200" dirty="0" smtClean="0"/>
              <a:t>.</a:t>
            </a:r>
            <a:endParaRPr lang="en-US" sz="22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Tree>
    <p:extLst>
      <p:ext uri="{BB962C8B-B14F-4D97-AF65-F5344CB8AC3E}">
        <p14:creationId xmlns:p14="http://schemas.microsoft.com/office/powerpoint/2010/main" val="41211788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8540" y="13064"/>
            <a:ext cx="2493460" cy="1690688"/>
          </a:xfrm>
          <a:prstGeom prst="rect">
            <a:avLst/>
          </a:prstGeom>
        </p:spPr>
      </p:pic>
      <p:sp>
        <p:nvSpPr>
          <p:cNvPr id="2" name="Title 1"/>
          <p:cNvSpPr>
            <a:spLocks noGrp="1"/>
          </p:cNvSpPr>
          <p:nvPr>
            <p:ph type="title"/>
          </p:nvPr>
        </p:nvSpPr>
        <p:spPr/>
        <p:txBody>
          <a:bodyPr>
            <a:normAutofit/>
          </a:bodyPr>
          <a:lstStyle/>
          <a:p>
            <a:r>
              <a:rPr lang="en-US" sz="4000" b="1" i="1" dirty="0" smtClean="0"/>
              <a:t>What </a:t>
            </a:r>
            <a:r>
              <a:rPr lang="en-US" sz="4000" b="1" i="1" dirty="0"/>
              <a:t>is Docker </a:t>
            </a:r>
            <a:r>
              <a:rPr lang="en-US" sz="4000" b="1" i="1" dirty="0" smtClean="0"/>
              <a:t>Daemon?</a:t>
            </a:r>
            <a:endParaRPr lang="en-US" sz="4000" b="1" i="1" dirty="0"/>
          </a:p>
        </p:txBody>
      </p:sp>
      <p:sp>
        <p:nvSpPr>
          <p:cNvPr id="3" name="Content Placeholder 2"/>
          <p:cNvSpPr>
            <a:spLocks noGrp="1"/>
          </p:cNvSpPr>
          <p:nvPr>
            <p:ph idx="1"/>
          </p:nvPr>
        </p:nvSpPr>
        <p:spPr>
          <a:xfrm>
            <a:off x="838199" y="1812561"/>
            <a:ext cx="10761617" cy="4418421"/>
          </a:xfrm>
        </p:spPr>
        <p:txBody>
          <a:bodyPr>
            <a:normAutofit/>
          </a:bodyPr>
          <a:lstStyle/>
          <a:p>
            <a:pPr>
              <a:lnSpc>
                <a:spcPct val="150000"/>
              </a:lnSpc>
            </a:pPr>
            <a:r>
              <a:rPr lang="en-US" sz="2400" dirty="0"/>
              <a:t>The Docker daemon is a service that runs on your host operating system.</a:t>
            </a:r>
          </a:p>
          <a:p>
            <a:pPr>
              <a:lnSpc>
                <a:spcPct val="150000"/>
              </a:lnSpc>
            </a:pPr>
            <a:r>
              <a:rPr lang="en-US" sz="2400" dirty="0"/>
              <a:t>Also know as </a:t>
            </a:r>
            <a:r>
              <a:rPr lang="en-US" sz="2400" dirty="0" smtClean="0"/>
              <a:t>Server</a:t>
            </a:r>
            <a:endParaRPr lang="en-US" sz="2400" dirty="0"/>
          </a:p>
          <a:p>
            <a:pPr>
              <a:lnSpc>
                <a:spcPct val="150000"/>
              </a:lnSpc>
            </a:pPr>
            <a:r>
              <a:rPr lang="en-US" sz="2400" dirty="0"/>
              <a:t>It is responsible for running containers to manage Docker services and communicates with other daemons.</a:t>
            </a:r>
          </a:p>
          <a:p>
            <a:pPr>
              <a:lnSpc>
                <a:spcPct val="150000"/>
              </a:lnSpc>
            </a:pPr>
            <a:r>
              <a:rPr lang="en-US" sz="2400" dirty="0"/>
              <a:t>It offers various Docker objects such as images, containers, networking, and storage.</a:t>
            </a:r>
          </a:p>
        </p:txBody>
      </p:sp>
    </p:spTree>
    <p:extLst>
      <p:ext uri="{BB962C8B-B14F-4D97-AF65-F5344CB8AC3E}">
        <p14:creationId xmlns:p14="http://schemas.microsoft.com/office/powerpoint/2010/main" val="22141012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Docker Host Objects</a:t>
            </a:r>
          </a:p>
        </p:txBody>
      </p:sp>
      <p:sp>
        <p:nvSpPr>
          <p:cNvPr id="3" name="Content Placeholder 2"/>
          <p:cNvSpPr>
            <a:spLocks noGrp="1"/>
          </p:cNvSpPr>
          <p:nvPr>
            <p:ph idx="1"/>
          </p:nvPr>
        </p:nvSpPr>
        <p:spPr>
          <a:xfrm>
            <a:off x="838199" y="1812561"/>
            <a:ext cx="10761617" cy="4802837"/>
          </a:xfrm>
        </p:spPr>
        <p:txBody>
          <a:bodyPr>
            <a:normAutofit fontScale="77500" lnSpcReduction="20000"/>
          </a:bodyPr>
          <a:lstStyle/>
          <a:p>
            <a:r>
              <a:rPr lang="en-US" sz="2400" b="1" dirty="0" smtClean="0"/>
              <a:t>Docker </a:t>
            </a:r>
            <a:r>
              <a:rPr lang="en-US" sz="2400" b="1" dirty="0"/>
              <a:t>Images</a:t>
            </a:r>
          </a:p>
          <a:p>
            <a:pPr lvl="1">
              <a:lnSpc>
                <a:spcPct val="150000"/>
              </a:lnSpc>
            </a:pPr>
            <a:r>
              <a:rPr lang="en-US" dirty="0" smtClean="0"/>
              <a:t>A </a:t>
            </a:r>
            <a:r>
              <a:rPr lang="en-US" dirty="0"/>
              <a:t>Docker Image is a read-only file with a bunch of </a:t>
            </a:r>
            <a:r>
              <a:rPr lang="en-US" dirty="0" smtClean="0"/>
              <a:t>instructions. When </a:t>
            </a:r>
            <a:r>
              <a:rPr lang="en-US" dirty="0"/>
              <a:t>these instructions are executed, it creates a Docker container.</a:t>
            </a:r>
          </a:p>
          <a:p>
            <a:pPr lvl="1">
              <a:lnSpc>
                <a:spcPct val="150000"/>
              </a:lnSpc>
            </a:pPr>
            <a:r>
              <a:rPr lang="en-US" dirty="0"/>
              <a:t>It use to describe about the container registry are public or </a:t>
            </a:r>
            <a:r>
              <a:rPr lang="en-US" dirty="0" smtClean="0"/>
              <a:t>private.</a:t>
            </a:r>
          </a:p>
          <a:p>
            <a:pPr lvl="1">
              <a:lnSpc>
                <a:spcPct val="150000"/>
              </a:lnSpc>
            </a:pPr>
            <a:r>
              <a:rPr lang="en-US" dirty="0" smtClean="0"/>
              <a:t>A Docker </a:t>
            </a:r>
            <a:r>
              <a:rPr lang="en-US" dirty="0"/>
              <a:t>image is described in text file called a </a:t>
            </a:r>
            <a:r>
              <a:rPr lang="en-US" b="1" i="1" dirty="0" err="1"/>
              <a:t>Dockerfile</a:t>
            </a:r>
            <a:r>
              <a:rPr lang="en-US" dirty="0"/>
              <a:t>, which has a simple, well-defined syntax</a:t>
            </a:r>
            <a:r>
              <a:rPr lang="en-US" dirty="0" smtClean="0"/>
              <a:t>.</a:t>
            </a:r>
          </a:p>
          <a:p>
            <a:pPr lvl="1">
              <a:lnSpc>
                <a:spcPct val="150000"/>
              </a:lnSpc>
            </a:pPr>
            <a:endParaRPr lang="en-US" dirty="0"/>
          </a:p>
          <a:p>
            <a:pPr>
              <a:lnSpc>
                <a:spcPct val="150000"/>
              </a:lnSpc>
            </a:pPr>
            <a:endParaRPr lang="en-US" sz="2400" b="1" dirty="0" smtClean="0"/>
          </a:p>
          <a:p>
            <a:pPr>
              <a:lnSpc>
                <a:spcPct val="150000"/>
              </a:lnSpc>
            </a:pPr>
            <a:r>
              <a:rPr lang="en-US" sz="2400" b="1" dirty="0" smtClean="0"/>
              <a:t>Docker </a:t>
            </a:r>
            <a:r>
              <a:rPr lang="en-US" sz="2400" b="1" dirty="0" err="1" smtClean="0"/>
              <a:t>Dockerfile</a:t>
            </a:r>
            <a:endParaRPr lang="en-US" sz="2400" b="1" dirty="0" smtClean="0"/>
          </a:p>
          <a:p>
            <a:pPr lvl="1">
              <a:lnSpc>
                <a:spcPct val="150000"/>
              </a:lnSpc>
            </a:pPr>
            <a:r>
              <a:rPr lang="en-US" dirty="0" smtClean="0"/>
              <a:t>It is </a:t>
            </a:r>
            <a:r>
              <a:rPr lang="en-US" dirty="0"/>
              <a:t>a text document that contains commands that are used to assemble an image. We can use any command that call on the command line. Docker builds images automatically by reading the instructions from the </a:t>
            </a:r>
            <a:r>
              <a:rPr lang="en-US" dirty="0" err="1"/>
              <a:t>Dockerfile</a:t>
            </a:r>
            <a:r>
              <a:rPr lang="en-US" dirty="0" smtClean="0"/>
              <a:t>.</a:t>
            </a:r>
            <a:endParaRPr lang="en-US" sz="20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
        <p:nvSpPr>
          <p:cNvPr id="8" name="Rectangle 4"/>
          <p:cNvSpPr>
            <a:spLocks noChangeArrowheads="1"/>
          </p:cNvSpPr>
          <p:nvPr/>
        </p:nvSpPr>
        <p:spPr bwMode="auto">
          <a:xfrm>
            <a:off x="1113606" y="3875425"/>
            <a:ext cx="10515601" cy="33855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docker</a:t>
            </a:r>
            <a:r>
              <a:rPr kumimoji="0" lang="en-US" altLang="en-US" sz="16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build -t </a:t>
            </a:r>
            <a:r>
              <a:rPr kumimoji="0" lang="en-US" altLang="en-US" sz="16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ImageName:TagName</a:t>
            </a:r>
            <a:r>
              <a:rPr kumimoji="0" lang="en-US" altLang="en-US" sz="16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dir</a:t>
            </a:r>
            <a:r>
              <a:rPr kumimoji="0" lang="en-US" altLang="en-US" sz="1600" b="0" i="0" u="none" strike="noStrike" cap="none" normalizeH="0" baseline="0" dirty="0" smtClean="0">
                <a:ln>
                  <a:noFill/>
                </a:ln>
                <a:solidFill>
                  <a:schemeClr val="tx1"/>
                </a:solidFill>
                <a:effectLst/>
              </a:rPr>
              <a:t> </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4"/>
          <p:cNvSpPr>
            <a:spLocks noChangeArrowheads="1"/>
          </p:cNvSpPr>
          <p:nvPr/>
        </p:nvSpPr>
        <p:spPr bwMode="auto">
          <a:xfrm>
            <a:off x="1113606" y="4494623"/>
            <a:ext cx="10515601" cy="33855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docker</a:t>
            </a:r>
            <a:r>
              <a:rPr kumimoji="0" lang="en-US" altLang="en-US" sz="16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build -t </a:t>
            </a:r>
            <a:r>
              <a:rPr lang="en-US" altLang="en-US" sz="1600" dirty="0" err="1" smtClean="0">
                <a:latin typeface="Courier New" panose="02070309020205020404" pitchFamily="49" charset="0"/>
                <a:cs typeface="Courier New" panose="02070309020205020404" pitchFamily="49" charset="0"/>
              </a:rPr>
              <a:t>c</a:t>
            </a:r>
            <a:r>
              <a:rPr kumimoji="0" lang="en-US" altLang="en-US" sz="16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omsatsimage</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15017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Docker Host </a:t>
            </a:r>
            <a:r>
              <a:rPr lang="en-US" sz="3600" b="1" i="1" dirty="0" smtClean="0"/>
              <a:t>Objects (Cont.)</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r>
              <a:rPr lang="en-US" sz="2400" b="1" dirty="0" smtClean="0"/>
              <a:t>Docker Containers</a:t>
            </a:r>
          </a:p>
          <a:p>
            <a:pPr lvl="1">
              <a:lnSpc>
                <a:spcPct val="150000"/>
              </a:lnSpc>
            </a:pPr>
            <a:r>
              <a:rPr lang="en-US" sz="1800" dirty="0"/>
              <a:t>Containers are the structural units of Docker.</a:t>
            </a:r>
          </a:p>
          <a:p>
            <a:pPr lvl="1">
              <a:lnSpc>
                <a:spcPct val="150000"/>
              </a:lnSpc>
            </a:pPr>
            <a:r>
              <a:rPr lang="en-US" sz="1800" dirty="0"/>
              <a:t>It is used to hold the entire package that is needed to run the application.</a:t>
            </a:r>
          </a:p>
          <a:p>
            <a:pPr lvl="1">
              <a:lnSpc>
                <a:spcPct val="150000"/>
              </a:lnSpc>
            </a:pPr>
            <a:r>
              <a:rPr lang="en-US" sz="1800" dirty="0"/>
              <a:t>The advantage of containers is that it requires very less resources.</a:t>
            </a:r>
          </a:p>
          <a:p>
            <a:pPr lvl="1">
              <a:lnSpc>
                <a:spcPct val="150000"/>
              </a:lnSpc>
            </a:pPr>
            <a:r>
              <a:rPr lang="en-US" sz="1800" dirty="0"/>
              <a:t>Simply, the image is a template, and the container is a copy of that template.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Tree>
    <p:extLst>
      <p:ext uri="{BB962C8B-B14F-4D97-AF65-F5344CB8AC3E}">
        <p14:creationId xmlns:p14="http://schemas.microsoft.com/office/powerpoint/2010/main" val="25021764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Docker Host </a:t>
            </a:r>
            <a:r>
              <a:rPr lang="en-US" sz="3600" b="1" i="1" dirty="0" smtClean="0"/>
              <a:t>Objects (Cont.)</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r>
              <a:rPr lang="en-US" sz="2400" b="1" dirty="0" smtClean="0"/>
              <a:t>Docker </a:t>
            </a:r>
            <a:r>
              <a:rPr lang="en-US" sz="2400" b="1" dirty="0"/>
              <a:t>Networking</a:t>
            </a:r>
          </a:p>
          <a:p>
            <a:pPr lvl="1"/>
            <a:r>
              <a:rPr lang="en-US" sz="1800" dirty="0"/>
              <a:t>Using Docker Networking, an isolated package can be communicated</a:t>
            </a:r>
            <a:r>
              <a:rPr lang="en-US" sz="1400" dirty="0" smtClean="0"/>
              <a:t>.</a:t>
            </a:r>
            <a:endParaRPr lang="en-US" sz="1400" dirty="0"/>
          </a:p>
          <a:p>
            <a:r>
              <a:rPr lang="en-US" sz="2400" b="1" dirty="0"/>
              <a:t>Docker Storage</a:t>
            </a:r>
          </a:p>
          <a:p>
            <a:pPr lvl="1"/>
            <a:r>
              <a:rPr lang="en-US" sz="1400" dirty="0"/>
              <a:t>Docker Storage is used to store data on the container.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Tree>
    <p:extLst>
      <p:ext uri="{BB962C8B-B14F-4D97-AF65-F5344CB8AC3E}">
        <p14:creationId xmlns:p14="http://schemas.microsoft.com/office/powerpoint/2010/main" val="33007898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t>Docker Management</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sz="2400" dirty="0" smtClean="0"/>
              <a:t>Managing </a:t>
            </a:r>
            <a:r>
              <a:rPr lang="en-US" sz="2400" dirty="0"/>
              <a:t>the states of the Docker containers is called Docker Container Lifecycle Management. </a:t>
            </a:r>
            <a:endParaRPr lang="en-US" sz="2400" dirty="0" smtClean="0"/>
          </a:p>
          <a:p>
            <a:pPr>
              <a:lnSpc>
                <a:spcPct val="150000"/>
              </a:lnSpc>
            </a:pPr>
            <a:r>
              <a:rPr lang="en-US" sz="2400" dirty="0" smtClean="0"/>
              <a:t>For </a:t>
            </a:r>
            <a:r>
              <a:rPr lang="en-US" sz="2400" dirty="0"/>
              <a:t>managing the Docker Lifecycle we have some common </a:t>
            </a:r>
            <a:r>
              <a:rPr lang="en-US" sz="2400" dirty="0" smtClean="0"/>
              <a:t>commands.</a:t>
            </a:r>
            <a:endParaRPr lang="en-US" sz="24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32" y="1"/>
            <a:ext cx="2349768" cy="1690688"/>
          </a:xfrm>
          <a:prstGeom prst="rect">
            <a:avLst/>
          </a:prstGeom>
        </p:spPr>
      </p:pic>
    </p:spTree>
    <p:extLst>
      <p:ext uri="{BB962C8B-B14F-4D97-AF65-F5344CB8AC3E}">
        <p14:creationId xmlns:p14="http://schemas.microsoft.com/office/powerpoint/2010/main" val="4048964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dirty="0" smtClean="0"/>
              <a:t>Docker Container </a:t>
            </a:r>
            <a:r>
              <a:rPr lang="en-US" b="1" dirty="0"/>
              <a:t>Lifecycle Management </a:t>
            </a:r>
            <a:r>
              <a:rPr lang="en-US" b="1" dirty="0" smtClean="0"/>
              <a:t>Architecture.</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r>
              <a:rPr lang="en-US" sz="2400" dirty="0" smtClean="0"/>
              <a:t>Diagram</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8358" y="2420515"/>
            <a:ext cx="8174459" cy="4366667"/>
          </a:xfrm>
          <a:prstGeom prst="rect">
            <a:avLst/>
          </a:prstGeom>
          <a:ln>
            <a:solidFill>
              <a:schemeClr val="bg2"/>
            </a:solidFill>
          </a:ln>
        </p:spPr>
      </p:pic>
    </p:spTree>
    <p:extLst>
      <p:ext uri="{BB962C8B-B14F-4D97-AF65-F5344CB8AC3E}">
        <p14:creationId xmlns:p14="http://schemas.microsoft.com/office/powerpoint/2010/main" val="26354622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75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t>Docker Management Commands</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r>
              <a:rPr lang="en-US" sz="2400" b="1" dirty="0" smtClean="0"/>
              <a:t>Create </a:t>
            </a:r>
            <a:r>
              <a:rPr lang="en-US" sz="2400" b="1" dirty="0"/>
              <a:t>Containers</a:t>
            </a:r>
          </a:p>
          <a:p>
            <a:pPr lvl="1"/>
            <a:r>
              <a:rPr lang="en-US" dirty="0" smtClean="0"/>
              <a:t>Using this will </a:t>
            </a:r>
            <a:r>
              <a:rPr lang="en-US" dirty="0"/>
              <a:t>create a new Docker container with the </a:t>
            </a:r>
            <a:r>
              <a:rPr lang="en-US" dirty="0" smtClean="0"/>
              <a:t>specified Docker image</a:t>
            </a:r>
            <a:r>
              <a:rPr lang="en-US" sz="2000" dirty="0"/>
              <a:t/>
            </a:r>
            <a:br>
              <a:rPr lang="en-US" sz="2000" dirty="0"/>
            </a:br>
            <a:endParaRPr lang="en-US" sz="2000" dirty="0" smtClean="0"/>
          </a:p>
          <a:p>
            <a:pPr marL="457200" lvl="1" indent="0">
              <a:buNone/>
            </a:pPr>
            <a:endParaRPr lang="en-US" sz="2000" dirty="0" smtClean="0"/>
          </a:p>
          <a:p>
            <a:pPr marL="457200" lvl="1" indent="0">
              <a:buNone/>
            </a:pPr>
            <a:endParaRPr lang="en-US" sz="2000" dirty="0"/>
          </a:p>
        </p:txBody>
      </p:sp>
      <p:sp>
        <p:nvSpPr>
          <p:cNvPr id="5" name="Rectangle 1"/>
          <p:cNvSpPr>
            <a:spLocks noChangeArrowheads="1"/>
          </p:cNvSpPr>
          <p:nvPr/>
        </p:nvSpPr>
        <p:spPr bwMode="auto">
          <a:xfrm>
            <a:off x="1561531" y="2802524"/>
            <a:ext cx="8060141" cy="338554"/>
          </a:xfrm>
          <a:prstGeom prst="rect">
            <a:avLst/>
          </a:prstGeom>
          <a:solidFill>
            <a:schemeClr val="tx2">
              <a:lumMod val="20000"/>
              <a:lumOff val="80000"/>
            </a:schemeClr>
          </a:solidFill>
          <a:ln>
            <a:solidFill>
              <a:schemeClr val="tx1">
                <a:lumMod val="50000"/>
                <a:lumOff val="50000"/>
              </a:schemeClr>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Courier New" panose="02070309020205020404" pitchFamily="49" charset="0"/>
              </a:rPr>
              <a:t>$ </a:t>
            </a:r>
            <a:r>
              <a:rPr kumimoji="0" lang="en-US" altLang="en-US" sz="1600" b="0" i="0" u="none" strike="noStrike" cap="none" normalizeH="0" baseline="0" dirty="0" err="1" smtClean="0">
                <a:ln>
                  <a:noFill/>
                </a:ln>
                <a:solidFill>
                  <a:srgbClr val="000000"/>
                </a:solidFill>
                <a:effectLst/>
                <a:latin typeface="Courier New" panose="02070309020205020404" pitchFamily="49" charset="0"/>
              </a:rPr>
              <a:t>docker</a:t>
            </a:r>
            <a:r>
              <a:rPr kumimoji="0" lang="en-US" altLang="en-US" sz="1600" b="0" i="0" u="none" strike="noStrike" cap="none" normalizeH="0" baseline="0" dirty="0" smtClean="0">
                <a:ln>
                  <a:noFill/>
                </a:ln>
                <a:solidFill>
                  <a:srgbClr val="000000"/>
                </a:solidFill>
                <a:effectLst/>
                <a:latin typeface="Courier New" panose="02070309020205020404" pitchFamily="49" charset="0"/>
              </a:rPr>
              <a:t> create --name &lt;container name&gt; &lt;image name&gt;</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1561530" y="3541778"/>
            <a:ext cx="8060141" cy="338554"/>
          </a:xfrm>
          <a:prstGeom prst="rect">
            <a:avLst/>
          </a:prstGeom>
          <a:solidFill>
            <a:schemeClr val="tx2">
              <a:lumMod val="20000"/>
              <a:lumOff val="80000"/>
            </a:schemeClr>
          </a:solidFill>
          <a:ln>
            <a:solidFill>
              <a:schemeClr val="tx1">
                <a:lumMod val="50000"/>
                <a:lumOff val="50000"/>
              </a:schemeClr>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Courier New" panose="02070309020205020404" pitchFamily="49" charset="0"/>
              </a:rPr>
              <a:t>$ </a:t>
            </a:r>
            <a:r>
              <a:rPr kumimoji="0" lang="en-US" altLang="en-US" sz="1600" b="0" i="0" u="none" strike="noStrike" cap="none" normalizeH="0" baseline="0" dirty="0" err="1" smtClean="0">
                <a:ln>
                  <a:noFill/>
                </a:ln>
                <a:solidFill>
                  <a:srgbClr val="000000"/>
                </a:solidFill>
                <a:effectLst/>
                <a:latin typeface="Courier New" panose="02070309020205020404" pitchFamily="49" charset="0"/>
              </a:rPr>
              <a:t>docker</a:t>
            </a:r>
            <a:r>
              <a:rPr kumimoji="0" lang="en-US" altLang="en-US" sz="1600" b="0" i="0" u="none" strike="noStrike" cap="none" normalizeH="0" baseline="0" dirty="0" smtClean="0">
                <a:ln>
                  <a:noFill/>
                </a:ln>
                <a:solidFill>
                  <a:srgbClr val="000000"/>
                </a:solidFill>
                <a:effectLst/>
                <a:latin typeface="Courier New" panose="02070309020205020404" pitchFamily="49" charset="0"/>
              </a:rPr>
              <a:t> create --name </a:t>
            </a:r>
            <a:r>
              <a:rPr lang="en-US" altLang="en-US" sz="1600" dirty="0" smtClean="0">
                <a:solidFill>
                  <a:srgbClr val="000000"/>
                </a:solidFill>
                <a:latin typeface="Courier New" panose="02070309020205020404" pitchFamily="49" charset="0"/>
              </a:rPr>
              <a:t>c1</a:t>
            </a:r>
            <a:r>
              <a:rPr kumimoji="0" lang="en-US" altLang="en-US" sz="1600" b="0" i="0" u="none" strike="noStrike" cap="none" normalizeH="0" baseline="0" dirty="0" smtClean="0">
                <a:ln>
                  <a:noFill/>
                </a:ln>
                <a:solidFill>
                  <a:srgbClr val="000000"/>
                </a:solidFill>
                <a:effectLst/>
                <a:latin typeface="Courier New" panose="02070309020205020404" pitchFamily="49" charset="0"/>
              </a:rPr>
              <a:t> </a:t>
            </a:r>
            <a:r>
              <a:rPr kumimoji="0" lang="en-US" altLang="en-US" sz="1600" b="0" i="0" u="none" strike="noStrike" cap="none" normalizeH="0" baseline="0" dirty="0" err="1" smtClean="0">
                <a:ln>
                  <a:noFill/>
                </a:ln>
                <a:solidFill>
                  <a:srgbClr val="000000"/>
                </a:solidFill>
                <a:effectLst/>
                <a:latin typeface="Courier New" panose="02070309020205020404" pitchFamily="49" charset="0"/>
              </a:rPr>
              <a:t>ubantu</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1530" y="4815703"/>
            <a:ext cx="9439275" cy="876300"/>
          </a:xfrm>
          <a:prstGeom prst="rect">
            <a:avLst/>
          </a:prstGeom>
        </p:spPr>
      </p:pic>
    </p:spTree>
    <p:extLst>
      <p:ext uri="{BB962C8B-B14F-4D97-AF65-F5344CB8AC3E}">
        <p14:creationId xmlns:p14="http://schemas.microsoft.com/office/powerpoint/2010/main" val="211707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t>Docker Management Commands (Cont.)</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r>
              <a:rPr lang="en-US" sz="2400" b="1" dirty="0" smtClean="0"/>
              <a:t>Start Container</a:t>
            </a:r>
            <a:endParaRPr lang="en-US" sz="2400" b="1" dirty="0"/>
          </a:p>
          <a:p>
            <a:pPr lvl="1"/>
            <a:r>
              <a:rPr lang="en-US" dirty="0"/>
              <a:t>To start a stopped container, we can use the </a:t>
            </a:r>
            <a:r>
              <a:rPr lang="en-US" dirty="0" err="1"/>
              <a:t>docker</a:t>
            </a:r>
            <a:r>
              <a:rPr lang="en-US" dirty="0"/>
              <a:t> start command</a:t>
            </a:r>
            <a:r>
              <a:rPr lang="en-US" dirty="0" smtClean="0"/>
              <a:t>.</a:t>
            </a:r>
            <a:endParaRPr lang="en-US" sz="1600" dirty="0" smtClean="0"/>
          </a:p>
          <a:p>
            <a:pPr marL="457200" lvl="1" indent="0">
              <a:buNone/>
            </a:pPr>
            <a:endParaRPr lang="en-US" sz="2000" dirty="0"/>
          </a:p>
        </p:txBody>
      </p:sp>
      <p:sp>
        <p:nvSpPr>
          <p:cNvPr id="4" name="Rectangle 1"/>
          <p:cNvSpPr>
            <a:spLocks noChangeArrowheads="1"/>
          </p:cNvSpPr>
          <p:nvPr/>
        </p:nvSpPr>
        <p:spPr bwMode="auto">
          <a:xfrm>
            <a:off x="838199" y="2852468"/>
            <a:ext cx="8633347" cy="400110"/>
          </a:xfrm>
          <a:prstGeom prst="rect">
            <a:avLst/>
          </a:prstGeom>
          <a:solidFill>
            <a:schemeClr val="bg2"/>
          </a:solidFill>
          <a:ln>
            <a:solidFill>
              <a:schemeClr val="tx2">
                <a:lumMod val="20000"/>
                <a:lumOff val="80000"/>
              </a:schemeClr>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docker</a:t>
            </a: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start &lt;container name&gt;</a:t>
            </a:r>
            <a:r>
              <a:rPr kumimoji="0" lang="en-US" altLang="en-US" sz="2000" b="0" i="0" u="none" strike="noStrike" cap="none" normalizeH="0" baseline="0" dirty="0" smtClean="0">
                <a:ln>
                  <a:noFill/>
                </a:ln>
                <a:solidFill>
                  <a:schemeClr val="tx1"/>
                </a:solidFill>
                <a:effectLst/>
              </a:rPr>
              <a:t> </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3876712"/>
            <a:ext cx="8896350" cy="1057275"/>
          </a:xfrm>
          <a:prstGeom prst="rect">
            <a:avLst/>
          </a:prstGeom>
        </p:spPr>
      </p:pic>
    </p:spTree>
    <p:extLst>
      <p:ext uri="{BB962C8B-B14F-4D97-AF65-F5344CB8AC3E}">
        <p14:creationId xmlns:p14="http://schemas.microsoft.com/office/powerpoint/2010/main" val="2921851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t>Docker Management Commands (Cont.)</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r>
              <a:rPr lang="en-US" sz="2400" b="1" dirty="0"/>
              <a:t>R</a:t>
            </a:r>
            <a:r>
              <a:rPr lang="en-US" sz="2400" b="1" dirty="0" smtClean="0"/>
              <a:t>un Container</a:t>
            </a:r>
            <a:endParaRPr lang="en-US" sz="2400" b="1" dirty="0"/>
          </a:p>
          <a:p>
            <a:pPr lvl="1"/>
            <a:r>
              <a:rPr lang="en-US" dirty="0" smtClean="0"/>
              <a:t>The</a:t>
            </a:r>
            <a:r>
              <a:rPr lang="en-US" dirty="0"/>
              <a:t> </a:t>
            </a:r>
            <a:r>
              <a:rPr lang="en-US" b="1" dirty="0" err="1"/>
              <a:t>docker</a:t>
            </a:r>
            <a:r>
              <a:rPr lang="en-US" b="1" dirty="0"/>
              <a:t> run</a:t>
            </a:r>
            <a:r>
              <a:rPr lang="en-US" dirty="0"/>
              <a:t> command will do the work of both “</a:t>
            </a:r>
            <a:r>
              <a:rPr lang="en-US" b="1" dirty="0" err="1"/>
              <a:t>docker</a:t>
            </a:r>
            <a:r>
              <a:rPr lang="en-US" b="1" dirty="0"/>
              <a:t> create</a:t>
            </a:r>
            <a:r>
              <a:rPr lang="en-US" dirty="0"/>
              <a:t>” and “</a:t>
            </a:r>
            <a:r>
              <a:rPr lang="en-US" b="1" dirty="0" err="1"/>
              <a:t>docker</a:t>
            </a:r>
            <a:r>
              <a:rPr lang="en-US" b="1" dirty="0"/>
              <a:t> start</a:t>
            </a:r>
            <a:r>
              <a:rPr lang="en-US" dirty="0"/>
              <a:t>” </a:t>
            </a:r>
            <a:r>
              <a:rPr lang="en-US" dirty="0" smtClean="0"/>
              <a:t>command.</a:t>
            </a:r>
          </a:p>
          <a:p>
            <a:pPr lvl="1"/>
            <a:r>
              <a:rPr lang="en-US" dirty="0" smtClean="0"/>
              <a:t>This </a:t>
            </a:r>
            <a:r>
              <a:rPr lang="en-US" dirty="0"/>
              <a:t>command will create a new container and run the image in the newly created container.</a:t>
            </a:r>
            <a:endParaRPr lang="en-US" sz="1600" dirty="0" smtClean="0"/>
          </a:p>
          <a:p>
            <a:pPr marL="457200" lvl="1" indent="0">
              <a:buNone/>
            </a:pPr>
            <a:endParaRPr lang="en-US" sz="2000" dirty="0"/>
          </a:p>
        </p:txBody>
      </p:sp>
      <p:sp>
        <p:nvSpPr>
          <p:cNvPr id="5" name="Rectangle 1"/>
          <p:cNvSpPr>
            <a:spLocks noChangeArrowheads="1"/>
          </p:cNvSpPr>
          <p:nvPr/>
        </p:nvSpPr>
        <p:spPr bwMode="auto">
          <a:xfrm>
            <a:off x="1566862" y="4044702"/>
            <a:ext cx="6736308" cy="338554"/>
          </a:xfrm>
          <a:prstGeom prst="rect">
            <a:avLst/>
          </a:prstGeom>
          <a:solidFill>
            <a:schemeClr val="bg2"/>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lang="en-US" altLang="en-US" sz="1600" dirty="0" err="1">
                <a:solidFill>
                  <a:srgbClr val="000000"/>
                </a:solidFill>
                <a:latin typeface="Courier New" panose="02070309020205020404" pitchFamily="49" charset="0"/>
                <a:cs typeface="Courier New" panose="02070309020205020404" pitchFamily="49" charset="0"/>
              </a:rPr>
              <a:t>docker</a:t>
            </a:r>
            <a:r>
              <a:rPr lang="en-US" altLang="en-US" sz="1600" dirty="0">
                <a:solidFill>
                  <a:srgbClr val="000000"/>
                </a:solidFill>
                <a:latin typeface="Courier New" panose="02070309020205020404" pitchFamily="49" charset="0"/>
                <a:cs typeface="Courier New" panose="02070309020205020404" pitchFamily="49" charset="0"/>
              </a:rPr>
              <a:t> run -it --name &lt;container name&gt; &lt;image name</a:t>
            </a: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smtClean="0">
                <a:ln>
                  <a:noFill/>
                </a:ln>
                <a:solidFill>
                  <a:schemeClr val="tx1"/>
                </a:solidFill>
                <a:effectLst/>
              </a:rPr>
              <a:t> </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6862" y="4980202"/>
            <a:ext cx="9058275" cy="847725"/>
          </a:xfrm>
          <a:prstGeom prst="rect">
            <a:avLst/>
          </a:prstGeom>
        </p:spPr>
      </p:pic>
    </p:spTree>
    <p:extLst>
      <p:ext uri="{BB962C8B-B14F-4D97-AF65-F5344CB8AC3E}">
        <p14:creationId xmlns:p14="http://schemas.microsoft.com/office/powerpoint/2010/main" val="4047040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t>Docker Management Commands (Cont.)</a:t>
            </a:r>
            <a:endParaRPr lang="en-US" sz="3600" b="1" i="1" dirty="0"/>
          </a:p>
        </p:txBody>
      </p:sp>
      <p:sp>
        <p:nvSpPr>
          <p:cNvPr id="3" name="Content Placeholder 2"/>
          <p:cNvSpPr>
            <a:spLocks noGrp="1"/>
          </p:cNvSpPr>
          <p:nvPr>
            <p:ph idx="1"/>
          </p:nvPr>
        </p:nvSpPr>
        <p:spPr>
          <a:xfrm>
            <a:off x="838199" y="1812561"/>
            <a:ext cx="10761617" cy="4802837"/>
          </a:xfrm>
        </p:spPr>
        <p:txBody>
          <a:bodyPr>
            <a:normAutofit/>
          </a:bodyPr>
          <a:lstStyle/>
          <a:p>
            <a:r>
              <a:rPr lang="en-US" sz="2400" b="1" dirty="0" smtClean="0"/>
              <a:t>Pause Container</a:t>
            </a:r>
            <a:endParaRPr lang="en-US" sz="2400" b="1" dirty="0"/>
          </a:p>
          <a:p>
            <a:pPr lvl="1"/>
            <a:r>
              <a:rPr lang="en-US" sz="2000" dirty="0"/>
              <a:t>If we want to pause the processes running inside the container, we can use the </a:t>
            </a:r>
            <a:r>
              <a:rPr lang="en-US" sz="2000" b="1" i="1" dirty="0"/>
              <a:t>“</a:t>
            </a:r>
            <a:r>
              <a:rPr lang="en-US" sz="2000" b="1" i="1" dirty="0" err="1"/>
              <a:t>docker</a:t>
            </a:r>
            <a:r>
              <a:rPr lang="en-US" sz="2000" b="1" i="1" dirty="0"/>
              <a:t> pause” </a:t>
            </a:r>
            <a:r>
              <a:rPr lang="en-US" sz="2000" dirty="0"/>
              <a:t>command</a:t>
            </a:r>
            <a:r>
              <a:rPr lang="en-US" sz="2000" dirty="0" smtClean="0"/>
              <a:t>.</a:t>
            </a:r>
            <a:endParaRPr lang="en-US" sz="2000" dirty="0"/>
          </a:p>
        </p:txBody>
      </p:sp>
      <p:sp>
        <p:nvSpPr>
          <p:cNvPr id="4" name="Rectangle 1"/>
          <p:cNvSpPr>
            <a:spLocks noChangeArrowheads="1"/>
          </p:cNvSpPr>
          <p:nvPr/>
        </p:nvSpPr>
        <p:spPr bwMode="auto">
          <a:xfrm>
            <a:off x="1425052" y="3508798"/>
            <a:ext cx="8372475" cy="338554"/>
          </a:xfrm>
          <a:prstGeom prst="rect">
            <a:avLst/>
          </a:prstGeom>
          <a:solidFill>
            <a:schemeClr val="bg2"/>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docker</a:t>
            </a: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pause &lt;container name&gt;</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5052" y="4412225"/>
            <a:ext cx="8372475" cy="819150"/>
          </a:xfrm>
          <a:prstGeom prst="rect">
            <a:avLst/>
          </a:prstGeom>
        </p:spPr>
      </p:pic>
    </p:spTree>
    <p:extLst>
      <p:ext uri="{BB962C8B-B14F-4D97-AF65-F5344CB8AC3E}">
        <p14:creationId xmlns:p14="http://schemas.microsoft.com/office/powerpoint/2010/main" val="24059649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57608"/>
            <a:ext cx="10515600" cy="1325563"/>
          </a:xfrm>
        </p:spPr>
        <p:txBody>
          <a:bodyPr>
            <a:noAutofit/>
          </a:bodyPr>
          <a:lstStyle/>
          <a:p>
            <a:r>
              <a:rPr lang="en-US" b="1" dirty="0" smtClean="0"/>
              <a:t>Docker Management Commands (Cont.)</a:t>
            </a:r>
            <a:endParaRPr lang="en-US" sz="3600" b="1" i="1" dirty="0"/>
          </a:p>
        </p:txBody>
      </p:sp>
      <p:sp>
        <p:nvSpPr>
          <p:cNvPr id="3" name="Content Placeholder 2"/>
          <p:cNvSpPr>
            <a:spLocks noGrp="1"/>
          </p:cNvSpPr>
          <p:nvPr>
            <p:ph idx="1"/>
          </p:nvPr>
        </p:nvSpPr>
        <p:spPr>
          <a:xfrm>
            <a:off x="715190" y="1003339"/>
            <a:ext cx="10761617" cy="4802837"/>
          </a:xfrm>
        </p:spPr>
        <p:txBody>
          <a:bodyPr>
            <a:normAutofit/>
          </a:bodyPr>
          <a:lstStyle/>
          <a:p>
            <a:r>
              <a:rPr lang="en-US" sz="2400" b="1" dirty="0" smtClean="0"/>
              <a:t>Stop Container</a:t>
            </a:r>
            <a:endParaRPr lang="en-US" sz="2400" b="1" dirty="0"/>
          </a:p>
          <a:p>
            <a:pPr lvl="1">
              <a:lnSpc>
                <a:spcPct val="150000"/>
              </a:lnSpc>
            </a:pPr>
            <a:r>
              <a:rPr lang="en-US" sz="2000" dirty="0" smtClean="0"/>
              <a:t>Stopping </a:t>
            </a:r>
            <a:r>
              <a:rPr lang="en-US" sz="2000" dirty="0"/>
              <a:t>a running Container means to stop all the processes running in that Container. Stopping does not mean killing or ending the process</a:t>
            </a:r>
            <a:r>
              <a:rPr lang="en-US" sz="2000" dirty="0" smtClean="0"/>
              <a:t>.</a:t>
            </a:r>
          </a:p>
          <a:p>
            <a:pPr lvl="1">
              <a:lnSpc>
                <a:spcPct val="150000"/>
              </a:lnSpc>
            </a:pPr>
            <a:endParaRPr lang="en-US" sz="2000" dirty="0"/>
          </a:p>
          <a:p>
            <a:pPr lvl="1">
              <a:lnSpc>
                <a:spcPct val="150000"/>
              </a:lnSpc>
            </a:pPr>
            <a:endParaRPr lang="en-US" sz="2000" dirty="0" smtClean="0"/>
          </a:p>
          <a:p>
            <a:pPr lvl="1">
              <a:lnSpc>
                <a:spcPct val="150000"/>
              </a:lnSpc>
            </a:pPr>
            <a:endParaRPr lang="en-US" sz="2000" dirty="0"/>
          </a:p>
        </p:txBody>
      </p:sp>
      <p:sp>
        <p:nvSpPr>
          <p:cNvPr id="5" name="Rectangle 1"/>
          <p:cNvSpPr>
            <a:spLocks noChangeArrowheads="1"/>
          </p:cNvSpPr>
          <p:nvPr/>
        </p:nvSpPr>
        <p:spPr bwMode="auto">
          <a:xfrm>
            <a:off x="1393206" y="2786640"/>
            <a:ext cx="8372475" cy="338554"/>
          </a:xfrm>
          <a:prstGeom prst="rect">
            <a:avLst/>
          </a:prstGeom>
          <a:solidFill>
            <a:schemeClr val="bg2"/>
          </a:solidFill>
          <a:ln>
            <a:solidFill>
              <a:schemeClr val="accent1">
                <a:lumMod val="20000"/>
                <a:lumOff val="80000"/>
              </a:schemeClr>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docker</a:t>
            </a: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stop &lt;container name&gt;</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3206" y="3882797"/>
            <a:ext cx="8972550" cy="819150"/>
          </a:xfrm>
          <a:prstGeom prst="rect">
            <a:avLst/>
          </a:prstGeom>
        </p:spPr>
      </p:pic>
    </p:spTree>
    <p:extLst>
      <p:ext uri="{BB962C8B-B14F-4D97-AF65-F5344CB8AC3E}">
        <p14:creationId xmlns:p14="http://schemas.microsoft.com/office/powerpoint/2010/main" val="28869669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57608"/>
            <a:ext cx="10515600" cy="1325563"/>
          </a:xfrm>
        </p:spPr>
        <p:txBody>
          <a:bodyPr>
            <a:noAutofit/>
          </a:bodyPr>
          <a:lstStyle/>
          <a:p>
            <a:r>
              <a:rPr lang="en-US" b="1" dirty="0" smtClean="0"/>
              <a:t>Docker Management Commands (Cont.)</a:t>
            </a:r>
            <a:endParaRPr lang="en-US" sz="3600" b="1" i="1" dirty="0"/>
          </a:p>
        </p:txBody>
      </p:sp>
      <p:sp>
        <p:nvSpPr>
          <p:cNvPr id="3" name="Content Placeholder 2"/>
          <p:cNvSpPr>
            <a:spLocks noGrp="1"/>
          </p:cNvSpPr>
          <p:nvPr>
            <p:ph idx="1"/>
          </p:nvPr>
        </p:nvSpPr>
        <p:spPr>
          <a:xfrm>
            <a:off x="715190" y="1003339"/>
            <a:ext cx="10761617" cy="4802837"/>
          </a:xfrm>
        </p:spPr>
        <p:txBody>
          <a:bodyPr>
            <a:normAutofit/>
          </a:bodyPr>
          <a:lstStyle/>
          <a:p>
            <a:r>
              <a:rPr lang="en-US" sz="2400" b="1" dirty="0" smtClean="0"/>
              <a:t>Stop Container</a:t>
            </a:r>
            <a:endParaRPr lang="en-US" sz="2400" b="1" dirty="0"/>
          </a:p>
          <a:p>
            <a:pPr lvl="1">
              <a:lnSpc>
                <a:spcPct val="150000"/>
              </a:lnSpc>
            </a:pPr>
            <a:r>
              <a:rPr lang="en-US" sz="2000" dirty="0" smtClean="0"/>
              <a:t>We </a:t>
            </a:r>
            <a:r>
              <a:rPr lang="en-US" sz="2000" dirty="0"/>
              <a:t>can stop all the containers using a single command. In our case, 4 containers are running which you can see using the </a:t>
            </a:r>
            <a:r>
              <a:rPr lang="en-US" sz="2000" b="1" i="1" dirty="0" err="1"/>
              <a:t>docker</a:t>
            </a:r>
            <a:r>
              <a:rPr lang="en-US" sz="2000" b="1" i="1" dirty="0"/>
              <a:t> </a:t>
            </a:r>
            <a:r>
              <a:rPr lang="en-US" sz="2000" b="1" i="1" dirty="0" err="1"/>
              <a:t>ps</a:t>
            </a:r>
            <a:r>
              <a:rPr lang="en-US" sz="2000" dirty="0"/>
              <a:t> command.</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710" y="2851939"/>
            <a:ext cx="9934575" cy="3114675"/>
          </a:xfrm>
          <a:prstGeom prst="rect">
            <a:avLst/>
          </a:prstGeom>
        </p:spPr>
      </p:pic>
    </p:spTree>
    <p:extLst>
      <p:ext uri="{BB962C8B-B14F-4D97-AF65-F5344CB8AC3E}">
        <p14:creationId xmlns:p14="http://schemas.microsoft.com/office/powerpoint/2010/main" val="638822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57608"/>
            <a:ext cx="10515600" cy="1325563"/>
          </a:xfrm>
        </p:spPr>
        <p:txBody>
          <a:bodyPr>
            <a:noAutofit/>
          </a:bodyPr>
          <a:lstStyle/>
          <a:p>
            <a:r>
              <a:rPr lang="en-US" b="1" dirty="0" smtClean="0"/>
              <a:t>Docker Management Commands (Cont.)</a:t>
            </a:r>
            <a:endParaRPr lang="en-US" sz="3600" b="1" i="1" dirty="0"/>
          </a:p>
        </p:txBody>
      </p:sp>
      <p:sp>
        <p:nvSpPr>
          <p:cNvPr id="3" name="Content Placeholder 2"/>
          <p:cNvSpPr>
            <a:spLocks noGrp="1"/>
          </p:cNvSpPr>
          <p:nvPr>
            <p:ph idx="1"/>
          </p:nvPr>
        </p:nvSpPr>
        <p:spPr>
          <a:xfrm>
            <a:off x="715190" y="1003339"/>
            <a:ext cx="10761617" cy="4802837"/>
          </a:xfrm>
        </p:spPr>
        <p:txBody>
          <a:bodyPr>
            <a:normAutofit/>
          </a:bodyPr>
          <a:lstStyle/>
          <a:p>
            <a:r>
              <a:rPr lang="en-US" sz="2400" b="1" dirty="0" smtClean="0"/>
              <a:t>Delete Container</a:t>
            </a:r>
            <a:endParaRPr lang="en-US" sz="2400" b="1" dirty="0"/>
          </a:p>
          <a:p>
            <a:pPr lvl="1">
              <a:lnSpc>
                <a:spcPct val="150000"/>
              </a:lnSpc>
            </a:pPr>
            <a:r>
              <a:rPr lang="en-US" sz="2000" dirty="0" smtClean="0"/>
              <a:t>Removing </a:t>
            </a:r>
            <a:r>
              <a:rPr lang="en-US" sz="2000" dirty="0"/>
              <a:t>or deleting the container means destroying all the processes running inside the container and then deleting the </a:t>
            </a:r>
            <a:r>
              <a:rPr lang="en-US" sz="2000" dirty="0" smtClean="0"/>
              <a:t>Container.</a:t>
            </a:r>
          </a:p>
          <a:p>
            <a:pPr lvl="1">
              <a:lnSpc>
                <a:spcPct val="150000"/>
              </a:lnSpc>
            </a:pPr>
            <a:r>
              <a:rPr lang="en-US" sz="2000" dirty="0" smtClean="0"/>
              <a:t>It’s </a:t>
            </a:r>
            <a:r>
              <a:rPr lang="en-US" sz="2000" dirty="0"/>
              <a:t>preferred to destroy the container, only if present in the stopped state instead of forcefully </a:t>
            </a:r>
            <a:r>
              <a:rPr lang="en-US" sz="2000" dirty="0" smtClean="0"/>
              <a:t>destroying </a:t>
            </a:r>
            <a:r>
              <a:rPr lang="en-US" sz="2000" dirty="0"/>
              <a:t>the running container</a:t>
            </a:r>
            <a:r>
              <a:rPr lang="en-US" sz="2000" dirty="0" smtClean="0"/>
              <a:t>.</a:t>
            </a:r>
          </a:p>
        </p:txBody>
      </p:sp>
      <p:sp>
        <p:nvSpPr>
          <p:cNvPr id="4" name="Rectangle 1"/>
          <p:cNvSpPr>
            <a:spLocks noChangeArrowheads="1"/>
          </p:cNvSpPr>
          <p:nvPr/>
        </p:nvSpPr>
        <p:spPr bwMode="auto">
          <a:xfrm>
            <a:off x="1343165" y="3538457"/>
            <a:ext cx="8551461" cy="338554"/>
          </a:xfrm>
          <a:prstGeom prst="rect">
            <a:avLst/>
          </a:prstGeom>
          <a:solidFill>
            <a:schemeClr val="bg2"/>
          </a:solidFill>
          <a:ln>
            <a:solidFill>
              <a:schemeClr val="accent1">
                <a:lumMod val="20000"/>
                <a:lumOff val="80000"/>
              </a:schemeClr>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docker</a:t>
            </a: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rm</a:t>
            </a:r>
            <a:r>
              <a:rPr kumimoji="0" lang="en-US" altLang="en-US" sz="16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&lt;container name&gt;</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165" y="4336318"/>
            <a:ext cx="8848725" cy="1066800"/>
          </a:xfrm>
          <a:prstGeom prst="rect">
            <a:avLst/>
          </a:prstGeom>
        </p:spPr>
      </p:pic>
    </p:spTree>
    <p:extLst>
      <p:ext uri="{BB962C8B-B14F-4D97-AF65-F5344CB8AC3E}">
        <p14:creationId xmlns:p14="http://schemas.microsoft.com/office/powerpoint/2010/main" val="545774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8635" y="0"/>
            <a:ext cx="2653365" cy="1603391"/>
          </a:xfrm>
          <a:prstGeom prst="rect">
            <a:avLst/>
          </a:prstGeom>
        </p:spPr>
      </p:pic>
      <p:sp>
        <p:nvSpPr>
          <p:cNvPr id="3" name="Content Placeholder 2"/>
          <p:cNvSpPr>
            <a:spLocks noGrp="1"/>
          </p:cNvSpPr>
          <p:nvPr>
            <p:ph idx="1"/>
          </p:nvPr>
        </p:nvSpPr>
        <p:spPr>
          <a:xfrm>
            <a:off x="1025174" y="2055813"/>
            <a:ext cx="10515600" cy="4351338"/>
          </a:xfrm>
        </p:spPr>
        <p:txBody>
          <a:bodyPr>
            <a:noAutofit/>
          </a:bodyPr>
          <a:lstStyle/>
          <a:p>
            <a:pPr marL="0" indent="0" algn="ctr">
              <a:buNone/>
            </a:pPr>
            <a:r>
              <a:rPr lang="en-US" sz="23900" dirty="0" smtClean="0"/>
              <a:t>…?</a:t>
            </a:r>
            <a:endParaRPr lang="en-US" sz="23900" dirty="0"/>
          </a:p>
        </p:txBody>
      </p:sp>
      <p:sp>
        <p:nvSpPr>
          <p:cNvPr id="2" name="Title 1"/>
          <p:cNvSpPr>
            <a:spLocks noGrp="1"/>
          </p:cNvSpPr>
          <p:nvPr>
            <p:ph type="title"/>
          </p:nvPr>
        </p:nvSpPr>
        <p:spPr/>
        <p:txBody>
          <a:bodyPr>
            <a:normAutofit/>
          </a:bodyPr>
          <a:lstStyle/>
          <a:p>
            <a:pPr algn="ctr"/>
            <a:r>
              <a:rPr lang="en-US" sz="8000" b="1" i="1" dirty="0"/>
              <a:t>Thanks</a:t>
            </a:r>
            <a:endParaRPr lang="en-US" sz="3600" b="1" i="1" dirty="0"/>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4346</TotalTime>
  <Words>1093</Words>
  <Application>Microsoft Office PowerPoint</Application>
  <PresentationFormat>Widescreen</PresentationFormat>
  <Paragraphs>123</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Courier New</vt:lpstr>
      <vt:lpstr>Wingdings</vt:lpstr>
      <vt:lpstr>Office Theme</vt:lpstr>
      <vt:lpstr>Containers Instructor: Engr. Muhammad Ahmad Nawaz</vt:lpstr>
      <vt:lpstr>Contents</vt:lpstr>
      <vt:lpstr>Containers</vt:lpstr>
      <vt:lpstr>Containers Tools</vt:lpstr>
      <vt:lpstr>What is Docker?</vt:lpstr>
      <vt:lpstr>Features of Docker</vt:lpstr>
      <vt:lpstr>Features of Docker (Cont.)</vt:lpstr>
      <vt:lpstr>Install Docker on Windows</vt:lpstr>
      <vt:lpstr>Docker Architecture</vt:lpstr>
      <vt:lpstr>Docker Architecture (Cont.)</vt:lpstr>
      <vt:lpstr>Docker Architecture (Cont.)</vt:lpstr>
      <vt:lpstr>Docker Architecture (Cont.)</vt:lpstr>
      <vt:lpstr>Docker Architecture (Cont.)</vt:lpstr>
      <vt:lpstr>What is Docker Daemon?</vt:lpstr>
      <vt:lpstr>Docker Host Objects</vt:lpstr>
      <vt:lpstr>Docker Host Objects (Cont.)</vt:lpstr>
      <vt:lpstr>Docker Host Objects (Cont.)</vt:lpstr>
      <vt:lpstr>Docker Management</vt:lpstr>
      <vt:lpstr>Docker Container Lifecycle Management Architecture.</vt:lpstr>
      <vt:lpstr>Docker Management Commands</vt:lpstr>
      <vt:lpstr>Docker Management Commands (Cont.)</vt:lpstr>
      <vt:lpstr>Docker Management Commands (Cont.)</vt:lpstr>
      <vt:lpstr>Docker Management Commands (Cont.)</vt:lpstr>
      <vt:lpstr>Docker Management Commands (Cont.)</vt:lpstr>
      <vt:lpstr>Docker Management Commands (Cont.)</vt:lpstr>
      <vt:lpstr>Docker Management Commands (Cont.)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Ahmad</cp:lastModifiedBy>
  <cp:revision>428</cp:revision>
  <dcterms:created xsi:type="dcterms:W3CDTF">2017-02-21T04:58:17Z</dcterms:created>
  <dcterms:modified xsi:type="dcterms:W3CDTF">2023-03-15T11:55:17Z</dcterms:modified>
</cp:coreProperties>
</file>