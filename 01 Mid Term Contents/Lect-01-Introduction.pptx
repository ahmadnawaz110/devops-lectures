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8" r:id="rId3"/>
    <p:sldId id="309" r:id="rId4"/>
    <p:sldId id="310" r:id="rId5"/>
    <p:sldId id="314" r:id="rId6"/>
    <p:sldId id="324" r:id="rId7"/>
    <p:sldId id="257" r:id="rId8"/>
    <p:sldId id="258" r:id="rId9"/>
    <p:sldId id="325" r:id="rId10"/>
    <p:sldId id="323" r:id="rId11"/>
    <p:sldId id="329" r:id="rId12"/>
    <p:sldId id="260" r:id="rId13"/>
    <p:sldId id="261" r:id="rId14"/>
    <p:sldId id="262" r:id="rId15"/>
    <p:sldId id="263" r:id="rId16"/>
    <p:sldId id="264" r:id="rId17"/>
    <p:sldId id="265" r:id="rId18"/>
    <p:sldId id="331" r:id="rId19"/>
    <p:sldId id="266" r:id="rId20"/>
    <p:sldId id="332" r:id="rId21"/>
    <p:sldId id="267" r:id="rId22"/>
    <p:sldId id="334" r:id="rId23"/>
    <p:sldId id="268" r:id="rId24"/>
    <p:sldId id="333" r:id="rId25"/>
    <p:sldId id="269" r:id="rId26"/>
    <p:sldId id="270" r:id="rId27"/>
    <p:sldId id="272" r:id="rId28"/>
    <p:sldId id="271" r:id="rId29"/>
    <p:sldId id="330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1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5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0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0F82-837D-4582-8679-71A595E2155B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070520"/>
            <a:ext cx="10515600" cy="163349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DevOps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 Cloud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Computing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Course Code: CSC-418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540034"/>
            <a:ext cx="10515600" cy="1998618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Instructor</a:t>
            </a:r>
          </a:p>
          <a:p>
            <a:pPr marL="0" indent="0" algn="ctr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Muhammad </a:t>
            </a:r>
            <a:r>
              <a:rPr lang="en-US" sz="2400" b="1" smtClean="0">
                <a:latin typeface="Times New Roman" pitchFamily="18" charset="0"/>
                <a:cs typeface="Times New Roman" pitchFamily="18" charset="0"/>
              </a:rPr>
              <a:t>Ahmad Nawaz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03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Subject Information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Course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Title: 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DevOps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for Cloud Computing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Code: CSC-418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Credit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Hours: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3(2,1)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Contact Hours: 3 per week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Books: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Cloud Computing with Security: Concepts and Practices,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Naresh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Kumar Sehgal,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Pramod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Chandra P. Bhatt, John M.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Acken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Springer, 2020.</a:t>
            </a:r>
          </a:p>
          <a:p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Practical DevOps: Implement DevOps in your organization by effectively building, deploying, testing, and monitoring code, Verona, J,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Packt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Publishing Ltd, 2018. </a:t>
            </a:r>
          </a:p>
          <a:p>
            <a:pPr marL="0" indent="0">
              <a:buNone/>
            </a:pPr>
            <a:r>
              <a:rPr lang="en-US" sz="2900" b="1" dirty="0">
                <a:latin typeface="Times New Roman" pitchFamily="18" charset="0"/>
                <a:cs typeface="Times New Roman" pitchFamily="18" charset="0"/>
              </a:rPr>
              <a:t>Reference Books:</a:t>
            </a:r>
          </a:p>
          <a:p>
            <a:pPr>
              <a:buFont typeface="Wingdings" pitchFamily="2" charset="2"/>
              <a:buChar char="§"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Cloud computing: implementation, management, and security,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Ransome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J. F, CRC press, 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2017.</a:t>
            </a:r>
          </a:p>
          <a:p>
            <a:pPr>
              <a:buFont typeface="Wingdings" pitchFamily="2" charset="2"/>
              <a:buChar char="§"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and Implementation of Service Management in DevOps Enabled Cloud Computing Models. In Handbook of Research on End-to-End Cloud Computing Architecture Design,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Eigenbrode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S., &amp;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Nassar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S, IGI Global, 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2017.</a:t>
            </a:r>
          </a:p>
          <a:p>
            <a:pPr>
              <a:buFont typeface="Wingdings" pitchFamily="2" charset="2"/>
              <a:buChar char="§"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Hands-On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Serverless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Computing,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Kuldeep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Chowhan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Packt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Publishing, 2019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709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Main Objectives of the Course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course introduces the core concepts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implementing DevOps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using cloud computing.</a:t>
            </a:r>
          </a:p>
        </p:txBody>
      </p:sp>
    </p:spTree>
    <p:extLst>
      <p:ext uri="{BB962C8B-B14F-4D97-AF65-F5344CB8AC3E}">
        <p14:creationId xmlns:p14="http://schemas.microsoft.com/office/powerpoint/2010/main" val="292715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Topics to be Covered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mention in course outlines.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01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697" y="3081496"/>
            <a:ext cx="9144000" cy="962706"/>
          </a:xfrm>
        </p:spPr>
        <p:txBody>
          <a:bodyPr/>
          <a:lstStyle/>
          <a:p>
            <a:r>
              <a:rPr lang="en-US" dirty="0" smtClean="0"/>
              <a:t>Chapter 1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697" y="3562849"/>
            <a:ext cx="9144000" cy="1655762"/>
          </a:xfrm>
        </p:spPr>
        <p:txBody>
          <a:bodyPr/>
          <a:lstStyle/>
          <a:p>
            <a:r>
              <a:rPr lang="en-US" i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458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434" y="377780"/>
            <a:ext cx="9144000" cy="967694"/>
          </a:xfrm>
        </p:spPr>
        <p:txBody>
          <a:bodyPr/>
          <a:lstStyle/>
          <a:p>
            <a:pPr algn="l"/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0937" y="1929989"/>
            <a:ext cx="9144000" cy="434018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i="1" dirty="0" smtClean="0"/>
              <a:t>Introduction </a:t>
            </a:r>
            <a:r>
              <a:rPr lang="en-US" i="1" dirty="0"/>
              <a:t>Cloud </a:t>
            </a:r>
            <a:r>
              <a:rPr lang="en-US" i="1" dirty="0" smtClean="0"/>
              <a:t>computing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i="1" dirty="0" smtClean="0"/>
              <a:t>Cloud Types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1" dirty="0" smtClean="0"/>
              <a:t>Public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1" dirty="0" smtClean="0"/>
              <a:t>Private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1" dirty="0" smtClean="0"/>
              <a:t>Community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1" dirty="0" smtClean="0"/>
              <a:t>Hybrid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i="1" dirty="0" smtClean="0"/>
              <a:t>Service </a:t>
            </a:r>
            <a:r>
              <a:rPr lang="en-US" i="1" dirty="0"/>
              <a:t>Models for Cloud </a:t>
            </a:r>
            <a:r>
              <a:rPr lang="en-US" i="1" dirty="0" smtClean="0"/>
              <a:t>computing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Infrastructure </a:t>
            </a:r>
            <a:r>
              <a:rPr lang="en-US" dirty="0"/>
              <a:t>as a Service (</a:t>
            </a:r>
            <a:r>
              <a:rPr lang="en-US" dirty="0" smtClean="0"/>
              <a:t>IaaS)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Platform </a:t>
            </a:r>
            <a:r>
              <a:rPr lang="en-US" dirty="0"/>
              <a:t>as a Service (</a:t>
            </a:r>
            <a:r>
              <a:rPr lang="en-US" dirty="0" smtClean="0"/>
              <a:t>PaaS)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Software </a:t>
            </a:r>
            <a:r>
              <a:rPr lang="en-US" dirty="0"/>
              <a:t>as a Service (</a:t>
            </a:r>
            <a:r>
              <a:rPr lang="en-US" dirty="0" smtClean="0"/>
              <a:t>SaaS)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Function </a:t>
            </a:r>
            <a:r>
              <a:rPr lang="en-US" dirty="0"/>
              <a:t>as a Service (</a:t>
            </a:r>
            <a:r>
              <a:rPr lang="en-US" dirty="0" err="1"/>
              <a:t>FaaS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196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Cloud?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cloud is actually a service or group </a:t>
            </a:r>
            <a:r>
              <a:rPr lang="en-US" dirty="0" smtClean="0"/>
              <a:t>of services that are provided to the user on a network usually internet.</a:t>
            </a:r>
          </a:p>
          <a:p>
            <a:r>
              <a:rPr lang="en-US" dirty="0" smtClean="0"/>
              <a:t>Customers </a:t>
            </a:r>
            <a:r>
              <a:rPr lang="en-US" dirty="0"/>
              <a:t>are even allowed to configure their </a:t>
            </a:r>
            <a:r>
              <a:rPr lang="en-US" dirty="0" smtClean="0"/>
              <a:t>own system </a:t>
            </a:r>
            <a:r>
              <a:rPr lang="en-US" dirty="0"/>
              <a:t>monitoring solutions</a:t>
            </a:r>
            <a:r>
              <a:rPr lang="en-US" dirty="0" smtClean="0"/>
              <a:t>.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cloud and the services it offers have changed over time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34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NIST </a:t>
            </a:r>
            <a:r>
              <a:rPr lang="en-US" b="1" dirty="0" smtClean="0"/>
              <a:t>Cloud definition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National Institute of Standards &amp; Technology (NIST) US Department of Commerce.</a:t>
            </a:r>
          </a:p>
          <a:p>
            <a:pPr algn="just"/>
            <a:endParaRPr lang="en-US" dirty="0"/>
          </a:p>
          <a:p>
            <a:pPr algn="just"/>
            <a:r>
              <a:rPr lang="en-US" i="1" dirty="0" smtClean="0"/>
              <a:t>“Cloud </a:t>
            </a:r>
            <a:r>
              <a:rPr lang="en-US" i="1" dirty="0"/>
              <a:t>computing is a model for enabling ubiquitous, convenient, on-demand network access to a shared pool of configurable computing resources (e.g., networks, servers, storage, applications, and services) that can be rapidly provisioned and released with minimal management effort or service provider </a:t>
            </a:r>
            <a:r>
              <a:rPr lang="en-US" i="1" dirty="0" smtClean="0"/>
              <a:t>interaction”. </a:t>
            </a:r>
          </a:p>
          <a:p>
            <a:endParaRPr lang="en-US" b="1" dirty="0"/>
          </a:p>
          <a:p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89168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/>
              <a:t>Why </a:t>
            </a:r>
            <a:r>
              <a:rPr lang="en-US" sz="4000" b="1" dirty="0"/>
              <a:t>Cloud Computing</a:t>
            </a:r>
            <a:r>
              <a:rPr lang="en-US" sz="4000" b="1" dirty="0" smtClean="0"/>
              <a:t>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endParaRPr lang="en-US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56" y="1777275"/>
            <a:ext cx="7621088" cy="508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1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</a:t>
            </a:r>
            <a:r>
              <a:rPr lang="en-US" dirty="0"/>
              <a:t>main </a:t>
            </a:r>
            <a:r>
              <a:rPr lang="en-US" dirty="0" smtClean="0"/>
              <a:t>components in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dirty="0"/>
              <a:t>Five key cloud characteristics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dirty="0"/>
              <a:t>Four cloud deployment models</a:t>
            </a:r>
          </a:p>
          <a:p>
            <a:pPr marL="0" indent="0">
              <a:buNone/>
            </a:pPr>
            <a:r>
              <a:rPr lang="en-US" b="1" dirty="0"/>
              <a:t>3. </a:t>
            </a:r>
            <a:r>
              <a:rPr lang="en-US" dirty="0"/>
              <a:t>Three cloud service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11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Five key cloud characteristics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u="sng" dirty="0"/>
              <a:t>On-Demand </a:t>
            </a:r>
            <a:r>
              <a:rPr lang="en-US" b="1" i="1" u="sng" dirty="0" smtClean="0"/>
              <a:t>Self-Service</a:t>
            </a:r>
          </a:p>
          <a:p>
            <a:r>
              <a:rPr lang="en-US" i="1" dirty="0"/>
              <a:t>On-demand self-service </a:t>
            </a:r>
            <a:r>
              <a:rPr lang="en-US" dirty="0"/>
              <a:t>means that a consumer can request and receive access </a:t>
            </a:r>
            <a:r>
              <a:rPr lang="en-US" dirty="0" smtClean="0"/>
              <a:t>to a </a:t>
            </a:r>
            <a:r>
              <a:rPr lang="en-US" dirty="0"/>
              <a:t>service offering, without an administrator or some sort of support staff </a:t>
            </a:r>
            <a:r>
              <a:rPr lang="en-US" dirty="0" smtClean="0"/>
              <a:t>having to </a:t>
            </a:r>
            <a:r>
              <a:rPr lang="en-US" dirty="0"/>
              <a:t>fulfill the request manually. The request processes and fulfillment </a:t>
            </a:r>
            <a:r>
              <a:rPr lang="en-US" dirty="0" smtClean="0"/>
              <a:t>processes are </a:t>
            </a:r>
            <a:r>
              <a:rPr lang="en-US" dirty="0"/>
              <a:t>all automated. </a:t>
            </a:r>
            <a:endParaRPr lang="en-US" dirty="0" smtClean="0"/>
          </a:p>
          <a:p>
            <a:r>
              <a:rPr lang="en-US" dirty="0"/>
              <a:t>Implementing user self-service allows customers to quickly procure and </a:t>
            </a:r>
            <a:r>
              <a:rPr lang="en-US" dirty="0" smtClean="0"/>
              <a:t>access the </a:t>
            </a:r>
            <a:r>
              <a:rPr lang="en-US" dirty="0"/>
              <a:t>services they want. This is a very attractive feature of the </a:t>
            </a:r>
            <a:r>
              <a:rPr lang="en-US" dirty="0" smtClean="0"/>
              <a:t>cloud</a:t>
            </a:r>
          </a:p>
          <a:p>
            <a:r>
              <a:rPr lang="en-US" dirty="0"/>
              <a:t>User self-service also reduces the administrative burden on the provider</a:t>
            </a:r>
            <a:r>
              <a:rPr lang="en-US" dirty="0" smtClean="0"/>
              <a:t>.</a:t>
            </a:r>
            <a:r>
              <a:rPr lang="en-US" dirty="0"/>
              <a:t> Self-service implementations can be difficult to build, but for cloud </a:t>
            </a:r>
            <a:r>
              <a:rPr lang="en-US" dirty="0" smtClean="0"/>
              <a:t>providers they </a:t>
            </a:r>
            <a:r>
              <a:rPr lang="en-US" dirty="0"/>
              <a:t>are definitely worth the time and money</a:t>
            </a:r>
            <a:r>
              <a:rPr lang="en-US" dirty="0" smtClean="0"/>
              <a:t>.</a:t>
            </a:r>
          </a:p>
          <a:p>
            <a:r>
              <a:rPr lang="en-US" dirty="0"/>
              <a:t>When implementing user self-service, you need to be aware of potential </a:t>
            </a:r>
            <a:r>
              <a:rPr lang="en-US" dirty="0" smtClean="0"/>
              <a:t>compliance and </a:t>
            </a:r>
            <a:r>
              <a:rPr lang="en-US" dirty="0"/>
              <a:t>regulatory issues.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837532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845909"/>
            <a:ext cx="10515600" cy="5189129"/>
          </a:xfrm>
        </p:spPr>
        <p:txBody>
          <a:bodyPr>
            <a:normAutofit/>
          </a:bodyPr>
          <a:lstStyle/>
          <a:p>
            <a:r>
              <a:rPr lang="en-US" b="1" i="1" u="sng" dirty="0" smtClean="0"/>
              <a:t>Broad Network Access</a:t>
            </a:r>
            <a:endParaRPr lang="en-US" u="sng" dirty="0" smtClean="0"/>
          </a:p>
          <a:p>
            <a:r>
              <a:rPr lang="en-US" dirty="0" smtClean="0"/>
              <a:t>Cloud </a:t>
            </a:r>
            <a:r>
              <a:rPr lang="en-US" dirty="0"/>
              <a:t>services should be easily accessed. Users should only be required </a:t>
            </a:r>
            <a:r>
              <a:rPr lang="en-US" dirty="0" smtClean="0"/>
              <a:t>to have </a:t>
            </a:r>
            <a:r>
              <a:rPr lang="en-US" dirty="0"/>
              <a:t>a basic network connection to connect to services or applications</a:t>
            </a:r>
            <a:r>
              <a:rPr lang="en-US" dirty="0" smtClean="0"/>
              <a:t>.</a:t>
            </a:r>
          </a:p>
          <a:p>
            <a:r>
              <a:rPr lang="en-US" dirty="0"/>
              <a:t>Cloud services should require either no client or a lightweight, thin client</a:t>
            </a:r>
            <a:r>
              <a:rPr lang="en-US" dirty="0" smtClean="0"/>
              <a:t>.</a:t>
            </a:r>
            <a:r>
              <a:rPr lang="en-US" dirty="0"/>
              <a:t> First, downloading a fat client can take a very long time, especially on </a:t>
            </a:r>
            <a:r>
              <a:rPr lang="en-US" dirty="0" smtClean="0"/>
              <a:t>a low-bandwidth </a:t>
            </a:r>
            <a:r>
              <a:rPr lang="en-US" dirty="0"/>
              <a:t>connection. Second, if the client application requires a lot </a:t>
            </a:r>
            <a:r>
              <a:rPr lang="en-US" dirty="0" smtClean="0"/>
              <a:t>of communication </a:t>
            </a:r>
            <a:r>
              <a:rPr lang="en-US" dirty="0"/>
              <a:t>between the client system and the services, users may </a:t>
            </a:r>
            <a:r>
              <a:rPr lang="en-US" dirty="0" smtClean="0"/>
              <a:t>experience issues </a:t>
            </a:r>
            <a:r>
              <a:rPr lang="en-US" dirty="0"/>
              <a:t>with latency on low-bandwidth connections</a:t>
            </a:r>
            <a:r>
              <a:rPr lang="en-US" dirty="0" smtClean="0"/>
              <a:t>.</a:t>
            </a:r>
          </a:p>
          <a:p>
            <a:r>
              <a:rPr lang="en-US" dirty="0"/>
              <a:t>Cloud </a:t>
            </a:r>
            <a:r>
              <a:rPr lang="en-US" dirty="0" smtClean="0"/>
              <a:t>services need </a:t>
            </a:r>
            <a:r>
              <a:rPr lang="en-US" dirty="0"/>
              <a:t>to support all </a:t>
            </a:r>
            <a:r>
              <a:rPr lang="en-US" dirty="0" smtClean="0"/>
              <a:t>of devices. Like </a:t>
            </a:r>
            <a:r>
              <a:rPr lang="en-US" dirty="0"/>
              <a:t>tablets, smartphones, and a host of other options.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7445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508" y="106797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i="1" u="sng" dirty="0"/>
              <a:t>Resource </a:t>
            </a:r>
            <a:r>
              <a:rPr lang="en-US" b="1" i="1" u="sng" dirty="0" smtClean="0"/>
              <a:t>Pooling</a:t>
            </a:r>
          </a:p>
          <a:p>
            <a:r>
              <a:rPr lang="en-US" i="1" dirty="0"/>
              <a:t>Resource pooling </a:t>
            </a:r>
            <a:r>
              <a:rPr lang="en-US" dirty="0"/>
              <a:t>helps save costs and allows flexibility on the provider side.</a:t>
            </a:r>
          </a:p>
          <a:p>
            <a:r>
              <a:rPr lang="en-US" dirty="0"/>
              <a:t>Resource pooling is based on the fact that clients will not have a constant </a:t>
            </a:r>
            <a:r>
              <a:rPr lang="en-US" dirty="0" smtClean="0"/>
              <a:t>need </a:t>
            </a:r>
            <a:r>
              <a:rPr lang="en-US" dirty="0"/>
              <a:t>for all the resources available to them</a:t>
            </a:r>
            <a:r>
              <a:rPr lang="en-US" dirty="0" smtClean="0"/>
              <a:t>.</a:t>
            </a:r>
          </a:p>
          <a:p>
            <a:r>
              <a:rPr lang="en-US" dirty="0"/>
              <a:t>Resource pooling is often achieved using </a:t>
            </a:r>
            <a:r>
              <a:rPr lang="en-US" i="1" dirty="0"/>
              <a:t>virtualization</a:t>
            </a:r>
            <a:r>
              <a:rPr lang="en-US" dirty="0"/>
              <a:t>. Virtualization </a:t>
            </a:r>
            <a:r>
              <a:rPr lang="en-US" dirty="0" smtClean="0"/>
              <a:t>allows providers </a:t>
            </a:r>
            <a:r>
              <a:rPr lang="en-US" dirty="0"/>
              <a:t>to increase the density of their systems. They can host multiple </a:t>
            </a:r>
            <a:r>
              <a:rPr lang="en-US" dirty="0" smtClean="0"/>
              <a:t>virtual sessions </a:t>
            </a:r>
            <a:r>
              <a:rPr lang="en-US" dirty="0"/>
              <a:t>on a single </a:t>
            </a:r>
            <a:r>
              <a:rPr lang="en-US" dirty="0" smtClean="0"/>
              <a:t>system.</a:t>
            </a:r>
          </a:p>
          <a:p>
            <a:r>
              <a:rPr lang="en-US" dirty="0"/>
              <a:t>In a virtualized environment, the resources </a:t>
            </a:r>
            <a:r>
              <a:rPr lang="en-US" dirty="0" smtClean="0"/>
              <a:t>on one </a:t>
            </a:r>
            <a:r>
              <a:rPr lang="en-US" dirty="0"/>
              <a:t>physical system are placed into a pool that can be used by multiple </a:t>
            </a:r>
            <a:r>
              <a:rPr lang="en-US" dirty="0" smtClean="0"/>
              <a:t>virtual systems</a:t>
            </a:r>
            <a:r>
              <a:rPr lang="en-US" dirty="0"/>
              <a:t>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58394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60" y="110716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i="1" u="sng" dirty="0"/>
              <a:t>Rapid </a:t>
            </a:r>
            <a:r>
              <a:rPr lang="en-US" b="1" i="1" u="sng" dirty="0" smtClean="0"/>
              <a:t>Elasticity</a:t>
            </a:r>
          </a:p>
          <a:p>
            <a:r>
              <a:rPr lang="en-US" i="1" dirty="0"/>
              <a:t>Rapid elasticity </a:t>
            </a:r>
            <a:r>
              <a:rPr lang="en-US" dirty="0"/>
              <a:t>describes the ability of a cloud environment to easily </a:t>
            </a:r>
            <a:r>
              <a:rPr lang="en-US" dirty="0" smtClean="0"/>
              <a:t>grow to </a:t>
            </a:r>
            <a:r>
              <a:rPr lang="en-US" dirty="0"/>
              <a:t>satisfy user </a:t>
            </a:r>
            <a:r>
              <a:rPr lang="en-US" dirty="0" smtClean="0"/>
              <a:t>demand.</a:t>
            </a:r>
          </a:p>
          <a:p>
            <a:r>
              <a:rPr lang="en-US" dirty="0"/>
              <a:t>Rapid elasticity is usually accomplished through the use of automation </a:t>
            </a:r>
            <a:r>
              <a:rPr lang="en-US" dirty="0" smtClean="0"/>
              <a:t>and orchestration (</a:t>
            </a:r>
            <a:r>
              <a:rPr lang="en-US" dirty="0" err="1" smtClean="0"/>
              <a:t>tarteeb</a:t>
            </a:r>
            <a:r>
              <a:rPr lang="en-US" dirty="0" smtClean="0"/>
              <a:t> </a:t>
            </a:r>
            <a:r>
              <a:rPr lang="en-US" dirty="0" err="1" smtClean="0"/>
              <a:t>daina</a:t>
            </a:r>
            <a:r>
              <a:rPr lang="en-US" dirty="0" smtClean="0"/>
              <a:t>). </a:t>
            </a:r>
            <a:r>
              <a:rPr lang="en-US" dirty="0"/>
              <a:t>When resource usage hits a certain point, a trigger is set off. </a:t>
            </a:r>
            <a:r>
              <a:rPr lang="en-US" dirty="0" smtClean="0"/>
              <a:t>This trigger </a:t>
            </a:r>
            <a:r>
              <a:rPr lang="en-US" dirty="0"/>
              <a:t>automatically begins the process of capacity expansion</a:t>
            </a:r>
            <a:r>
              <a:rPr lang="en-US" dirty="0" smtClean="0"/>
              <a:t>.</a:t>
            </a:r>
            <a:r>
              <a:rPr lang="en-US" dirty="0"/>
              <a:t> Once the usage </a:t>
            </a:r>
            <a:r>
              <a:rPr lang="en-US" dirty="0" smtClean="0"/>
              <a:t>has subsided</a:t>
            </a:r>
            <a:r>
              <a:rPr lang="en-US" dirty="0"/>
              <a:t>, the capacity shrinks as needed to ensure that resources are not wasted</a:t>
            </a:r>
            <a:r>
              <a:rPr lang="en-US" dirty="0" smtClean="0"/>
              <a:t>.</a:t>
            </a:r>
          </a:p>
          <a:p>
            <a:r>
              <a:rPr lang="en-US" dirty="0"/>
              <a:t>The rapid elasticity feature of cloud implementations is what enables </a:t>
            </a:r>
            <a:r>
              <a:rPr lang="en-US" dirty="0" smtClean="0"/>
              <a:t>them to </a:t>
            </a:r>
            <a:r>
              <a:rPr lang="en-US" dirty="0"/>
              <a:t>be able to handle the “burst” capacity needed by many of their users. </a:t>
            </a:r>
            <a:r>
              <a:rPr lang="en-US" i="1" dirty="0" smtClean="0"/>
              <a:t>Burst capacity </a:t>
            </a:r>
            <a:r>
              <a:rPr lang="en-US" dirty="0"/>
              <a:t>is an increased capacity that is needed for only a short period of time.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9857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112023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i="1" u="sng" dirty="0"/>
              <a:t>Measured </a:t>
            </a:r>
            <a:r>
              <a:rPr lang="en-US" b="1" i="1" u="sng" dirty="0" smtClean="0"/>
              <a:t>Service</a:t>
            </a:r>
          </a:p>
          <a:p>
            <a:r>
              <a:rPr lang="en-US" dirty="0"/>
              <a:t>Cloud services must have the ability to measure usage. Usage can be </a:t>
            </a:r>
            <a:r>
              <a:rPr lang="en-US" dirty="0" smtClean="0"/>
              <a:t>quantified using </a:t>
            </a:r>
            <a:r>
              <a:rPr lang="en-US" dirty="0"/>
              <a:t>various metrics, such as time used, bandwidth used, and data used.</a:t>
            </a:r>
          </a:p>
          <a:p>
            <a:r>
              <a:rPr lang="en-US" dirty="0"/>
              <a:t>The measured service characteristic is what enables the “pay as you go” </a:t>
            </a:r>
            <a:r>
              <a:rPr lang="en-US" dirty="0" smtClean="0"/>
              <a:t>feature of </a:t>
            </a:r>
            <a:r>
              <a:rPr lang="en-US" dirty="0"/>
              <a:t>cloud computing. Once an appropriate metric has been identified, a rate </a:t>
            </a:r>
            <a:r>
              <a:rPr lang="en-US" dirty="0" smtClean="0"/>
              <a:t>is determined</a:t>
            </a:r>
            <a:r>
              <a:rPr lang="en-US" dirty="0"/>
              <a:t>. This rate is used to determine how much a customer should </a:t>
            </a:r>
            <a:r>
              <a:rPr lang="en-US" dirty="0" smtClean="0"/>
              <a:t>be charged</a:t>
            </a:r>
            <a:r>
              <a:rPr lang="en-US" dirty="0"/>
              <a:t>. This way, the client is billed based on consumption levels</a:t>
            </a:r>
            <a:r>
              <a:rPr lang="en-US" dirty="0" smtClean="0"/>
              <a:t>.</a:t>
            </a:r>
          </a:p>
          <a:p>
            <a:r>
              <a:rPr lang="en-US" dirty="0"/>
              <a:t>In a measured service</a:t>
            </a:r>
            <a:r>
              <a:rPr lang="en-US" dirty="0" smtClean="0"/>
              <a:t>, it’s </a:t>
            </a:r>
            <a:r>
              <a:rPr lang="en-US" dirty="0"/>
              <a:t>very important that you understand the associated costs.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62455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Deployment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organization has </a:t>
            </a:r>
            <a:r>
              <a:rPr lang="en-US" dirty="0"/>
              <a:t>its own requirements as to what services it wants to access from </a:t>
            </a:r>
            <a:r>
              <a:rPr lang="en-US" dirty="0" smtClean="0"/>
              <a:t>a cloud. </a:t>
            </a:r>
          </a:p>
          <a:p>
            <a:r>
              <a:rPr lang="en-US" dirty="0" smtClean="0"/>
              <a:t>To accommodate these </a:t>
            </a:r>
            <a:r>
              <a:rPr lang="en-US" dirty="0"/>
              <a:t>varying requirements, a cloud environment can be </a:t>
            </a:r>
            <a:r>
              <a:rPr lang="en-US" dirty="0" smtClean="0"/>
              <a:t>implemented using </a:t>
            </a:r>
            <a:r>
              <a:rPr lang="en-US" dirty="0"/>
              <a:t>different service models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Public</a:t>
            </a:r>
          </a:p>
          <a:p>
            <a:pPr lvl="1"/>
            <a:r>
              <a:rPr lang="en-US" dirty="0"/>
              <a:t>Private</a:t>
            </a:r>
          </a:p>
          <a:p>
            <a:pPr lvl="1"/>
            <a:r>
              <a:rPr lang="en-US" dirty="0"/>
              <a:t>Hybrid</a:t>
            </a:r>
          </a:p>
          <a:p>
            <a:pPr lvl="1"/>
            <a:r>
              <a:rPr lang="en-US" dirty="0"/>
              <a:t>Community</a:t>
            </a:r>
          </a:p>
        </p:txBody>
      </p:sp>
    </p:spTree>
    <p:extLst>
      <p:ext uri="{BB962C8B-B14F-4D97-AF65-F5344CB8AC3E}">
        <p14:creationId xmlns:p14="http://schemas.microsoft.com/office/powerpoint/2010/main" val="145155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1202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i="1" u="sng" dirty="0"/>
              <a:t>Public</a:t>
            </a:r>
          </a:p>
          <a:p>
            <a:r>
              <a:rPr lang="en-US" dirty="0" smtClean="0"/>
              <a:t>In </a:t>
            </a:r>
            <a:r>
              <a:rPr lang="en-US" dirty="0"/>
              <a:t>the public service model, all the systems </a:t>
            </a:r>
            <a:r>
              <a:rPr lang="en-US" dirty="0" smtClean="0"/>
              <a:t>and resources </a:t>
            </a:r>
            <a:r>
              <a:rPr lang="en-US" dirty="0"/>
              <a:t>that provide the service are housed at an external service provider.</a:t>
            </a:r>
          </a:p>
          <a:p>
            <a:r>
              <a:rPr lang="en-US" dirty="0"/>
              <a:t>That service provider is responsible for the management and administration </a:t>
            </a:r>
            <a:r>
              <a:rPr lang="en-US" dirty="0" smtClean="0"/>
              <a:t>of the </a:t>
            </a:r>
            <a:r>
              <a:rPr lang="en-US" dirty="0"/>
              <a:t>systems that are used to provide the service. The client is only </a:t>
            </a:r>
            <a:r>
              <a:rPr lang="en-US" dirty="0" smtClean="0"/>
              <a:t>responsible for </a:t>
            </a:r>
            <a:r>
              <a:rPr lang="en-US" dirty="0"/>
              <a:t>any software or client application that is installed on the end-user system.</a:t>
            </a:r>
          </a:p>
          <a:p>
            <a:r>
              <a:rPr lang="en-US" dirty="0"/>
              <a:t>Connections to public cloud providers are usually made through the </a:t>
            </a:r>
            <a:r>
              <a:rPr lang="en-US" dirty="0" smtClean="0"/>
              <a:t>Internet.</a:t>
            </a:r>
          </a:p>
          <a:p>
            <a:r>
              <a:rPr lang="en-US" dirty="0" smtClean="0"/>
              <a:t>Using </a:t>
            </a:r>
            <a:r>
              <a:rPr lang="en-US" dirty="0"/>
              <a:t>the pay-per-usage </a:t>
            </a:r>
            <a:r>
              <a:rPr lang="en-US" dirty="0" smtClean="0"/>
              <a:t>method (API’s).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64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12023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 smtClean="0"/>
              <a:t>Advantages </a:t>
            </a:r>
            <a:r>
              <a:rPr lang="en-US" b="1" i="1" u="sng" dirty="0"/>
              <a:t>of Public Cloud</a:t>
            </a:r>
          </a:p>
          <a:p>
            <a:pPr lvl="1"/>
            <a:r>
              <a:rPr lang="en-US" dirty="0" smtClean="0"/>
              <a:t>Low Cost</a:t>
            </a:r>
          </a:p>
          <a:p>
            <a:pPr lvl="1"/>
            <a:r>
              <a:rPr lang="en-US" dirty="0"/>
              <a:t>Location Independent</a:t>
            </a:r>
          </a:p>
          <a:p>
            <a:pPr lvl="1"/>
            <a:r>
              <a:rPr lang="en-US" dirty="0"/>
              <a:t>Save </a:t>
            </a:r>
            <a:r>
              <a:rPr lang="en-US" dirty="0" smtClean="0"/>
              <a:t>Time</a:t>
            </a:r>
          </a:p>
          <a:p>
            <a:r>
              <a:rPr lang="en-US" b="1" i="1" u="sng" dirty="0"/>
              <a:t>Disadvantages of Public Cloud</a:t>
            </a:r>
          </a:p>
          <a:p>
            <a:pPr lvl="1"/>
            <a:r>
              <a:rPr lang="en-US" dirty="0" smtClean="0"/>
              <a:t>Low </a:t>
            </a:r>
            <a:r>
              <a:rPr lang="en-US" dirty="0"/>
              <a:t>Security</a:t>
            </a:r>
          </a:p>
          <a:p>
            <a:pPr lvl="2"/>
            <a:r>
              <a:rPr lang="en-US" dirty="0"/>
              <a:t>Public Cloud is less secure because resources are shared publicly.</a:t>
            </a:r>
          </a:p>
          <a:p>
            <a:pPr lvl="1"/>
            <a:r>
              <a:rPr lang="en-US" dirty="0" smtClean="0"/>
              <a:t>Performance</a:t>
            </a:r>
            <a:endParaRPr lang="en-US" dirty="0"/>
          </a:p>
          <a:p>
            <a:pPr lvl="2"/>
            <a:r>
              <a:rPr lang="en-US" dirty="0"/>
              <a:t>In the public cloud, performance depends upon the speed of internet connectivity.</a:t>
            </a:r>
          </a:p>
          <a:p>
            <a:pPr lvl="1"/>
            <a:r>
              <a:rPr lang="en-US" dirty="0" smtClean="0"/>
              <a:t>Less </a:t>
            </a:r>
            <a:r>
              <a:rPr lang="en-US" dirty="0"/>
              <a:t>customizable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144132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515" y="1054916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/>
              <a:t>Private</a:t>
            </a:r>
          </a:p>
          <a:p>
            <a:r>
              <a:rPr lang="en-US" dirty="0"/>
              <a:t>In a private cloud, the systems and resources that provide the service are </a:t>
            </a:r>
            <a:r>
              <a:rPr lang="en-US" dirty="0" smtClean="0"/>
              <a:t>located internal </a:t>
            </a:r>
            <a:r>
              <a:rPr lang="en-US" dirty="0"/>
              <a:t>to the company or organization that uses them. That organization </a:t>
            </a:r>
            <a:r>
              <a:rPr lang="en-US" dirty="0" smtClean="0"/>
              <a:t>is responsible </a:t>
            </a:r>
            <a:r>
              <a:rPr lang="en-US" dirty="0"/>
              <a:t>for the management and administration of the systems that </a:t>
            </a:r>
            <a:r>
              <a:rPr lang="en-US" dirty="0" smtClean="0"/>
              <a:t>are used </a:t>
            </a:r>
            <a:r>
              <a:rPr lang="en-US" dirty="0"/>
              <a:t>to provide the service.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addition, the organization is also </a:t>
            </a:r>
            <a:r>
              <a:rPr lang="en-US" dirty="0" smtClean="0"/>
              <a:t>responsible for </a:t>
            </a:r>
            <a:r>
              <a:rPr lang="en-US" dirty="0"/>
              <a:t>any software or client application that is installed on the end-user system.</a:t>
            </a:r>
          </a:p>
          <a:p>
            <a:r>
              <a:rPr lang="en-US" dirty="0"/>
              <a:t>Private clouds are usually accessed through the local LAN or wide area </a:t>
            </a:r>
            <a:r>
              <a:rPr lang="en-US" dirty="0" smtClean="0"/>
              <a:t>network (WAN</a:t>
            </a:r>
            <a:r>
              <a:rPr lang="en-US"/>
              <a:t>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12023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 smtClean="0"/>
              <a:t>Advantages </a:t>
            </a:r>
            <a:r>
              <a:rPr lang="en-US" b="1" i="1" u="sng" dirty="0"/>
              <a:t>of Private Cloud</a:t>
            </a:r>
          </a:p>
          <a:p>
            <a:pPr lvl="1"/>
            <a:r>
              <a:rPr lang="en-US" dirty="0" smtClean="0"/>
              <a:t>More Control</a:t>
            </a:r>
          </a:p>
          <a:p>
            <a:pPr lvl="1"/>
            <a:r>
              <a:rPr lang="en-US" dirty="0" smtClean="0"/>
              <a:t>Security </a:t>
            </a:r>
            <a:r>
              <a:rPr lang="en-US" dirty="0"/>
              <a:t>&amp; </a:t>
            </a:r>
            <a:r>
              <a:rPr lang="en-US" dirty="0" smtClean="0"/>
              <a:t>privacy</a:t>
            </a:r>
          </a:p>
          <a:p>
            <a:pPr lvl="1"/>
            <a:r>
              <a:rPr lang="en-US" dirty="0" smtClean="0"/>
              <a:t>Improved performance</a:t>
            </a:r>
          </a:p>
          <a:p>
            <a:r>
              <a:rPr lang="en-US" b="1" i="1" u="sng" dirty="0" smtClean="0"/>
              <a:t>Disadvantages </a:t>
            </a:r>
            <a:r>
              <a:rPr lang="en-US" b="1" i="1" u="sng" dirty="0"/>
              <a:t>of Private</a:t>
            </a:r>
            <a:r>
              <a:rPr lang="en-US" b="1" i="1" u="sng" dirty="0" smtClean="0"/>
              <a:t> </a:t>
            </a:r>
            <a:r>
              <a:rPr lang="en-US" b="1" i="1" u="sng" dirty="0"/>
              <a:t>Cloud</a:t>
            </a:r>
          </a:p>
          <a:p>
            <a:pPr lvl="1"/>
            <a:r>
              <a:rPr lang="en-US" dirty="0" smtClean="0"/>
              <a:t>High cost</a:t>
            </a:r>
          </a:p>
          <a:p>
            <a:pPr lvl="1"/>
            <a:r>
              <a:rPr lang="en-US" dirty="0"/>
              <a:t>Restricted area of operations</a:t>
            </a:r>
          </a:p>
          <a:p>
            <a:pPr lvl="1"/>
            <a:r>
              <a:rPr lang="en-US" dirty="0" smtClean="0"/>
              <a:t>Limited scalability</a:t>
            </a:r>
          </a:p>
          <a:p>
            <a:pPr lvl="1"/>
            <a:r>
              <a:rPr lang="en-US" dirty="0" smtClean="0"/>
              <a:t>Skilled </a:t>
            </a:r>
            <a:r>
              <a:rPr lang="en-US" dirty="0"/>
              <a:t>people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391571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8" y="1081042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/>
              <a:t>Community</a:t>
            </a:r>
          </a:p>
          <a:p>
            <a:r>
              <a:rPr lang="en-US" dirty="0"/>
              <a:t>Community clouds are semi-public clouds that are shared between members </a:t>
            </a:r>
            <a:r>
              <a:rPr lang="en-US" dirty="0" smtClean="0"/>
              <a:t>of a </a:t>
            </a:r>
            <a:r>
              <a:rPr lang="en-US" dirty="0"/>
              <a:t>select group of organizations. These organizations will generally have a </a:t>
            </a:r>
            <a:r>
              <a:rPr lang="en-US" dirty="0" smtClean="0"/>
              <a:t>common purpose </a:t>
            </a:r>
            <a:r>
              <a:rPr lang="en-US" dirty="0"/>
              <a:t>or mission. The organizations do not want to use a public </a:t>
            </a:r>
            <a:r>
              <a:rPr lang="en-US" dirty="0" smtClean="0"/>
              <a:t>cloud that </a:t>
            </a:r>
            <a:r>
              <a:rPr lang="en-US" dirty="0"/>
              <a:t>is open to everyone. They want more privacy than what a public </a:t>
            </a:r>
            <a:r>
              <a:rPr lang="en-US" dirty="0" smtClean="0"/>
              <a:t>cloud offers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addition, each organization doesn’t want to be individually </a:t>
            </a:r>
            <a:r>
              <a:rPr lang="en-US" dirty="0" smtClean="0"/>
              <a:t>responsible for </a:t>
            </a:r>
            <a:r>
              <a:rPr lang="en-US" dirty="0"/>
              <a:t>maintaining the cloud; they want to be able to share the </a:t>
            </a:r>
            <a:r>
              <a:rPr lang="en-US" dirty="0" smtClean="0"/>
              <a:t>responsibilities with </a:t>
            </a:r>
            <a:r>
              <a:rPr lang="en-US" dirty="0"/>
              <a:t>others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dirty="0"/>
              <a:t>Health Care community cloud</a:t>
            </a:r>
          </a:p>
        </p:txBody>
      </p:sp>
    </p:spTree>
    <p:extLst>
      <p:ext uri="{BB962C8B-B14F-4D97-AF65-F5344CB8AC3E}">
        <p14:creationId xmlns:p14="http://schemas.microsoft.com/office/powerpoint/2010/main" val="59517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12023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 smtClean="0"/>
              <a:t>Advantages </a:t>
            </a:r>
            <a:r>
              <a:rPr lang="en-US" b="1" i="1" u="sng" dirty="0"/>
              <a:t>of Community</a:t>
            </a:r>
            <a:r>
              <a:rPr lang="en-US" b="1" i="1" u="sng" dirty="0" smtClean="0"/>
              <a:t> </a:t>
            </a:r>
            <a:r>
              <a:rPr lang="en-US" b="1" i="1" u="sng" dirty="0"/>
              <a:t>Cloud</a:t>
            </a:r>
          </a:p>
          <a:p>
            <a:pPr lvl="1"/>
            <a:r>
              <a:rPr lang="en-US" dirty="0" smtClean="0"/>
              <a:t>Sharing infrastructure</a:t>
            </a:r>
            <a:endParaRPr lang="en-US" dirty="0"/>
          </a:p>
          <a:p>
            <a:pPr lvl="1"/>
            <a:r>
              <a:rPr lang="en-US" dirty="0" smtClean="0"/>
              <a:t>Security </a:t>
            </a:r>
            <a:r>
              <a:rPr lang="en-US" dirty="0"/>
              <a:t>&amp; </a:t>
            </a:r>
            <a:r>
              <a:rPr lang="en-US" dirty="0" smtClean="0"/>
              <a:t>privacy</a:t>
            </a:r>
          </a:p>
          <a:p>
            <a:r>
              <a:rPr lang="en-US" b="1" i="1" u="sng" dirty="0" smtClean="0"/>
              <a:t>Disadvantages </a:t>
            </a:r>
            <a:r>
              <a:rPr lang="en-US" b="1" i="1" u="sng" dirty="0"/>
              <a:t>of Community</a:t>
            </a:r>
            <a:r>
              <a:rPr lang="en-US" b="1" i="1" u="sng" dirty="0" smtClean="0"/>
              <a:t> </a:t>
            </a:r>
            <a:r>
              <a:rPr lang="en-US" b="1" i="1" u="sng" dirty="0"/>
              <a:t>Cloud</a:t>
            </a:r>
          </a:p>
          <a:p>
            <a:pPr lvl="1"/>
            <a:r>
              <a:rPr lang="en-US" dirty="0"/>
              <a:t>Sharing responsibilities among organizations is difficult.</a:t>
            </a:r>
          </a:p>
          <a:p>
            <a:pPr lvl="1"/>
            <a:r>
              <a:rPr lang="en-US" dirty="0"/>
              <a:t>Slow adoption to </a:t>
            </a:r>
            <a:r>
              <a:rPr lang="en-US" dirty="0" smtClean="0"/>
              <a:t>data</a:t>
            </a:r>
            <a:endParaRPr lang="en-US" dirty="0"/>
          </a:p>
          <a:p>
            <a:endParaRPr 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157693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012" y="1002665"/>
            <a:ext cx="10515600" cy="4351338"/>
          </a:xfrm>
        </p:spPr>
        <p:txBody>
          <a:bodyPr/>
          <a:lstStyle/>
          <a:p>
            <a:r>
              <a:rPr lang="en-US" b="1" i="1" u="sng" dirty="0"/>
              <a:t>Hybrid</a:t>
            </a:r>
          </a:p>
          <a:p>
            <a:r>
              <a:rPr lang="en-US" dirty="0"/>
              <a:t>A hybrid cloud model is a combination of two or more other cloud models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Hybrid cloud = public cloud + private cloud</a:t>
            </a:r>
          </a:p>
          <a:p>
            <a:r>
              <a:rPr lang="en-US" dirty="0"/>
              <a:t>The clouds themselves are not mixed together; rather, each cloud is </a:t>
            </a:r>
            <a:r>
              <a:rPr lang="en-US" dirty="0" smtClean="0"/>
              <a:t>separate, and </a:t>
            </a:r>
            <a:r>
              <a:rPr lang="en-US" dirty="0"/>
              <a:t>they are all linked together.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hybrid cloud may introduce more </a:t>
            </a:r>
            <a:r>
              <a:rPr lang="en-US" dirty="0" smtClean="0"/>
              <a:t>complexity to </a:t>
            </a:r>
            <a:r>
              <a:rPr lang="en-US" dirty="0"/>
              <a:t>the environment, but it also allows more flexibility in fulfilling </a:t>
            </a:r>
            <a:r>
              <a:rPr lang="en-US" dirty="0" smtClean="0"/>
              <a:t>an organization’s </a:t>
            </a:r>
            <a:r>
              <a:rPr lang="en-US" dirty="0"/>
              <a:t>objectives.</a:t>
            </a:r>
          </a:p>
        </p:txBody>
      </p:sp>
    </p:spTree>
    <p:extLst>
      <p:ext uri="{BB962C8B-B14F-4D97-AF65-F5344CB8AC3E}">
        <p14:creationId xmlns:p14="http://schemas.microsoft.com/office/powerpoint/2010/main" val="269300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12023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 smtClean="0"/>
              <a:t>Advantages </a:t>
            </a:r>
            <a:r>
              <a:rPr lang="en-US" b="1" i="1" u="sng" dirty="0"/>
              <a:t>of Hybrid</a:t>
            </a:r>
            <a:r>
              <a:rPr lang="en-US" b="1" i="1" u="sng" dirty="0" smtClean="0"/>
              <a:t> </a:t>
            </a:r>
            <a:r>
              <a:rPr lang="en-US" b="1" i="1" u="sng" dirty="0"/>
              <a:t>Cloud</a:t>
            </a:r>
          </a:p>
          <a:p>
            <a:pPr lvl="1"/>
            <a:r>
              <a:rPr lang="en-US" dirty="0"/>
              <a:t>Flexible and </a:t>
            </a:r>
            <a:r>
              <a:rPr lang="en-US" dirty="0" smtClean="0"/>
              <a:t>secure</a:t>
            </a:r>
          </a:p>
          <a:p>
            <a:pPr lvl="1"/>
            <a:r>
              <a:rPr lang="en-US" dirty="0"/>
              <a:t>Cost </a:t>
            </a:r>
            <a:r>
              <a:rPr lang="en-US" dirty="0" smtClean="0"/>
              <a:t>effective</a:t>
            </a:r>
          </a:p>
          <a:p>
            <a:r>
              <a:rPr lang="en-US" b="1" i="1" u="sng" dirty="0" smtClean="0"/>
              <a:t>Disadvantages of </a:t>
            </a:r>
            <a:r>
              <a:rPr lang="en-US" b="1" i="1" u="sng" dirty="0"/>
              <a:t>Hybrid</a:t>
            </a:r>
            <a:r>
              <a:rPr lang="en-US" b="1" i="1" u="sng" dirty="0" smtClean="0"/>
              <a:t> Cloud</a:t>
            </a:r>
          </a:p>
          <a:p>
            <a:pPr lvl="1"/>
            <a:r>
              <a:rPr lang="en-US" dirty="0"/>
              <a:t>Due to private and public </a:t>
            </a:r>
            <a:r>
              <a:rPr lang="en-US" dirty="0" smtClean="0"/>
              <a:t>combination</a:t>
            </a:r>
            <a:endParaRPr lang="en-US" b="1" i="1" u="sng" dirty="0" smtClean="0"/>
          </a:p>
          <a:p>
            <a:pPr lvl="2"/>
            <a:r>
              <a:rPr lang="en-US" dirty="0" smtClean="0"/>
              <a:t>Networking issues</a:t>
            </a:r>
          </a:p>
          <a:p>
            <a:pPr lvl="2"/>
            <a:r>
              <a:rPr lang="en-US" dirty="0"/>
              <a:t>Infrastructure </a:t>
            </a:r>
            <a:r>
              <a:rPr lang="en-US" dirty="0" smtClean="0"/>
              <a:t>Compatibility</a:t>
            </a:r>
          </a:p>
          <a:p>
            <a:pPr lvl="2"/>
            <a:r>
              <a:rPr lang="en-US" dirty="0" smtClean="0"/>
              <a:t>Reliability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19608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Service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NIST </a:t>
            </a:r>
            <a:r>
              <a:rPr lang="en-US" dirty="0" smtClean="0"/>
              <a:t>definition of </a:t>
            </a:r>
            <a:r>
              <a:rPr lang="en-US" dirty="0"/>
              <a:t>cloud computing outlines </a:t>
            </a:r>
            <a:r>
              <a:rPr lang="en-US" dirty="0" smtClean="0"/>
              <a:t>four </a:t>
            </a:r>
            <a:r>
              <a:rPr lang="en-US" dirty="0"/>
              <a:t>basic service models: 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Infrastructure as a Service (IaaS)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Platform as a Service (PaaS)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Software as a Service (SaaS)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Function as a Service (</a:t>
            </a:r>
            <a:r>
              <a:rPr lang="en-US" dirty="0" err="1"/>
              <a:t>FaaS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0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074" y="101572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/>
              <a:t>Infrastructure as a Service</a:t>
            </a:r>
          </a:p>
          <a:p>
            <a:r>
              <a:rPr lang="en-US" dirty="0"/>
              <a:t>Infrastructure as a Service, or IaaS, provides basic infrastructure services to customers.</a:t>
            </a:r>
          </a:p>
          <a:p>
            <a:r>
              <a:rPr lang="en-US" dirty="0"/>
              <a:t>These services may include physical machines, virtual machines, </a:t>
            </a:r>
            <a:r>
              <a:rPr lang="en-US" dirty="0" smtClean="0"/>
              <a:t>networking, storage</a:t>
            </a:r>
            <a:r>
              <a:rPr lang="en-US" dirty="0"/>
              <a:t>, or some combination of these. You are then able to </a:t>
            </a:r>
            <a:r>
              <a:rPr lang="en-US" dirty="0" smtClean="0"/>
              <a:t>build whatever </a:t>
            </a:r>
            <a:r>
              <a:rPr lang="en-US" dirty="0"/>
              <a:t>you need on top of the managed infrastructure. </a:t>
            </a:r>
            <a:endParaRPr lang="en-US" dirty="0" smtClean="0"/>
          </a:p>
          <a:p>
            <a:r>
              <a:rPr lang="en-US" dirty="0" smtClean="0"/>
              <a:t>IaaS implementations are </a:t>
            </a:r>
            <a:r>
              <a:rPr lang="en-US" dirty="0"/>
              <a:t>used to replace internally managed datacenters. They allow </a:t>
            </a:r>
            <a:r>
              <a:rPr lang="en-US" dirty="0" smtClean="0"/>
              <a:t>organizations more </a:t>
            </a:r>
            <a:r>
              <a:rPr lang="en-US" dirty="0"/>
              <a:t>flexibility but at a reduced cost.</a:t>
            </a:r>
          </a:p>
        </p:txBody>
      </p:sp>
    </p:spTree>
    <p:extLst>
      <p:ext uri="{BB962C8B-B14F-4D97-AF65-F5344CB8AC3E}">
        <p14:creationId xmlns:p14="http://schemas.microsoft.com/office/powerpoint/2010/main" val="980437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948" y="110716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/>
              <a:t>Platform as a Service</a:t>
            </a:r>
          </a:p>
          <a:p>
            <a:r>
              <a:rPr lang="en-US" dirty="0"/>
              <a:t>Platform as a Service, or PaaS, provides an operating system, development </a:t>
            </a:r>
            <a:r>
              <a:rPr lang="en-US" dirty="0" smtClean="0"/>
              <a:t>platform, and/or </a:t>
            </a:r>
            <a:r>
              <a:rPr lang="en-US" dirty="0"/>
              <a:t>a database platform. PaaS implementations allow </a:t>
            </a:r>
            <a:r>
              <a:rPr lang="en-US" dirty="0" smtClean="0"/>
              <a:t>organizations to </a:t>
            </a:r>
            <a:r>
              <a:rPr lang="en-US" dirty="0"/>
              <a:t>develop applications without having to worry about building the </a:t>
            </a:r>
            <a:r>
              <a:rPr lang="en-US" dirty="0" smtClean="0"/>
              <a:t>infrastructure needed </a:t>
            </a:r>
            <a:r>
              <a:rPr lang="en-US" dirty="0"/>
              <a:t>to support the development environment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However</a:t>
            </a:r>
            <a:r>
              <a:rPr lang="en-US" dirty="0"/>
              <a:t>, </a:t>
            </a:r>
            <a:r>
              <a:rPr lang="en-US" dirty="0" smtClean="0"/>
              <a:t>depending on </a:t>
            </a:r>
            <a:r>
              <a:rPr lang="en-US" dirty="0"/>
              <a:t>the PaaS implementation you go with, you may be limited in what </a:t>
            </a:r>
            <a:r>
              <a:rPr lang="en-US" dirty="0" smtClean="0"/>
              <a:t>tools you </a:t>
            </a:r>
            <a:r>
              <a:rPr lang="en-US" dirty="0"/>
              <a:t>can use to build your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6290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1094105"/>
            <a:ext cx="10515600" cy="4351338"/>
          </a:xfrm>
        </p:spPr>
        <p:txBody>
          <a:bodyPr/>
          <a:lstStyle/>
          <a:p>
            <a:r>
              <a:rPr lang="en-US" b="1" i="1" u="sng" dirty="0"/>
              <a:t>Software as a Service</a:t>
            </a:r>
          </a:p>
          <a:p>
            <a:r>
              <a:rPr lang="en-US" dirty="0"/>
              <a:t>Software as a Service, or SaaS, provides application and data services.</a:t>
            </a:r>
          </a:p>
          <a:p>
            <a:r>
              <a:rPr lang="en-US" dirty="0"/>
              <a:t>Applications, data, and all the necessary platforms and infrastructure are </a:t>
            </a:r>
            <a:r>
              <a:rPr lang="en-US" dirty="0" smtClean="0"/>
              <a:t>provided by </a:t>
            </a:r>
            <a:r>
              <a:rPr lang="en-US" dirty="0"/>
              <a:t>the service provider. SaaS is the original cloud service model. </a:t>
            </a:r>
            <a:endParaRPr lang="en-US" dirty="0" smtClean="0"/>
          </a:p>
          <a:p>
            <a:r>
              <a:rPr lang="en-US" dirty="0" smtClean="0"/>
              <a:t>It still remains </a:t>
            </a:r>
            <a:r>
              <a:rPr lang="en-US" dirty="0"/>
              <a:t>the most popular model, offering by far the largest number of </a:t>
            </a:r>
            <a:r>
              <a:rPr lang="en-US" dirty="0" smtClean="0"/>
              <a:t>provider options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48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109410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i="1" u="sng" dirty="0" smtClean="0"/>
              <a:t>Function </a:t>
            </a:r>
            <a:r>
              <a:rPr lang="en-US" b="1" i="1" u="sng" dirty="0"/>
              <a:t>as a Service (</a:t>
            </a:r>
            <a:r>
              <a:rPr lang="en-US" b="1" i="1" u="sng" dirty="0" err="1"/>
              <a:t>FaaS</a:t>
            </a:r>
            <a:r>
              <a:rPr lang="en-US" b="1" i="1" u="sng" dirty="0" smtClean="0"/>
              <a:t>)</a:t>
            </a:r>
          </a:p>
          <a:p>
            <a:r>
              <a:rPr lang="en-US" dirty="0" err="1"/>
              <a:t>FaaS</a:t>
            </a:r>
            <a:r>
              <a:rPr lang="en-US" dirty="0"/>
              <a:t> is a service Cloud Computing to growing fast that allows customers to develop and run applications as functions without worrying about the underlying server architecture.</a:t>
            </a:r>
          </a:p>
          <a:p>
            <a:pPr lvl="1"/>
            <a:r>
              <a:rPr lang="en-US" sz="2000" dirty="0" smtClean="0"/>
              <a:t>AWS Lambda</a:t>
            </a:r>
          </a:p>
          <a:p>
            <a:pPr lvl="1"/>
            <a:r>
              <a:rPr lang="en-US" sz="2000" dirty="0" smtClean="0"/>
              <a:t>Google </a:t>
            </a:r>
            <a:r>
              <a:rPr lang="en-US" sz="2000" dirty="0"/>
              <a:t>Cloud </a:t>
            </a:r>
            <a:r>
              <a:rPr lang="en-US" sz="2000" dirty="0" smtClean="0"/>
              <a:t>Functions</a:t>
            </a:r>
          </a:p>
          <a:p>
            <a:pPr lvl="1"/>
            <a:r>
              <a:rPr lang="en-US" sz="2000" dirty="0" smtClean="0"/>
              <a:t>Microsoft </a:t>
            </a:r>
            <a:r>
              <a:rPr lang="en-US" sz="2000" dirty="0"/>
              <a:t>Azure Functions. </a:t>
            </a:r>
          </a:p>
        </p:txBody>
      </p:sp>
    </p:spTree>
    <p:extLst>
      <p:ext uri="{BB962C8B-B14F-4D97-AF65-F5344CB8AC3E}">
        <p14:creationId xmlns:p14="http://schemas.microsoft.com/office/powerpoint/2010/main" val="173682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</a:t>
            </a:r>
            <a:r>
              <a:rPr lang="en-US" b="1" dirty="0" smtClean="0"/>
              <a:t>BENEFITS (Cloud Drivers </a:t>
            </a:r>
            <a:r>
              <a:rPr lang="en-US" sz="2000" b="1" dirty="0" smtClean="0"/>
              <a:t>(in book)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cloud presents people with many new opportunities. </a:t>
            </a:r>
            <a:endParaRPr lang="en-US" dirty="0" smtClean="0"/>
          </a:p>
          <a:p>
            <a:r>
              <a:rPr lang="en-US" dirty="0" smtClean="0"/>
              <a:t>Previously</a:t>
            </a:r>
            <a:r>
              <a:rPr lang="en-US" dirty="0"/>
              <a:t>, </a:t>
            </a:r>
            <a:r>
              <a:rPr lang="en-US" dirty="0" smtClean="0"/>
              <a:t>for new </a:t>
            </a:r>
            <a:r>
              <a:rPr lang="en-US" dirty="0"/>
              <a:t>applications, </a:t>
            </a:r>
            <a:r>
              <a:rPr lang="en-US" dirty="0" smtClean="0"/>
              <a:t>Customers </a:t>
            </a:r>
            <a:r>
              <a:rPr lang="en-US" dirty="0"/>
              <a:t>would have to spend a lot of money </a:t>
            </a:r>
            <a:r>
              <a:rPr lang="en-US" dirty="0" smtClean="0"/>
              <a:t>to </a:t>
            </a:r>
            <a:r>
              <a:rPr lang="en-US" dirty="0"/>
              <a:t>get the systems </a:t>
            </a:r>
            <a:r>
              <a:rPr lang="en-US" dirty="0" smtClean="0"/>
              <a:t>and also required to trained staff. </a:t>
            </a:r>
          </a:p>
          <a:p>
            <a:r>
              <a:rPr lang="en-US" dirty="0" smtClean="0"/>
              <a:t>Now</a:t>
            </a:r>
            <a:r>
              <a:rPr lang="en-US" dirty="0"/>
              <a:t>, depending </a:t>
            </a:r>
            <a:r>
              <a:rPr lang="en-US" dirty="0" smtClean="0"/>
              <a:t>on </a:t>
            </a:r>
            <a:r>
              <a:rPr lang="en-US" dirty="0"/>
              <a:t>which provider you choose, those costs can be cut dramatically. </a:t>
            </a:r>
            <a:endParaRPr lang="en-US" dirty="0" smtClean="0"/>
          </a:p>
          <a:p>
            <a:r>
              <a:rPr lang="en-US" dirty="0" smtClean="0"/>
              <a:t>The end </a:t>
            </a:r>
            <a:r>
              <a:rPr lang="en-US" dirty="0"/>
              <a:t>users don’t have to be stuck using applications that they don’t like </a:t>
            </a:r>
            <a:r>
              <a:rPr lang="en-US" dirty="0" smtClean="0"/>
              <a:t>or that </a:t>
            </a:r>
            <a:r>
              <a:rPr lang="en-US" dirty="0"/>
              <a:t>don’t fit their needs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Three basic benefits achieved through: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System Benefits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Business Benefits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Driver for Cloud Benefits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399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System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There are many system </a:t>
            </a:r>
            <a:r>
              <a:rPr lang="en-US" dirty="0" smtClean="0"/>
              <a:t>benefits due to which organizations use the cloud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An organization </a:t>
            </a:r>
            <a:r>
              <a:rPr lang="en-US" dirty="0"/>
              <a:t>may want certain system characteristics that they can’t </a:t>
            </a:r>
            <a:r>
              <a:rPr lang="en-US" dirty="0" smtClean="0"/>
              <a:t>provide with </a:t>
            </a:r>
            <a:r>
              <a:rPr lang="en-US" dirty="0"/>
              <a:t>their current architecture. </a:t>
            </a:r>
            <a:endParaRPr lang="en-US" dirty="0" smtClean="0"/>
          </a:p>
          <a:p>
            <a:r>
              <a:rPr lang="en-US" dirty="0" smtClean="0"/>
              <a:t>Organizations </a:t>
            </a:r>
            <a:r>
              <a:rPr lang="en-US" dirty="0"/>
              <a:t>might not have the expertise </a:t>
            </a:r>
            <a:r>
              <a:rPr lang="en-US" dirty="0" smtClean="0"/>
              <a:t>or funding </a:t>
            </a:r>
            <a:r>
              <a:rPr lang="en-US" dirty="0"/>
              <a:t>to achieve certain environment characteristics internally, so they </a:t>
            </a:r>
            <a:r>
              <a:rPr lang="en-US" dirty="0" smtClean="0"/>
              <a:t>look to </a:t>
            </a:r>
            <a:r>
              <a:rPr lang="en-US" dirty="0"/>
              <a:t>a cloud provider to provide them.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characteristics include </a:t>
            </a:r>
            <a:endParaRPr lang="en-US" dirty="0" smtClean="0"/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A</a:t>
            </a:r>
            <a:r>
              <a:rPr lang="en-US" dirty="0" smtClean="0"/>
              <a:t>gility</a:t>
            </a:r>
            <a:r>
              <a:rPr lang="en-US" dirty="0"/>
              <a:t>, </a:t>
            </a:r>
            <a:endParaRPr lang="en-US" dirty="0" smtClean="0"/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R</a:t>
            </a:r>
            <a:r>
              <a:rPr lang="en-US" dirty="0" smtClean="0"/>
              <a:t>eliability,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S</a:t>
            </a:r>
            <a:r>
              <a:rPr lang="en-US" dirty="0" smtClean="0"/>
              <a:t>calability</a:t>
            </a:r>
            <a:r>
              <a:rPr lang="en-US" dirty="0"/>
              <a:t>,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P</a:t>
            </a:r>
            <a:r>
              <a:rPr lang="en-US" dirty="0" smtClean="0"/>
              <a:t>erformance.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 smtClean="0"/>
              <a:t>Ease of maintenance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 smtClean="0"/>
              <a:t>Security and Compliance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048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/>
              <a:t>i</a:t>
            </a:r>
            <a:r>
              <a:rPr lang="en-US" b="1" i="1" dirty="0" smtClean="0"/>
              <a:t>. Agility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environments can offer great agility.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easily </a:t>
            </a:r>
            <a:r>
              <a:rPr lang="en-US" dirty="0" smtClean="0"/>
              <a:t>reorganize resources </a:t>
            </a:r>
            <a:r>
              <a:rPr lang="en-US" dirty="0"/>
              <a:t>when needed.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allows you to add resources to systems that </a:t>
            </a:r>
            <a:r>
              <a:rPr lang="en-US" dirty="0" smtClean="0"/>
              <a:t>need them </a:t>
            </a:r>
            <a:r>
              <a:rPr lang="en-US" dirty="0"/>
              <a:t>and take them away from systems that don’t.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also easily add </a:t>
            </a:r>
            <a:r>
              <a:rPr lang="en-US" dirty="0" smtClean="0"/>
              <a:t>systems to </a:t>
            </a:r>
            <a:r>
              <a:rPr lang="en-US" dirty="0"/>
              <a:t>expand your capacity.</a:t>
            </a:r>
          </a:p>
          <a:p>
            <a:r>
              <a:rPr lang="en-US" dirty="0" smtClean="0"/>
              <a:t>Cloud </a:t>
            </a:r>
            <a:r>
              <a:rPr lang="en-US" dirty="0"/>
              <a:t>environments allow you to make better use of your </a:t>
            </a:r>
            <a:r>
              <a:rPr lang="en-US" dirty="0" smtClean="0"/>
              <a:t>infrastructure </a:t>
            </a:r>
            <a:r>
              <a:rPr lang="en-US" dirty="0"/>
              <a:t>resources. </a:t>
            </a:r>
          </a:p>
        </p:txBody>
      </p:sp>
    </p:spTree>
    <p:extLst>
      <p:ext uri="{BB962C8B-B14F-4D97-AF65-F5344CB8AC3E}">
        <p14:creationId xmlns:p14="http://schemas.microsoft.com/office/powerpoint/2010/main" val="4027081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ii. 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reliability into your environment can be very costly. </a:t>
            </a:r>
            <a:endParaRPr lang="en-US" dirty="0" smtClean="0"/>
          </a:p>
          <a:p>
            <a:r>
              <a:rPr lang="en-US" dirty="0" smtClean="0"/>
              <a:t>It usually involves </a:t>
            </a:r>
            <a:r>
              <a:rPr lang="en-US" dirty="0"/>
              <a:t>having multiple systems or even multiple datacenter </a:t>
            </a:r>
            <a:r>
              <a:rPr lang="en-US" dirty="0" smtClean="0"/>
              <a:t>locations. You have </a:t>
            </a:r>
            <a:r>
              <a:rPr lang="en-US" dirty="0"/>
              <a:t>to do disaster recovery (DR) and continuity planning and simulations.</a:t>
            </a:r>
          </a:p>
          <a:p>
            <a:r>
              <a:rPr lang="en-US" dirty="0"/>
              <a:t>Many cloud providers already have multiple locations set up, so if you </a:t>
            </a:r>
            <a:r>
              <a:rPr lang="en-US" dirty="0" smtClean="0"/>
              <a:t>use their </a:t>
            </a:r>
            <a:r>
              <a:rPr lang="en-US" dirty="0"/>
              <a:t>services, you can instantly add reliability to your environment. You </a:t>
            </a:r>
            <a:r>
              <a:rPr lang="en-US" dirty="0" smtClean="0"/>
              <a:t>may have </a:t>
            </a:r>
            <a:r>
              <a:rPr lang="en-US" dirty="0"/>
              <a:t>to request to have your service use multiple </a:t>
            </a:r>
            <a:r>
              <a:rPr lang="en-US" dirty="0" smtClean="0"/>
              <a:t>locations.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672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iii. Scalability </a:t>
            </a:r>
            <a:r>
              <a:rPr lang="en-US" b="1" i="1" dirty="0"/>
              <a:t>and Elasticity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cloud environment can automatically scale to meet customer needs. </a:t>
            </a:r>
            <a:endParaRPr lang="en-US" dirty="0" smtClean="0"/>
          </a:p>
          <a:p>
            <a:r>
              <a:rPr lang="en-US" dirty="0" smtClean="0"/>
              <a:t>New resources </a:t>
            </a:r>
            <a:r>
              <a:rPr lang="en-US" dirty="0"/>
              <a:t>can be dynamically added to meet increased usage.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helps </a:t>
            </a:r>
            <a:r>
              <a:rPr lang="en-US" dirty="0" smtClean="0"/>
              <a:t>in two </a:t>
            </a:r>
            <a:r>
              <a:rPr lang="en-US" dirty="0"/>
              <a:t>ways.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increased capacity helps ensure that user needs are met. </a:t>
            </a:r>
            <a:endParaRPr lang="en-US" dirty="0" smtClean="0"/>
          </a:p>
          <a:p>
            <a:pPr lvl="1"/>
            <a:r>
              <a:rPr lang="en-US" dirty="0" smtClean="0"/>
              <a:t>The fact that </a:t>
            </a:r>
            <a:r>
              <a:rPr lang="en-US" dirty="0"/>
              <a:t>resources can be dynamically allocated on demand means that they </a:t>
            </a:r>
            <a:r>
              <a:rPr lang="en-US" dirty="0" smtClean="0"/>
              <a:t>don’t always </a:t>
            </a:r>
            <a:r>
              <a:rPr lang="en-US" dirty="0"/>
              <a:t>have to be available, which means you don’t need to have systems </a:t>
            </a:r>
            <a:r>
              <a:rPr lang="en-US" dirty="0" smtClean="0"/>
              <a:t>waiting and </a:t>
            </a:r>
            <a:r>
              <a:rPr lang="en-US" dirty="0"/>
              <a:t>sitting </a:t>
            </a:r>
            <a:r>
              <a:rPr lang="en-US" dirty="0" smtClean="0"/>
              <a:t>idle that other systems are </a:t>
            </a:r>
            <a:r>
              <a:rPr lang="en-US" dirty="0"/>
              <a:t>still use resources.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scalability allows you to better meets your customers’ needs. You </a:t>
            </a:r>
            <a:r>
              <a:rPr lang="en-US" dirty="0" smtClean="0"/>
              <a:t>can quickly </a:t>
            </a:r>
            <a:r>
              <a:rPr lang="en-US" dirty="0"/>
              <a:t>add the capacity your customers need for temporary or </a:t>
            </a:r>
            <a:r>
              <a:rPr lang="en-US" dirty="0" smtClean="0"/>
              <a:t>permanent expansion</a:t>
            </a:r>
            <a:r>
              <a:rPr lang="en-US" dirty="0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96149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iv.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Performance in cloud systems is constantly being measured and monitored. </a:t>
            </a:r>
            <a:endParaRPr lang="en-US" dirty="0" smtClean="0"/>
          </a:p>
          <a:p>
            <a:r>
              <a:rPr lang="en-US" dirty="0" smtClean="0"/>
              <a:t>If performance </a:t>
            </a:r>
            <a:r>
              <a:rPr lang="en-US" dirty="0"/>
              <a:t>falls below a certain level, the systems can automatically adjust </a:t>
            </a:r>
            <a:r>
              <a:rPr lang="en-US" dirty="0" smtClean="0"/>
              <a:t>to provide </a:t>
            </a:r>
            <a:r>
              <a:rPr lang="en-US" dirty="0"/>
              <a:t>more capacity, if that is what’s needed.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presence of a </a:t>
            </a:r>
            <a:r>
              <a:rPr lang="en-US" dirty="0" smtClean="0"/>
              <a:t>service-level agreement </a:t>
            </a:r>
            <a:r>
              <a:rPr lang="en-US" dirty="0"/>
              <a:t>(SLA) is also a benefit. An SLA guarantees a certain level of performance</a:t>
            </a:r>
            <a:r>
              <a:rPr lang="en-US" dirty="0" smtClean="0"/>
              <a:t>. If </a:t>
            </a:r>
            <a:r>
              <a:rPr lang="en-US" dirty="0"/>
              <a:t>that level is not met, the service provider must generally meet </a:t>
            </a:r>
            <a:r>
              <a:rPr lang="en-US" dirty="0" smtClean="0"/>
              <a:t>some level </a:t>
            </a:r>
            <a:r>
              <a:rPr lang="en-US" dirty="0"/>
              <a:t>of restitution.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restitution is often in the form of a chargeback or </a:t>
            </a:r>
            <a:r>
              <a:rPr lang="en-US" dirty="0" smtClean="0"/>
              <a:t>a fee </a:t>
            </a:r>
            <a:r>
              <a:rPr lang="en-US" dirty="0"/>
              <a:t>reduction. So, although performance itself is not assured, there can be </a:t>
            </a:r>
            <a:r>
              <a:rPr lang="en-US" dirty="0" smtClean="0"/>
              <a:t>an assurance </a:t>
            </a:r>
            <a:r>
              <a:rPr lang="en-US" dirty="0"/>
              <a:t>that the cost of a lack of performance can be mitigated.</a:t>
            </a:r>
          </a:p>
        </p:txBody>
      </p:sp>
    </p:spTree>
    <p:extLst>
      <p:ext uri="{BB962C8B-B14F-4D97-AF65-F5344CB8AC3E}">
        <p14:creationId xmlns:p14="http://schemas.microsoft.com/office/powerpoint/2010/main" val="1358996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v. Ease </a:t>
            </a:r>
            <a:r>
              <a:rPr lang="en-US" b="1" i="1" dirty="0"/>
              <a:t>of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Ease of maintenance can be a very attractive benefit of cloud computing. If </a:t>
            </a:r>
            <a:r>
              <a:rPr lang="en-US" dirty="0" smtClean="0"/>
              <a:t>someone else </a:t>
            </a:r>
            <a:r>
              <a:rPr lang="en-US" dirty="0"/>
              <a:t>is managing the infrastructure and the systems used to provide the service</a:t>
            </a:r>
            <a:r>
              <a:rPr lang="en-US" dirty="0" smtClean="0"/>
              <a:t>, they </a:t>
            </a:r>
            <a:r>
              <a:rPr lang="en-US" dirty="0"/>
              <a:t>will generally be responsible for maintenance.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</a:t>
            </a:r>
            <a:r>
              <a:rPr lang="en-US" dirty="0" smtClean="0"/>
              <a:t>several things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don’t have to worry about tracking and staying up to date with </a:t>
            </a:r>
            <a:r>
              <a:rPr lang="en-US" dirty="0" smtClean="0"/>
              <a:t>the latest </a:t>
            </a:r>
            <a:r>
              <a:rPr lang="en-US" dirty="0"/>
              <a:t>hardware and software patches. </a:t>
            </a:r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don’t have to worry about </a:t>
            </a:r>
            <a:r>
              <a:rPr lang="en-US" dirty="0" smtClean="0"/>
              <a:t>spending time </a:t>
            </a:r>
            <a:r>
              <a:rPr lang="en-US" dirty="0"/>
              <a:t>trying to manage multiple servers and multitudes of disparate client systems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You </a:t>
            </a:r>
            <a:r>
              <a:rPr lang="en-US" dirty="0"/>
              <a:t>don’t have to worry about the downtime caused by maintenance windows.</a:t>
            </a:r>
          </a:p>
          <a:p>
            <a:r>
              <a:rPr lang="en-US" dirty="0"/>
              <a:t>There will be few instances where administrators will have to come into the </a:t>
            </a:r>
            <a:r>
              <a:rPr lang="en-US" dirty="0" smtClean="0"/>
              <a:t>office after </a:t>
            </a:r>
            <a:r>
              <a:rPr lang="en-US" dirty="0"/>
              <a:t>hours to make system changes. Also, having to maintain </a:t>
            </a:r>
            <a:r>
              <a:rPr lang="en-US" dirty="0" smtClean="0"/>
              <a:t>maintenance and support agreements with multiple vendors can be very costly. </a:t>
            </a:r>
          </a:p>
          <a:p>
            <a:r>
              <a:rPr lang="en-US" dirty="0" smtClean="0"/>
              <a:t>In </a:t>
            </a:r>
            <a:r>
              <a:rPr lang="en-US" dirty="0"/>
              <a:t>a cloud </a:t>
            </a:r>
            <a:r>
              <a:rPr lang="en-US" dirty="0" smtClean="0"/>
              <a:t>environment, you </a:t>
            </a:r>
            <a:r>
              <a:rPr lang="en-US" dirty="0"/>
              <a:t>only have to maintain an agreement with the service provider.</a:t>
            </a:r>
          </a:p>
        </p:txBody>
      </p:sp>
    </p:spTree>
    <p:extLst>
      <p:ext uri="{BB962C8B-B14F-4D97-AF65-F5344CB8AC3E}">
        <p14:creationId xmlns:p14="http://schemas.microsoft.com/office/powerpoint/2010/main" val="986399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vi. Security </a:t>
            </a:r>
            <a:r>
              <a:rPr lang="en-US" b="1" dirty="0"/>
              <a:t>and Compliance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Many experts consider security in a cloud environment to be much tighter </a:t>
            </a:r>
            <a:r>
              <a:rPr lang="en-US" dirty="0" smtClean="0"/>
              <a:t>than in </a:t>
            </a:r>
            <a:r>
              <a:rPr lang="en-US" dirty="0"/>
              <a:t>a traditional environment.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administrators and engineers who run </a:t>
            </a:r>
            <a:r>
              <a:rPr lang="en-US" dirty="0" smtClean="0"/>
              <a:t>cloud environments </a:t>
            </a:r>
            <a:r>
              <a:rPr lang="en-US" dirty="0"/>
              <a:t>don’t have to be generalists, as is usually the case in </a:t>
            </a:r>
            <a:r>
              <a:rPr lang="en-US" dirty="0" smtClean="0"/>
              <a:t>traditional environments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can focus on securing one type of environment or </a:t>
            </a:r>
            <a:r>
              <a:rPr lang="en-US" dirty="0" smtClean="0"/>
              <a:t>one type </a:t>
            </a:r>
            <a:r>
              <a:rPr lang="en-US" dirty="0"/>
              <a:t>of data. This focus allows the administrators to put more time into </a:t>
            </a:r>
            <a:r>
              <a:rPr lang="en-US" dirty="0" smtClean="0"/>
              <a:t>coming up </a:t>
            </a:r>
            <a:r>
              <a:rPr lang="en-US" dirty="0"/>
              <a:t>with better security measures.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addition, a cloud provider may </a:t>
            </a:r>
            <a:r>
              <a:rPr lang="en-US" dirty="0" smtClean="0"/>
              <a:t>have more </a:t>
            </a:r>
            <a:r>
              <a:rPr lang="en-US" dirty="0"/>
              <a:t>money to devote to solving a particular issue. After all, they will be </a:t>
            </a:r>
            <a:r>
              <a:rPr lang="en-US" dirty="0" smtClean="0"/>
              <a:t>solving the </a:t>
            </a:r>
            <a:r>
              <a:rPr lang="en-US" dirty="0"/>
              <a:t>issue for multiple customers, not just one organization.</a:t>
            </a:r>
          </a:p>
          <a:p>
            <a:r>
              <a:rPr lang="en-US" dirty="0"/>
              <a:t>Many organizations are looking to the cloud to help ease their compliance burden.</a:t>
            </a:r>
          </a:p>
          <a:p>
            <a:r>
              <a:rPr lang="en-US" dirty="0"/>
              <a:t>Compliance restrictions can put a big strain on your IT environment. </a:t>
            </a:r>
            <a:r>
              <a:rPr lang="en-US" dirty="0" smtClean="0"/>
              <a:t>They can </a:t>
            </a:r>
            <a:r>
              <a:rPr lang="en-US" dirty="0"/>
              <a:t>limit your flexibility and the choices you can make around securing your environment</a:t>
            </a:r>
            <a:r>
              <a:rPr lang="en-US" dirty="0" smtClean="0"/>
              <a:t>. If </a:t>
            </a:r>
            <a:r>
              <a:rPr lang="en-US" dirty="0"/>
              <a:t>you are able to outsource certain functions to an external provider</a:t>
            </a:r>
            <a:r>
              <a:rPr lang="en-US" dirty="0" smtClean="0"/>
              <a:t>, you </a:t>
            </a:r>
            <a:r>
              <a:rPr lang="en-US" dirty="0"/>
              <a:t>may also be able lessen some of the compliance burden of your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9558340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b="1" dirty="0"/>
              <a:t>Business </a:t>
            </a:r>
            <a:r>
              <a:rPr lang="en-US" b="1" dirty="0" smtClean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cloud can help you get applications up and running faster.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also </a:t>
            </a:r>
            <a:r>
              <a:rPr lang="en-US" dirty="0" smtClean="0"/>
              <a:t>provides improved </a:t>
            </a:r>
            <a:r>
              <a:rPr lang="en-US" dirty="0"/>
              <a:t>manageability and less maintenance and enables IT to more </a:t>
            </a:r>
            <a:r>
              <a:rPr lang="en-US" dirty="0" smtClean="0"/>
              <a:t>rapidly adjust </a:t>
            </a:r>
            <a:r>
              <a:rPr lang="en-US" dirty="0"/>
              <a:t>resources to meet fluctuating and unpredictable business demand</a:t>
            </a:r>
            <a:r>
              <a:rPr lang="en-US" dirty="0" smtClean="0"/>
              <a:t>.</a:t>
            </a:r>
          </a:p>
          <a:p>
            <a:r>
              <a:rPr lang="en-US" dirty="0"/>
              <a:t>Once you tap into these benefits, you can transform your business into a </a:t>
            </a:r>
            <a:r>
              <a:rPr lang="en-US" dirty="0" smtClean="0"/>
              <a:t>more streamlined </a:t>
            </a:r>
            <a:r>
              <a:rPr lang="en-US" dirty="0"/>
              <a:t>and agile architecture. There are also other key benefits related </a:t>
            </a:r>
            <a:r>
              <a:rPr lang="en-US" dirty="0" smtClean="0"/>
              <a:t>to cost </a:t>
            </a:r>
            <a:r>
              <a:rPr lang="en-US" dirty="0"/>
              <a:t>and consumerism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Contain: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 smtClean="0"/>
              <a:t>Cost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 smtClean="0"/>
              <a:t>Consumerism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dirty="0" smtClean="0"/>
              <a:t>Technology </a:t>
            </a:r>
            <a:r>
              <a:rPr lang="en-US" b="1" dirty="0"/>
              <a:t>is Catching </a:t>
            </a:r>
            <a:r>
              <a:rPr lang="en-US" b="1" dirty="0" smtClean="0"/>
              <a:t>Up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 smtClean="0"/>
              <a:t>Virtualization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/>
              <a:t>Application </a:t>
            </a:r>
            <a:r>
              <a:rPr lang="en-US" b="1" i="1" dirty="0" smtClean="0"/>
              <a:t>Architecture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/>
              <a:t>Bandwidth Increases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2907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/>
              <a:t>i</a:t>
            </a:r>
            <a:r>
              <a:rPr lang="en-US" b="1" i="1" dirty="0" smtClean="0"/>
              <a:t>.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Cloud environments can be a source of reduced cost. </a:t>
            </a:r>
            <a:endParaRPr lang="en-US" dirty="0" smtClean="0"/>
          </a:p>
          <a:p>
            <a:r>
              <a:rPr lang="en-US" dirty="0" smtClean="0"/>
              <a:t>One </a:t>
            </a:r>
            <a:r>
              <a:rPr lang="en-US" dirty="0"/>
              <a:t>of the biggest </a:t>
            </a:r>
            <a:r>
              <a:rPr lang="en-US" dirty="0" smtClean="0"/>
              <a:t>cost savings </a:t>
            </a:r>
            <a:r>
              <a:rPr lang="en-US" dirty="0"/>
              <a:t>is the transition from capital expense to operational expense. </a:t>
            </a:r>
            <a:r>
              <a:rPr lang="en-US" dirty="0" smtClean="0"/>
              <a:t>When setting </a:t>
            </a:r>
            <a:r>
              <a:rPr lang="en-US" dirty="0"/>
              <a:t>up a traditional environment, the infrastructure and equipment </a:t>
            </a:r>
            <a:r>
              <a:rPr lang="en-US" dirty="0" smtClean="0"/>
              <a:t>have to </a:t>
            </a:r>
            <a:r>
              <a:rPr lang="en-US" dirty="0"/>
              <a:t>be purchased ahead of time. This equipment is usually purchased as part </a:t>
            </a:r>
            <a:r>
              <a:rPr lang="en-US" dirty="0" smtClean="0"/>
              <a:t>of an </a:t>
            </a:r>
            <a:r>
              <a:rPr lang="en-US" dirty="0"/>
              <a:t>organization’s capital budget.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 cloud environment, you don’t have </a:t>
            </a:r>
            <a:r>
              <a:rPr lang="en-US" dirty="0" smtClean="0"/>
              <a:t>to worry </a:t>
            </a:r>
            <a:r>
              <a:rPr lang="en-US" dirty="0"/>
              <a:t>about purchasing the equipment; you only pay for the service. </a:t>
            </a:r>
            <a:endParaRPr lang="en-US" dirty="0" smtClean="0"/>
          </a:p>
          <a:p>
            <a:r>
              <a:rPr lang="en-US" dirty="0" smtClean="0"/>
              <a:t>The cost of </a:t>
            </a:r>
            <a:r>
              <a:rPr lang="en-US" dirty="0"/>
              <a:t>the service will usually count against an organization’s operational budget.</a:t>
            </a:r>
          </a:p>
          <a:p>
            <a:r>
              <a:rPr lang="en-US" dirty="0"/>
              <a:t>Generally, it’s easier </a:t>
            </a:r>
            <a:r>
              <a:rPr lang="en-US" dirty="0" smtClean="0"/>
              <a:t>to get operational expenses approved than to get capital expenses approved. </a:t>
            </a:r>
          </a:p>
          <a:p>
            <a:r>
              <a:rPr lang="en-US" dirty="0" smtClean="0"/>
              <a:t>In </a:t>
            </a:r>
            <a:r>
              <a:rPr lang="en-US" dirty="0"/>
              <a:t>addition, traditional cloud environments are built </a:t>
            </a:r>
            <a:r>
              <a:rPr lang="en-US" dirty="0" smtClean="0"/>
              <a:t>using utility </a:t>
            </a:r>
            <a:r>
              <a:rPr lang="en-US" dirty="0"/>
              <a:t>storage and utility computing.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are generally cheaper than </a:t>
            </a:r>
            <a:r>
              <a:rPr lang="en-US" dirty="0" smtClean="0"/>
              <a:t>more specialized </a:t>
            </a:r>
            <a:r>
              <a:rPr lang="en-US" dirty="0"/>
              <a:t>components.</a:t>
            </a:r>
          </a:p>
        </p:txBody>
      </p:sp>
    </p:spTree>
    <p:extLst>
      <p:ext uri="{BB962C8B-B14F-4D97-AF65-F5344CB8AC3E}">
        <p14:creationId xmlns:p14="http://schemas.microsoft.com/office/powerpoint/2010/main" val="35487868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ii. Consumerism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information technology (IT) landscape is being changed by the </a:t>
            </a:r>
            <a:r>
              <a:rPr lang="en-US" dirty="0" smtClean="0"/>
              <a:t>notion of </a:t>
            </a:r>
            <a:r>
              <a:rPr lang="en-US" dirty="0"/>
              <a:t>consumerism. </a:t>
            </a:r>
            <a:endParaRPr lang="en-US" dirty="0" smtClean="0"/>
          </a:p>
          <a:p>
            <a:r>
              <a:rPr lang="en-US" i="1" dirty="0" smtClean="0"/>
              <a:t>Consumerism </a:t>
            </a:r>
            <a:r>
              <a:rPr lang="en-US" dirty="0"/>
              <a:t>is a focus on the needs and wants of the consumer.</a:t>
            </a:r>
          </a:p>
          <a:p>
            <a:r>
              <a:rPr lang="en-US" dirty="0"/>
              <a:t>Consumers aren’t bound to a single paradigm; they are free to </a:t>
            </a:r>
            <a:r>
              <a:rPr lang="en-US" dirty="0" smtClean="0"/>
              <a:t>choose the </a:t>
            </a:r>
            <a:r>
              <a:rPr lang="en-US" dirty="0"/>
              <a:t>access methods and applications they want.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meet these consumer needs</a:t>
            </a:r>
            <a:r>
              <a:rPr lang="en-US" dirty="0" smtClean="0"/>
              <a:t>, IT </a:t>
            </a:r>
            <a:r>
              <a:rPr lang="en-US" dirty="0"/>
              <a:t>environments must be flexible.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may need to provide a host of </a:t>
            </a:r>
            <a:r>
              <a:rPr lang="en-US" dirty="0" smtClean="0"/>
              <a:t>different applications </a:t>
            </a:r>
            <a:r>
              <a:rPr lang="en-US" dirty="0"/>
              <a:t>that provide the same function. </a:t>
            </a:r>
            <a:r>
              <a:rPr lang="en-US" dirty="0" smtClean="0"/>
              <a:t>Having </a:t>
            </a:r>
            <a:r>
              <a:rPr lang="en-US" dirty="0"/>
              <a:t>to support this </a:t>
            </a:r>
            <a:r>
              <a:rPr lang="en-US" dirty="0" smtClean="0"/>
              <a:t>multitude of </a:t>
            </a:r>
            <a:r>
              <a:rPr lang="en-US" dirty="0"/>
              <a:t>applications can be very difficult and costly. </a:t>
            </a:r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/>
              <a:t>a cloud environment </a:t>
            </a:r>
            <a:r>
              <a:rPr lang="en-US" dirty="0" smtClean="0"/>
              <a:t>to provide </a:t>
            </a:r>
            <a:r>
              <a:rPr lang="en-US" dirty="0"/>
              <a:t>these services can make it a lot easier. </a:t>
            </a:r>
            <a:endParaRPr lang="en-US" dirty="0" smtClean="0"/>
          </a:p>
          <a:p>
            <a:r>
              <a:rPr lang="en-US" smtClean="0"/>
              <a:t>Most </a:t>
            </a:r>
            <a:r>
              <a:rPr lang="en-US" dirty="0"/>
              <a:t>cloud </a:t>
            </a:r>
            <a:r>
              <a:rPr lang="en-US"/>
              <a:t>environments </a:t>
            </a:r>
            <a:r>
              <a:rPr lang="en-US" smtClean="0"/>
              <a:t>can provide </a:t>
            </a:r>
            <a:r>
              <a:rPr lang="en-US" dirty="0"/>
              <a:t>access from different devices such as computers, tablets, and smartphones.</a:t>
            </a:r>
          </a:p>
          <a:p>
            <a:r>
              <a:rPr lang="en-US" dirty="0"/>
              <a:t>They give users the flexibility to access the service any way they want.</a:t>
            </a:r>
          </a:p>
        </p:txBody>
      </p:sp>
    </p:spTree>
    <p:extLst>
      <p:ext uri="{BB962C8B-B14F-4D97-AF65-F5344CB8AC3E}">
        <p14:creationId xmlns:p14="http://schemas.microsoft.com/office/powerpoint/2010/main" val="387776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iii. Technology </a:t>
            </a:r>
            <a:r>
              <a:rPr lang="en-US" b="1" i="1" dirty="0"/>
              <a:t>is Catching Up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Recent advancements in technology are a big reason the cloud is </a:t>
            </a:r>
            <a:r>
              <a:rPr lang="en-US" dirty="0" smtClean="0"/>
              <a:t>gaining momentum</a:t>
            </a:r>
            <a:r>
              <a:rPr lang="en-US" dirty="0"/>
              <a:t>. </a:t>
            </a:r>
            <a:r>
              <a:rPr lang="en-US" dirty="0" smtClean="0"/>
              <a:t>In </a:t>
            </a:r>
            <a:r>
              <a:rPr lang="en-US" dirty="0"/>
              <a:t>the past, the cloud was seen as a good idea but a pipe dream.</a:t>
            </a:r>
          </a:p>
          <a:p>
            <a:r>
              <a:rPr lang="en-US" dirty="0"/>
              <a:t>The technology wasn’t there to make the dream into a reality.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cloud </a:t>
            </a:r>
            <a:r>
              <a:rPr lang="en-US" dirty="0" smtClean="0"/>
              <a:t>model was </a:t>
            </a:r>
            <a:r>
              <a:rPr lang="en-US" dirty="0"/>
              <a:t>lacking key components to make it a viable option. It was expensive to </a:t>
            </a:r>
            <a:r>
              <a:rPr lang="en-US" dirty="0" smtClean="0"/>
              <a:t>get enough </a:t>
            </a:r>
            <a:r>
              <a:rPr lang="en-US" dirty="0"/>
              <a:t>servers to service your customers.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all, you had to have separate </a:t>
            </a:r>
            <a:r>
              <a:rPr lang="en-US" dirty="0" smtClean="0"/>
              <a:t>servers for </a:t>
            </a:r>
            <a:r>
              <a:rPr lang="en-US" dirty="0"/>
              <a:t>each customer. </a:t>
            </a:r>
          </a:p>
          <a:p>
            <a:r>
              <a:rPr lang="en-US" dirty="0"/>
              <a:t>Many applications required a larger amount of data to be transferred </a:t>
            </a:r>
            <a:r>
              <a:rPr lang="en-US" dirty="0" smtClean="0"/>
              <a:t>between the </a:t>
            </a:r>
            <a:r>
              <a:rPr lang="en-US" dirty="0"/>
              <a:t>application and the client. The provider would have to do all the servicing.</a:t>
            </a:r>
          </a:p>
          <a:p>
            <a:r>
              <a:rPr lang="en-US" dirty="0"/>
              <a:t>Now technology has been developed that addresses many of these deficiencies.</a:t>
            </a:r>
          </a:p>
        </p:txBody>
      </p:sp>
    </p:spTree>
    <p:extLst>
      <p:ext uri="{BB962C8B-B14F-4D97-AF65-F5344CB8AC3E}">
        <p14:creationId xmlns:p14="http://schemas.microsoft.com/office/powerpoint/2010/main" val="4198707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iv.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i="1" dirty="0"/>
              <a:t>Virtualization </a:t>
            </a:r>
            <a:r>
              <a:rPr lang="en-US" dirty="0"/>
              <a:t>has been a big driver in the movement toward the cloud. </a:t>
            </a:r>
            <a:endParaRPr lang="en-US" dirty="0" smtClean="0"/>
          </a:p>
          <a:p>
            <a:pPr algn="just"/>
            <a:r>
              <a:rPr lang="en-US" dirty="0" smtClean="0"/>
              <a:t>In fact</a:t>
            </a:r>
            <a:r>
              <a:rPr lang="en-US" dirty="0"/>
              <a:t>, when many people think about the cloud, they think virtualization is </a:t>
            </a:r>
            <a:r>
              <a:rPr lang="en-US" dirty="0" smtClean="0"/>
              <a:t>a </a:t>
            </a:r>
            <a:r>
              <a:rPr lang="en-US" dirty="0"/>
              <a:t>requirement in a cloud environment; but it’s not. Virtualization can play </a:t>
            </a:r>
            <a:r>
              <a:rPr lang="en-US" dirty="0" smtClean="0"/>
              <a:t>an extensive </a:t>
            </a:r>
            <a:r>
              <a:rPr lang="en-US" dirty="0"/>
              <a:t>role in a cloud implementation, but it is definitely not required. </a:t>
            </a:r>
            <a:endParaRPr lang="en-US" dirty="0" smtClean="0"/>
          </a:p>
          <a:p>
            <a:pPr algn="just"/>
            <a:r>
              <a:rPr lang="en-US" dirty="0" smtClean="0"/>
              <a:t>With virtualization</a:t>
            </a:r>
            <a:r>
              <a:rPr lang="en-US" dirty="0"/>
              <a:t>, you are able to host multiple virtual systems on one </a:t>
            </a:r>
            <a:r>
              <a:rPr lang="en-US" dirty="0" smtClean="0"/>
              <a:t>physical system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has cut down implementation costs. You don’t need to have </a:t>
            </a:r>
            <a:r>
              <a:rPr lang="en-US" dirty="0" smtClean="0"/>
              <a:t>separate physical </a:t>
            </a:r>
            <a:r>
              <a:rPr lang="en-US" dirty="0"/>
              <a:t>systems for each customer. In addition, virtualization allows </a:t>
            </a:r>
            <a:r>
              <a:rPr lang="en-US" dirty="0" smtClean="0"/>
              <a:t>for resource </a:t>
            </a:r>
            <a:r>
              <a:rPr lang="en-US" dirty="0"/>
              <a:t>pooling and increased utilization of a physical system.</a:t>
            </a:r>
          </a:p>
        </p:txBody>
      </p:sp>
    </p:spTree>
    <p:extLst>
      <p:ext uri="{BB962C8B-B14F-4D97-AF65-F5344CB8AC3E}">
        <p14:creationId xmlns:p14="http://schemas.microsoft.com/office/powerpoint/2010/main" val="15784674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v. Application </a:t>
            </a:r>
            <a:r>
              <a:rPr lang="en-US" b="1" i="1" dirty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600" dirty="0"/>
              <a:t>There have also been many changes in the way that applications are architected and designed. </a:t>
            </a:r>
            <a:endParaRPr lang="en-US" sz="2600" dirty="0" smtClean="0"/>
          </a:p>
          <a:p>
            <a:pPr algn="just">
              <a:lnSpc>
                <a:spcPct val="110000"/>
              </a:lnSpc>
            </a:pPr>
            <a:r>
              <a:rPr lang="en-US" sz="2600" dirty="0" smtClean="0"/>
              <a:t>Previously</a:t>
            </a:r>
            <a:r>
              <a:rPr lang="en-US" sz="2600" dirty="0"/>
              <a:t>, a single application could not service multiple clients. There was no way of preventing one customer from accessing another customer’s data or parts of the application. </a:t>
            </a:r>
            <a:endParaRPr lang="en-US" sz="2600" dirty="0" smtClean="0"/>
          </a:p>
          <a:p>
            <a:pPr algn="just">
              <a:lnSpc>
                <a:spcPct val="110000"/>
              </a:lnSpc>
            </a:pPr>
            <a:r>
              <a:rPr lang="en-US" sz="2600" dirty="0" smtClean="0"/>
              <a:t>Now </a:t>
            </a:r>
            <a:r>
              <a:rPr lang="en-US" sz="2600" dirty="0"/>
              <a:t>multiple customers can access a single instance of an application, but their interactions are segmented. </a:t>
            </a:r>
            <a:endParaRPr lang="en-US" sz="2600" dirty="0" smtClean="0"/>
          </a:p>
          <a:p>
            <a:pPr algn="just">
              <a:lnSpc>
                <a:spcPct val="110000"/>
              </a:lnSpc>
            </a:pPr>
            <a:r>
              <a:rPr lang="en-US" sz="2600" dirty="0" smtClean="0"/>
              <a:t>Applications </a:t>
            </a:r>
            <a:r>
              <a:rPr lang="en-US" sz="2600" dirty="0"/>
              <a:t>have also begun implementing service-oriented </a:t>
            </a:r>
            <a:r>
              <a:rPr lang="en-US" sz="2600" dirty="0" smtClean="0"/>
              <a:t>architectures (SOA).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020206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v. Application </a:t>
            </a:r>
            <a:r>
              <a:rPr lang="en-US" b="1" i="1" dirty="0" smtClean="0"/>
              <a:t>Architecture </a:t>
            </a:r>
            <a:r>
              <a:rPr lang="en-US" sz="2000" b="1" i="1" dirty="0" smtClean="0"/>
              <a:t>(continue..)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service-oriented architectures (</a:t>
            </a:r>
            <a:r>
              <a:rPr lang="en-US" dirty="0" smtClean="0"/>
              <a:t>SOA) </a:t>
            </a:r>
            <a:r>
              <a:rPr lang="en-US" dirty="0"/>
              <a:t>allows applications to be broken down into components. </a:t>
            </a:r>
            <a:endParaRPr lang="en-US" dirty="0" smtClean="0"/>
          </a:p>
          <a:p>
            <a:pPr algn="just">
              <a:lnSpc>
                <a:spcPct val="110000"/>
              </a:lnSpc>
            </a:pPr>
            <a:r>
              <a:rPr lang="en-US" dirty="0" smtClean="0"/>
              <a:t>These </a:t>
            </a:r>
            <a:r>
              <a:rPr lang="en-US" dirty="0"/>
              <a:t>components are accessed individually. SOA allows applications to share components. </a:t>
            </a:r>
            <a:endParaRPr lang="en-US" dirty="0" smtClean="0"/>
          </a:p>
          <a:p>
            <a:pPr algn="just">
              <a:lnSpc>
                <a:spcPct val="110000"/>
              </a:lnSpc>
            </a:pPr>
            <a:r>
              <a:rPr lang="en-US" dirty="0" smtClean="0"/>
              <a:t>SOA </a:t>
            </a:r>
            <a:r>
              <a:rPr lang="en-US" dirty="0"/>
              <a:t>exposes APIs that can be used by client systems or client-side applications. </a:t>
            </a:r>
            <a:endParaRPr lang="en-US" dirty="0" smtClean="0"/>
          </a:p>
          <a:p>
            <a:pPr algn="just">
              <a:lnSpc>
                <a:spcPct val="110000"/>
              </a:lnSpc>
            </a:pPr>
            <a:r>
              <a:rPr lang="en-US" dirty="0" smtClean="0"/>
              <a:t>You </a:t>
            </a:r>
            <a:r>
              <a:rPr lang="en-US" dirty="0"/>
              <a:t>start with a base application set, but you can customize the application to fit the needs of your organization. </a:t>
            </a:r>
            <a:endParaRPr lang="en-US" dirty="0" smtClean="0"/>
          </a:p>
          <a:p>
            <a:pPr algn="just">
              <a:lnSpc>
                <a:spcPct val="110000"/>
              </a:lnSpc>
            </a:pPr>
            <a:r>
              <a:rPr lang="en-US" dirty="0" smtClean="0"/>
              <a:t>This </a:t>
            </a:r>
            <a:r>
              <a:rPr lang="en-US" dirty="0"/>
              <a:t>standardization has led to increase compatibility and interoperability. It has also led to an increase in Web-based development. </a:t>
            </a:r>
          </a:p>
        </p:txBody>
      </p:sp>
    </p:spTree>
    <p:extLst>
      <p:ext uri="{BB962C8B-B14F-4D97-AF65-F5344CB8AC3E}">
        <p14:creationId xmlns:p14="http://schemas.microsoft.com/office/powerpoint/2010/main" val="1312866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vi. Bandwidth </a:t>
            </a:r>
            <a:r>
              <a:rPr lang="en-US" b="1" i="1" dirty="0"/>
              <a:t>Increases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access speeds (bandwidth) have increased dramatically. </a:t>
            </a:r>
            <a:endParaRPr lang="en-US" dirty="0" smtClean="0"/>
          </a:p>
          <a:p>
            <a:r>
              <a:rPr lang="en-US" dirty="0" smtClean="0"/>
              <a:t>This has increased </a:t>
            </a:r>
            <a:r>
              <a:rPr lang="en-US" dirty="0"/>
              <a:t>the overall speed of application access. </a:t>
            </a:r>
            <a:endParaRPr lang="en-US" dirty="0" smtClean="0"/>
          </a:p>
          <a:p>
            <a:r>
              <a:rPr lang="en-US" dirty="0" smtClean="0"/>
              <a:t>Increased bandwidth can </a:t>
            </a:r>
            <a:r>
              <a:rPr lang="en-US" dirty="0"/>
              <a:t>mean better response times.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has helped drive an improvement in </a:t>
            </a:r>
            <a:r>
              <a:rPr lang="en-US" dirty="0" smtClean="0"/>
              <a:t>the usability </a:t>
            </a:r>
            <a:r>
              <a:rPr lang="en-US" dirty="0"/>
              <a:t>of Web-based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988440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b="1" smtClean="0"/>
              <a:t>Benefits </a:t>
            </a:r>
            <a:r>
              <a:rPr lang="en-US" b="1" dirty="0"/>
              <a:t>for Cloud Providers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 the past few years, the number of cloud services and cloud providers </a:t>
            </a:r>
            <a:r>
              <a:rPr lang="en-US" dirty="0" smtClean="0"/>
              <a:t>has steadily </a:t>
            </a:r>
            <a:r>
              <a:rPr lang="en-US" dirty="0"/>
              <a:t>increased. </a:t>
            </a:r>
            <a:endParaRPr lang="en-US" dirty="0" smtClean="0"/>
          </a:p>
          <a:p>
            <a:r>
              <a:rPr lang="en-US" dirty="0" smtClean="0"/>
              <a:t>Not </a:t>
            </a:r>
            <a:r>
              <a:rPr lang="en-US" dirty="0"/>
              <a:t>only are there cloud </a:t>
            </a:r>
            <a:r>
              <a:rPr lang="en-US" dirty="0" smtClean="0"/>
              <a:t>benefits </a:t>
            </a:r>
            <a:r>
              <a:rPr lang="en-US" dirty="0"/>
              <a:t>for consumers, there </a:t>
            </a:r>
            <a:r>
              <a:rPr lang="en-US" dirty="0" smtClean="0"/>
              <a:t>are also benefits </a:t>
            </a:r>
            <a:r>
              <a:rPr lang="en-US" dirty="0"/>
              <a:t>for providers.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why there have been so many new </a:t>
            </a:r>
            <a:r>
              <a:rPr lang="en-US" dirty="0" smtClean="0"/>
              <a:t>providers popping </a:t>
            </a:r>
            <a:r>
              <a:rPr lang="en-US" dirty="0"/>
              <a:t>up every day. They see the benefits that can be obtained by </a:t>
            </a:r>
            <a:r>
              <a:rPr lang="en-US" dirty="0" smtClean="0"/>
              <a:t>offering cloud </a:t>
            </a:r>
            <a:r>
              <a:rPr lang="en-US" dirty="0"/>
              <a:t>services</a:t>
            </a:r>
            <a:r>
              <a:rPr lang="en-US" dirty="0" smtClean="0"/>
              <a:t>.</a:t>
            </a:r>
            <a:r>
              <a:rPr lang="en-US" dirty="0"/>
              <a:t> </a:t>
            </a:r>
            <a:r>
              <a:rPr lang="en-US" dirty="0" smtClean="0"/>
              <a:t>Few are: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/>
              <a:t>Economies of </a:t>
            </a:r>
            <a:r>
              <a:rPr lang="en-US" b="1" i="1" dirty="0" smtClean="0"/>
              <a:t>Scale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/>
              <a:t>Recurring Revenue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69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</a:t>
            </a:r>
            <a:r>
              <a:rPr lang="en-US" dirty="0" smtClean="0"/>
              <a:t>. </a:t>
            </a:r>
            <a:r>
              <a:rPr lang="en-US" b="1" i="1" dirty="0"/>
              <a:t>Economies of 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Cloud providers make use of a concept called economies of scale, which is based on the fact that once you build the infrastructure for an application or service, adding capacity will only require incremental additions.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What this means is that the larger the environment, the greater the potential return on investment (ROI). For example, let’s take a look at mail services. Implementing mail services internally for 5,000 employees may cost you around 25 cents per mailbox.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cloud provider implementing mail services for 100,000 users may cost the provider 10 cents per mailbox. The provider can then offer the service for 15 cents per mailbox. It’s a situation where everyone wins.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provider makes money, but the cost is still cheaper than what it would be for an individual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842576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ii. </a:t>
            </a:r>
            <a:r>
              <a:rPr lang="en-US" b="1" i="1" dirty="0"/>
              <a:t>Recurring </a:t>
            </a:r>
            <a:r>
              <a:rPr lang="en-US" b="1" i="1" dirty="0" smtClean="0"/>
              <a:t>Revenue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Recurring revenue mean that getting benefits again and again.</a:t>
            </a:r>
          </a:p>
          <a:p>
            <a:r>
              <a:rPr lang="en-US" dirty="0" smtClean="0"/>
              <a:t>Offering </a:t>
            </a:r>
            <a:r>
              <a:rPr lang="en-US" dirty="0"/>
              <a:t>subscription-based services can provide a service provider with </a:t>
            </a:r>
            <a:r>
              <a:rPr lang="en-US" dirty="0" smtClean="0"/>
              <a:t>a recurring </a:t>
            </a:r>
            <a:r>
              <a:rPr lang="en-US" dirty="0"/>
              <a:t>revenue stream. </a:t>
            </a:r>
            <a:endParaRPr lang="en-US" dirty="0" smtClean="0"/>
          </a:p>
          <a:p>
            <a:r>
              <a:rPr lang="en-US" dirty="0" smtClean="0"/>
              <a:t>Recurring </a:t>
            </a:r>
            <a:r>
              <a:rPr lang="en-US" dirty="0"/>
              <a:t>revenue adds stability to a business.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89820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 in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cloud has a number of benefits, but nothing is perfect. There are also </a:t>
            </a:r>
            <a:r>
              <a:rPr lang="en-US" dirty="0" smtClean="0"/>
              <a:t>some issues </a:t>
            </a:r>
            <a:r>
              <a:rPr lang="en-US" dirty="0"/>
              <a:t>that have slowed cloud adoption. </a:t>
            </a:r>
            <a:r>
              <a:rPr lang="en-US" dirty="0" smtClean="0"/>
              <a:t>Few of them are: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dirty="0" smtClean="0"/>
              <a:t>Ambiguity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dirty="0"/>
              <a:t>Concerns Over </a:t>
            </a:r>
            <a:r>
              <a:rPr lang="en-US" b="1" dirty="0" smtClean="0"/>
              <a:t>Maturity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i="1" dirty="0"/>
              <a:t>Services aren’t Robust Enough </a:t>
            </a:r>
            <a:r>
              <a:rPr lang="en-US" b="1" i="1" dirty="0" smtClean="0"/>
              <a:t>Yet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dirty="0" smtClean="0"/>
              <a:t>Integration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US" b="1" i="1" dirty="0"/>
              <a:t>Data </a:t>
            </a:r>
            <a:r>
              <a:rPr lang="en-US" b="1" i="1" dirty="0" smtClean="0"/>
              <a:t>Integration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US" b="1" i="1" dirty="0"/>
              <a:t>Application/Service </a:t>
            </a:r>
            <a:r>
              <a:rPr lang="en-US" b="1" i="1" dirty="0" smtClean="0"/>
              <a:t>Integration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dirty="0" smtClean="0"/>
              <a:t>Security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US" b="1" i="1" dirty="0"/>
              <a:t>Ownership of </a:t>
            </a:r>
            <a:r>
              <a:rPr lang="en-US" b="1" i="1" dirty="0" smtClean="0"/>
              <a:t>Data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US" b="1" i="1" dirty="0" smtClean="0"/>
              <a:t>Auditing</a:t>
            </a:r>
          </a:p>
          <a:p>
            <a:pPr marL="1428750" lvl="2" indent="-514350">
              <a:buFont typeface="+mj-lt"/>
              <a:buAutoNum type="romanUcPeriod"/>
            </a:pPr>
            <a:r>
              <a:rPr lang="en-US" b="1" i="1" dirty="0"/>
              <a:t>Privacy, Legal, and Compliance </a:t>
            </a:r>
            <a:r>
              <a:rPr lang="en-US" b="1" i="1" dirty="0" smtClean="0"/>
              <a:t>Issues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b="1" dirty="0" smtClean="0"/>
              <a:t>Technology Challenges</a:t>
            </a:r>
            <a:endParaRPr lang="en-US" b="1" dirty="0"/>
          </a:p>
          <a:p>
            <a:pPr lvl="1"/>
            <a:endParaRPr lang="en-US" b="1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67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</a:t>
            </a:r>
            <a:r>
              <a:rPr lang="en-US" dirty="0" smtClean="0"/>
              <a:t>. </a:t>
            </a:r>
            <a:r>
              <a:rPr lang="en-US" b="1" dirty="0"/>
              <a:t>Ambiguity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of the most pressing issues that have kept people from moving to </a:t>
            </a:r>
            <a:r>
              <a:rPr lang="en-US" dirty="0" smtClean="0"/>
              <a:t>the cloud </a:t>
            </a:r>
            <a:r>
              <a:rPr lang="en-US" dirty="0"/>
              <a:t>is a lack of understanding of what the cloud is and what it </a:t>
            </a:r>
            <a:r>
              <a:rPr lang="en-US" dirty="0" smtClean="0"/>
              <a:t>offers. This lack </a:t>
            </a:r>
            <a:r>
              <a:rPr lang="en-US" dirty="0"/>
              <a:t>of understanding causes fear. </a:t>
            </a:r>
            <a:endParaRPr lang="en-US" dirty="0" smtClean="0"/>
          </a:p>
          <a:p>
            <a:r>
              <a:rPr lang="en-US" dirty="0" smtClean="0"/>
              <a:t>Usually </a:t>
            </a:r>
            <a:r>
              <a:rPr lang="en-US" dirty="0"/>
              <a:t>the fear is around </a:t>
            </a:r>
            <a:endParaRPr lang="en-US" dirty="0" smtClean="0"/>
          </a:p>
          <a:p>
            <a:pPr lvl="1"/>
            <a:r>
              <a:rPr lang="en-US" dirty="0" smtClean="0"/>
              <a:t>potential hidden costs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lack </a:t>
            </a:r>
            <a:r>
              <a:rPr lang="en-US" dirty="0"/>
              <a:t>of control, </a:t>
            </a:r>
            <a:endParaRPr lang="en-US" dirty="0" smtClean="0"/>
          </a:p>
          <a:p>
            <a:pPr lvl="1"/>
            <a:r>
              <a:rPr lang="en-US" dirty="0" smtClean="0"/>
              <a:t>integration </a:t>
            </a:r>
            <a:r>
              <a:rPr lang="en-US" dirty="0"/>
              <a:t>issues, and </a:t>
            </a:r>
            <a:endParaRPr lang="en-US" dirty="0" smtClean="0"/>
          </a:p>
          <a:p>
            <a:pPr lvl="1"/>
            <a:r>
              <a:rPr lang="en-US" dirty="0" smtClean="0"/>
              <a:t>security </a:t>
            </a:r>
            <a:r>
              <a:rPr lang="en-US" dirty="0"/>
              <a:t>concerns.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all </a:t>
            </a:r>
            <a:r>
              <a:rPr lang="en-US" dirty="0" smtClean="0"/>
              <a:t>the issues </a:t>
            </a:r>
            <a:r>
              <a:rPr lang="en-US" dirty="0"/>
              <a:t>can be </a:t>
            </a:r>
            <a:r>
              <a:rPr lang="en-US" dirty="0" smtClean="0"/>
              <a:t>minimized </a:t>
            </a:r>
            <a:r>
              <a:rPr lang="en-US" dirty="0"/>
              <a:t>if you have a good understanding of what to look for </a:t>
            </a:r>
            <a:r>
              <a:rPr lang="en-US" dirty="0" smtClean="0"/>
              <a:t>in a </a:t>
            </a:r>
            <a:r>
              <a:rPr lang="en-US" dirty="0"/>
              <a:t>cloud provider and what to expect from one. </a:t>
            </a:r>
          </a:p>
        </p:txBody>
      </p:sp>
    </p:spTree>
    <p:extLst>
      <p:ext uri="{BB962C8B-B14F-4D97-AF65-F5344CB8AC3E}">
        <p14:creationId xmlns:p14="http://schemas.microsoft.com/office/powerpoint/2010/main" val="4056855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ii. </a:t>
            </a:r>
            <a:r>
              <a:rPr lang="en-US" b="1" dirty="0"/>
              <a:t>Concerns Over Maturity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often concerns regarding the maturity of the cloud and the </a:t>
            </a:r>
            <a:r>
              <a:rPr lang="en-US" dirty="0" smtClean="0"/>
              <a:t>various cloud </a:t>
            </a:r>
            <a:r>
              <a:rPr lang="en-US" dirty="0"/>
              <a:t>providers.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newer public service providers simply do not meet </a:t>
            </a:r>
            <a:r>
              <a:rPr lang="en-US" dirty="0" smtClean="0"/>
              <a:t>the needs </a:t>
            </a:r>
            <a:r>
              <a:rPr lang="en-US" dirty="0"/>
              <a:t>of many organizations. </a:t>
            </a:r>
            <a:endParaRPr lang="en-US" dirty="0" smtClean="0"/>
          </a:p>
          <a:p>
            <a:r>
              <a:rPr lang="en-US" dirty="0" smtClean="0"/>
              <a:t>Not </a:t>
            </a:r>
            <a:r>
              <a:rPr lang="en-US" dirty="0"/>
              <a:t>only do public service providers need </a:t>
            </a:r>
            <a:r>
              <a:rPr lang="en-US" dirty="0" smtClean="0"/>
              <a:t>to offer </a:t>
            </a:r>
            <a:r>
              <a:rPr lang="en-US" dirty="0"/>
              <a:t>services that customers want, but they also need to offer the right levels </a:t>
            </a:r>
            <a:r>
              <a:rPr lang="en-US" dirty="0" smtClean="0"/>
              <a:t>of service </a:t>
            </a:r>
            <a:r>
              <a:rPr lang="en-US" dirty="0"/>
              <a:t>and support for those services.</a:t>
            </a:r>
          </a:p>
        </p:txBody>
      </p:sp>
    </p:spTree>
    <p:extLst>
      <p:ext uri="{BB962C8B-B14F-4D97-AF65-F5344CB8AC3E}">
        <p14:creationId xmlns:p14="http://schemas.microsoft.com/office/powerpoint/2010/main" val="28139048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iii. Services </a:t>
            </a:r>
            <a:r>
              <a:rPr lang="en-US" b="1" i="1" dirty="0"/>
              <a:t>aren’t Robust Enough Yet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of the services offered by cloud service providers are not robust </a:t>
            </a:r>
            <a:r>
              <a:rPr lang="en-US" dirty="0" smtClean="0"/>
              <a:t>enough to </a:t>
            </a:r>
            <a:r>
              <a:rPr lang="en-US" dirty="0"/>
              <a:t>meet customer needs.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public cloud services can be very specific. </a:t>
            </a:r>
            <a:r>
              <a:rPr lang="en-US" dirty="0" smtClean="0"/>
              <a:t>The provider </a:t>
            </a:r>
            <a:r>
              <a:rPr lang="en-US" dirty="0"/>
              <a:t>may only offer </a:t>
            </a:r>
            <a:r>
              <a:rPr lang="en-US" dirty="0" smtClean="0"/>
              <a:t>very specific services. </a:t>
            </a:r>
            <a:r>
              <a:rPr lang="en-US" dirty="0"/>
              <a:t>If your organization isn’t </a:t>
            </a:r>
            <a:r>
              <a:rPr lang="en-US" dirty="0" smtClean="0"/>
              <a:t>in need </a:t>
            </a:r>
            <a:r>
              <a:rPr lang="en-US" dirty="0"/>
              <a:t>of a specific service presented in a specific way, you might not be </a:t>
            </a:r>
            <a:r>
              <a:rPr lang="en-US" dirty="0" smtClean="0"/>
              <a:t>able to </a:t>
            </a:r>
            <a:r>
              <a:rPr lang="en-US" dirty="0"/>
              <a:t>take advantage of the service.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the cloud matures, so do its service offerings</a:t>
            </a:r>
            <a:r>
              <a:rPr lang="en-US" dirty="0" smtClean="0"/>
              <a:t>. Providers </a:t>
            </a:r>
            <a:r>
              <a:rPr lang="en-US" dirty="0"/>
              <a:t>are continually adding and updating services to meet </a:t>
            </a:r>
            <a:r>
              <a:rPr lang="en-US" dirty="0" smtClean="0"/>
              <a:t>customer needs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9276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iv. </a:t>
            </a:r>
            <a:r>
              <a:rPr lang="en-US" b="1" dirty="0"/>
              <a:t>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dealing with public service providers, integration is a key component.</a:t>
            </a:r>
          </a:p>
          <a:p>
            <a:r>
              <a:rPr lang="en-US" dirty="0"/>
              <a:t>Since you will not own the systems used by the service providers, you </a:t>
            </a:r>
            <a:r>
              <a:rPr lang="en-US" dirty="0" smtClean="0"/>
              <a:t>probably won’t </a:t>
            </a:r>
            <a:r>
              <a:rPr lang="en-US" dirty="0"/>
              <a:t>have direct access to them. Without direct access, some sort of </a:t>
            </a:r>
            <a:r>
              <a:rPr lang="en-US" dirty="0" smtClean="0"/>
              <a:t>interfaces must </a:t>
            </a:r>
            <a:r>
              <a:rPr lang="en-US" dirty="0"/>
              <a:t>be provided to allow for integration with your other systems. </a:t>
            </a:r>
            <a:endParaRPr lang="en-US" dirty="0" smtClean="0"/>
          </a:p>
          <a:p>
            <a:r>
              <a:rPr lang="en-US" dirty="0" smtClean="0"/>
              <a:t>You may need </a:t>
            </a:r>
            <a:r>
              <a:rPr lang="en-US" dirty="0"/>
              <a:t>both data integration and application integration.</a:t>
            </a:r>
          </a:p>
        </p:txBody>
      </p:sp>
    </p:spTree>
    <p:extLst>
      <p:ext uri="{BB962C8B-B14F-4D97-AF65-F5344CB8AC3E}">
        <p14:creationId xmlns:p14="http://schemas.microsoft.com/office/powerpoint/2010/main" val="20145612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</a:t>
            </a:r>
            <a:r>
              <a:rPr lang="en-US" dirty="0" smtClean="0"/>
              <a:t>. </a:t>
            </a:r>
            <a:r>
              <a:rPr lang="en-US" b="1" i="1" dirty="0"/>
              <a:t>Data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Integrating data and reporting between on-premises and cloud-based </a:t>
            </a:r>
            <a:r>
              <a:rPr lang="en-US" dirty="0" smtClean="0"/>
              <a:t>systems can </a:t>
            </a:r>
            <a:r>
              <a:rPr lang="en-US" dirty="0"/>
              <a:t>be costly.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will have to figure out a means of copying </a:t>
            </a:r>
            <a:r>
              <a:rPr lang="en-US" dirty="0" smtClean="0"/>
              <a:t>large amounts </a:t>
            </a:r>
            <a:r>
              <a:rPr lang="en-US" dirty="0"/>
              <a:t>of data from one location to the other.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bandwidth used </a:t>
            </a:r>
            <a:r>
              <a:rPr lang="en-US" dirty="0" smtClean="0"/>
              <a:t>during the </a:t>
            </a:r>
            <a:r>
              <a:rPr lang="en-US" dirty="0"/>
              <a:t>copy process will almost certainly affect the cost you pay for </a:t>
            </a:r>
            <a:r>
              <a:rPr lang="en-US" dirty="0" smtClean="0"/>
              <a:t>the service</a:t>
            </a:r>
            <a:r>
              <a:rPr lang="en-US" dirty="0"/>
              <a:t>.</a:t>
            </a:r>
          </a:p>
          <a:p>
            <a:r>
              <a:rPr lang="en-US" dirty="0" smtClean="0"/>
              <a:t>Moving </a:t>
            </a:r>
            <a:r>
              <a:rPr lang="en-US" dirty="0"/>
              <a:t>data in real time can </a:t>
            </a:r>
            <a:r>
              <a:rPr lang="en-US" dirty="0" smtClean="0"/>
              <a:t>use a </a:t>
            </a:r>
            <a:r>
              <a:rPr lang="en-US" dirty="0"/>
              <a:t>lot of bandwidth. This bandwidth usage can be very costly.</a:t>
            </a:r>
          </a:p>
        </p:txBody>
      </p:sp>
    </p:spTree>
    <p:extLst>
      <p:ext uri="{BB962C8B-B14F-4D97-AF65-F5344CB8AC3E}">
        <p14:creationId xmlns:p14="http://schemas.microsoft.com/office/powerpoint/2010/main" val="15021990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ii. </a:t>
            </a:r>
            <a:r>
              <a:rPr lang="en-US" b="1" i="1" dirty="0"/>
              <a:t>Application/Service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the Web interface offered by service providers is not good </a:t>
            </a:r>
            <a:r>
              <a:rPr lang="en-US" dirty="0" smtClean="0"/>
              <a:t>enough on </a:t>
            </a:r>
            <a:r>
              <a:rPr lang="en-US" dirty="0"/>
              <a:t>its own. You may have a Web service or application that needs to </a:t>
            </a:r>
            <a:r>
              <a:rPr lang="en-US" dirty="0" smtClean="0"/>
              <a:t>take advantage </a:t>
            </a:r>
            <a:r>
              <a:rPr lang="en-US" dirty="0"/>
              <a:t>of the provider’s service.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service providers offer interfaces </a:t>
            </a:r>
            <a:r>
              <a:rPr lang="en-US" dirty="0" smtClean="0"/>
              <a:t>or APIs </a:t>
            </a:r>
            <a:r>
              <a:rPr lang="en-US" dirty="0"/>
              <a:t>that can be used to access functionality. </a:t>
            </a:r>
            <a:endParaRPr lang="en-US" dirty="0" smtClean="0"/>
          </a:p>
          <a:p>
            <a:r>
              <a:rPr lang="en-US" dirty="0" smtClean="0"/>
              <a:t>Secure </a:t>
            </a:r>
            <a:r>
              <a:rPr lang="en-US" dirty="0"/>
              <a:t>access to these </a:t>
            </a:r>
            <a:r>
              <a:rPr lang="en-US" dirty="0" smtClean="0"/>
              <a:t>interfaces allows </a:t>
            </a:r>
            <a:r>
              <a:rPr lang="en-US" dirty="0"/>
              <a:t>you to access the </a:t>
            </a:r>
            <a:r>
              <a:rPr lang="en-US" dirty="0" smtClean="0"/>
              <a:t>functionality </a:t>
            </a:r>
            <a:r>
              <a:rPr lang="en-US" dirty="0"/>
              <a:t>you need programmatically.</a:t>
            </a:r>
          </a:p>
        </p:txBody>
      </p:sp>
    </p:spTree>
    <p:extLst>
      <p:ext uri="{BB962C8B-B14F-4D97-AF65-F5344CB8AC3E}">
        <p14:creationId xmlns:p14="http://schemas.microsoft.com/office/powerpoint/2010/main" val="1814255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v. </a:t>
            </a:r>
            <a:r>
              <a:rPr lang="en-US" b="1" dirty="0"/>
              <a:t>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though some people consider cloud implementations to be more </a:t>
            </a:r>
            <a:r>
              <a:rPr lang="en-US" dirty="0" smtClean="0"/>
              <a:t>secure in </a:t>
            </a:r>
            <a:r>
              <a:rPr lang="en-US" dirty="0"/>
              <a:t>certain aspects than traditional deployments, other aspects are often </a:t>
            </a:r>
            <a:r>
              <a:rPr lang="en-US" dirty="0" smtClean="0"/>
              <a:t>considered less </a:t>
            </a:r>
            <a:r>
              <a:rPr lang="en-US" dirty="0"/>
              <a:t>secure and more of a risk.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risk mainly comes from the fact </a:t>
            </a:r>
            <a:r>
              <a:rPr lang="en-US" dirty="0" smtClean="0"/>
              <a:t>that you </a:t>
            </a:r>
            <a:r>
              <a:rPr lang="en-US" dirty="0"/>
              <a:t>will not have direct control over the systems and the data. You have to </a:t>
            </a:r>
            <a:r>
              <a:rPr lang="en-US" dirty="0" smtClean="0"/>
              <a:t>trust what </a:t>
            </a:r>
            <a:r>
              <a:rPr lang="en-US" dirty="0"/>
              <a:t>the service provider is doing.</a:t>
            </a:r>
          </a:p>
        </p:txBody>
      </p:sp>
    </p:spTree>
    <p:extLst>
      <p:ext uri="{BB962C8B-B14F-4D97-AF65-F5344CB8AC3E}">
        <p14:creationId xmlns:p14="http://schemas.microsoft.com/office/powerpoint/2010/main" val="876327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</a:t>
            </a:r>
            <a:r>
              <a:rPr lang="en-US" dirty="0" smtClean="0"/>
              <a:t>. </a:t>
            </a:r>
            <a:r>
              <a:rPr lang="en-US" b="1" i="1" dirty="0"/>
              <a:t>Ownership of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There are many questions when it comes to data ownership in the cloud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Few questions </a:t>
            </a:r>
            <a:r>
              <a:rPr lang="en-US" dirty="0"/>
              <a:t>with cloud implementations </a:t>
            </a:r>
            <a:r>
              <a:rPr lang="en-US" dirty="0" smtClean="0"/>
              <a:t>are, </a:t>
            </a:r>
          </a:p>
          <a:p>
            <a:pPr lvl="1"/>
            <a:r>
              <a:rPr lang="en-US" dirty="0" smtClean="0"/>
              <a:t>Who </a:t>
            </a:r>
            <a:r>
              <a:rPr lang="en-US" dirty="0"/>
              <a:t>owns the data? </a:t>
            </a:r>
            <a:endParaRPr lang="en-US" dirty="0" smtClean="0"/>
          </a:p>
          <a:p>
            <a:pPr lvl="1"/>
            <a:r>
              <a:rPr lang="en-US" dirty="0" smtClean="0"/>
              <a:t>Your company may </a:t>
            </a:r>
            <a:r>
              <a:rPr lang="en-US" dirty="0"/>
              <a:t>have created the data, but now is it being stored at an external </a:t>
            </a:r>
            <a:r>
              <a:rPr lang="en-US" dirty="0" smtClean="0"/>
              <a:t>service provider</a:t>
            </a:r>
            <a:r>
              <a:rPr lang="en-US" dirty="0"/>
              <a:t>. Do you still own it</a:t>
            </a:r>
            <a:r>
              <a:rPr lang="en-US" dirty="0" smtClean="0"/>
              <a:t>? </a:t>
            </a:r>
          </a:p>
          <a:p>
            <a:pPr lvl="1"/>
            <a:r>
              <a:rPr lang="en-US" dirty="0" smtClean="0"/>
              <a:t>What </a:t>
            </a:r>
            <a:r>
              <a:rPr lang="en-US" dirty="0"/>
              <a:t>happens if the service provider goes out of business? </a:t>
            </a:r>
            <a:endParaRPr lang="en-US" dirty="0" smtClean="0"/>
          </a:p>
          <a:p>
            <a:pPr lvl="1"/>
            <a:r>
              <a:rPr lang="en-US" dirty="0" smtClean="0"/>
              <a:t>How </a:t>
            </a:r>
            <a:r>
              <a:rPr lang="en-US" dirty="0"/>
              <a:t>do you </a:t>
            </a:r>
            <a:r>
              <a:rPr lang="en-US" dirty="0" smtClean="0"/>
              <a:t>get access </a:t>
            </a:r>
            <a:r>
              <a:rPr lang="en-US" dirty="0"/>
              <a:t>to your data? </a:t>
            </a:r>
            <a:endParaRPr lang="en-US" dirty="0" smtClean="0"/>
          </a:p>
          <a:p>
            <a:pPr lvl="1"/>
            <a:r>
              <a:rPr lang="en-US" dirty="0" smtClean="0"/>
              <a:t>Does </a:t>
            </a:r>
            <a:r>
              <a:rPr lang="en-US" dirty="0"/>
              <a:t>the company that takes over ownership of the </a:t>
            </a:r>
            <a:r>
              <a:rPr lang="en-US" dirty="0" smtClean="0"/>
              <a:t>systems then </a:t>
            </a:r>
            <a:r>
              <a:rPr lang="en-US" dirty="0"/>
              <a:t>own your data? </a:t>
            </a:r>
            <a:endParaRPr lang="en-US" dirty="0" smtClean="0"/>
          </a:p>
          <a:p>
            <a:pPr lvl="1"/>
            <a:r>
              <a:rPr lang="en-US" dirty="0" smtClean="0"/>
              <a:t>Is </a:t>
            </a:r>
            <a:r>
              <a:rPr lang="en-US" dirty="0"/>
              <a:t>that company obligated to give it to you? </a:t>
            </a:r>
            <a:endParaRPr lang="en-US" dirty="0" smtClean="0"/>
          </a:p>
          <a:p>
            <a:pPr lvl="1"/>
            <a:r>
              <a:rPr lang="en-US" dirty="0" smtClean="0"/>
              <a:t>What happens </a:t>
            </a:r>
            <a:r>
              <a:rPr lang="en-US" dirty="0"/>
              <a:t>if there is a dispute and you don’t pay your bill? </a:t>
            </a:r>
          </a:p>
          <a:p>
            <a:r>
              <a:rPr lang="en-US" dirty="0" smtClean="0"/>
              <a:t>These </a:t>
            </a:r>
            <a:r>
              <a:rPr lang="en-US" dirty="0"/>
              <a:t>are questions that you must ask when you’re </a:t>
            </a:r>
            <a:r>
              <a:rPr lang="en-US" dirty="0" smtClean="0"/>
              <a:t>considering a </a:t>
            </a:r>
            <a:r>
              <a:rPr lang="en-US" dirty="0"/>
              <a:t>service provider. Different service providers will give different answers, so </a:t>
            </a:r>
            <a:r>
              <a:rPr lang="en-US" dirty="0" smtClean="0"/>
              <a:t>you must </a:t>
            </a:r>
            <a:r>
              <a:rPr lang="en-US" dirty="0"/>
              <a:t>be aware of what you can expect from your provider.</a:t>
            </a:r>
          </a:p>
        </p:txBody>
      </p:sp>
    </p:spTree>
    <p:extLst>
      <p:ext uri="{BB962C8B-B14F-4D97-AF65-F5344CB8AC3E}">
        <p14:creationId xmlns:p14="http://schemas.microsoft.com/office/powerpoint/2010/main" val="34527452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ii. </a:t>
            </a:r>
            <a:r>
              <a:rPr lang="en-US" b="1" i="1" dirty="0"/>
              <a:t>Auditing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ability to do proper auditing can vary among cloud environments.</a:t>
            </a:r>
          </a:p>
          <a:p>
            <a:r>
              <a:rPr lang="en-US" dirty="0"/>
              <a:t>Depending on the implementation, you may or may not have direct access </a:t>
            </a:r>
            <a:r>
              <a:rPr lang="en-US" dirty="0" smtClean="0"/>
              <a:t>to the </a:t>
            </a:r>
            <a:r>
              <a:rPr lang="en-US" dirty="0"/>
              <a:t>systems or applications you want to audit.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service provider may be </a:t>
            </a:r>
            <a:r>
              <a:rPr lang="en-US" dirty="0" smtClean="0"/>
              <a:t>able to </a:t>
            </a:r>
            <a:r>
              <a:rPr lang="en-US" dirty="0"/>
              <a:t>provide you access to the desired log via some application interface or </a:t>
            </a:r>
            <a:r>
              <a:rPr lang="en-US" dirty="0" smtClean="0"/>
              <a:t>by exporting </a:t>
            </a:r>
            <a:r>
              <a:rPr lang="en-US" dirty="0"/>
              <a:t>the logs and sending them directly to you.</a:t>
            </a:r>
          </a:p>
        </p:txBody>
      </p:sp>
    </p:spTree>
    <p:extLst>
      <p:ext uri="{BB962C8B-B14F-4D97-AF65-F5344CB8AC3E}">
        <p14:creationId xmlns:p14="http://schemas.microsoft.com/office/powerpoint/2010/main" val="8091327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iii. </a:t>
            </a:r>
            <a:r>
              <a:rPr lang="en-US" b="1" i="1" dirty="0"/>
              <a:t>Privacy, Legal, and </a:t>
            </a:r>
            <a:r>
              <a:rPr lang="en-US" b="1" i="1" dirty="0" smtClean="0"/>
              <a:t>standard </a:t>
            </a:r>
            <a:r>
              <a:rPr lang="en-US" b="1" i="1" dirty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Privacy is a big concern when it comes to cloud implementation. </a:t>
            </a:r>
            <a:endParaRPr lang="en-US" dirty="0" smtClean="0"/>
          </a:p>
          <a:p>
            <a:r>
              <a:rPr lang="en-US" dirty="0" smtClean="0"/>
              <a:t>The cloud provider </a:t>
            </a:r>
            <a:r>
              <a:rPr lang="en-US" dirty="0"/>
              <a:t>will have direct access to your organization’s data. If this data is </a:t>
            </a:r>
            <a:r>
              <a:rPr lang="en-US" dirty="0" smtClean="0"/>
              <a:t>meant to </a:t>
            </a:r>
            <a:r>
              <a:rPr lang="en-US" dirty="0"/>
              <a:t>be private, you have to worry about what measures are being taken to </a:t>
            </a:r>
            <a:r>
              <a:rPr lang="en-US" dirty="0" smtClean="0"/>
              <a:t>keep it </a:t>
            </a:r>
            <a:r>
              <a:rPr lang="en-US" dirty="0"/>
              <a:t>private.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certain situations, you may be violating privacy standards </a:t>
            </a:r>
            <a:r>
              <a:rPr lang="en-US" dirty="0" smtClean="0"/>
              <a:t>simply by </a:t>
            </a:r>
            <a:r>
              <a:rPr lang="en-US" dirty="0"/>
              <a:t>storing the data with an external provider</a:t>
            </a:r>
            <a:r>
              <a:rPr lang="en-US" dirty="0" smtClean="0"/>
              <a:t>. Legal </a:t>
            </a:r>
            <a:r>
              <a:rPr lang="en-US" dirty="0"/>
              <a:t>and </a:t>
            </a:r>
            <a:r>
              <a:rPr lang="en-US" dirty="0" smtClean="0"/>
              <a:t>standard </a:t>
            </a:r>
            <a:r>
              <a:rPr lang="en-US" dirty="0"/>
              <a:t>issues can get very complicated when you’re dealing </a:t>
            </a:r>
            <a:r>
              <a:rPr lang="en-US" dirty="0" smtClean="0"/>
              <a:t>with cloud implementations.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2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vi. </a:t>
            </a:r>
            <a:r>
              <a:rPr lang="en-US" b="1" dirty="0"/>
              <a:t>Technology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there have been great advancements in cloud technologies, there </a:t>
            </a:r>
            <a:r>
              <a:rPr lang="en-US" dirty="0" smtClean="0"/>
              <a:t>is still </a:t>
            </a:r>
            <a:r>
              <a:rPr lang="en-US" dirty="0"/>
              <a:t>a lot of room for growth.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technologies have not yet been </a:t>
            </a:r>
            <a:r>
              <a:rPr lang="en-US" dirty="0" smtClean="0"/>
              <a:t>officially ratified </a:t>
            </a:r>
            <a:r>
              <a:rPr lang="en-US" dirty="0"/>
              <a:t>as standards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42044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dirty="0" smtClean="0"/>
              <a:t>What is Cloud Computing?</a:t>
            </a:r>
          </a:p>
          <a:p>
            <a:pPr algn="just"/>
            <a:r>
              <a:rPr lang="en-US" dirty="0" smtClean="0"/>
              <a:t>There </a:t>
            </a:r>
            <a:r>
              <a:rPr lang="en-US" dirty="0"/>
              <a:t>are five key cloud characteristics: on-demand self-service, broad network</a:t>
            </a:r>
          </a:p>
          <a:p>
            <a:pPr algn="just"/>
            <a:r>
              <a:rPr lang="en-US" dirty="0"/>
              <a:t>access, resource pooling, rapid elasticity, and measured service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A </a:t>
            </a:r>
            <a:r>
              <a:rPr lang="en-US" dirty="0" smtClean="0"/>
              <a:t>solution must </a:t>
            </a:r>
            <a:r>
              <a:rPr lang="en-US" dirty="0"/>
              <a:t>exhibit these five characteristics to be considered a true cloud solution.</a:t>
            </a:r>
          </a:p>
          <a:p>
            <a:pPr algn="just"/>
            <a:r>
              <a:rPr lang="en-US" dirty="0"/>
              <a:t>There are four cloud deployment models: public, private, community, </a:t>
            </a:r>
            <a:r>
              <a:rPr lang="en-US" dirty="0" smtClean="0"/>
              <a:t>and hybrid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deployment model is defined according to where the </a:t>
            </a:r>
            <a:r>
              <a:rPr lang="en-US" dirty="0" smtClean="0"/>
              <a:t>infrastructure for </a:t>
            </a:r>
            <a:r>
              <a:rPr lang="en-US" dirty="0"/>
              <a:t>the environment is located. </a:t>
            </a:r>
            <a:endParaRPr lang="en-US" dirty="0" smtClean="0"/>
          </a:p>
          <a:p>
            <a:pPr algn="just"/>
            <a:r>
              <a:rPr lang="en-US" dirty="0" smtClean="0"/>
              <a:t>There </a:t>
            </a:r>
            <a:r>
              <a:rPr lang="en-US" dirty="0"/>
              <a:t>are three main cloud service models:</a:t>
            </a:r>
          </a:p>
          <a:p>
            <a:pPr algn="just"/>
            <a:r>
              <a:rPr lang="en-US" dirty="0"/>
              <a:t>Software as a Service, Platform as a Service, and Infrastructure as a Service. </a:t>
            </a:r>
            <a:endParaRPr lang="en-US" dirty="0" smtClean="0"/>
          </a:p>
          <a:p>
            <a:pPr algn="just"/>
            <a:r>
              <a:rPr lang="en-US" dirty="0" smtClean="0"/>
              <a:t>SaaS was </a:t>
            </a:r>
            <a:r>
              <a:rPr lang="en-US" dirty="0"/>
              <a:t>the original cloud service model but the cloud has continued to grow </a:t>
            </a:r>
            <a:r>
              <a:rPr lang="en-US" dirty="0" smtClean="0"/>
              <a:t>and expand</a:t>
            </a:r>
            <a:r>
              <a:rPr lang="en-US" dirty="0"/>
              <a:t>. Now a vast array of service models is available.</a:t>
            </a:r>
          </a:p>
          <a:p>
            <a:pPr algn="just"/>
            <a:r>
              <a:rPr lang="en-US" dirty="0"/>
              <a:t>There are many factors pushing organizations toward the cloud, as well as</a:t>
            </a:r>
          </a:p>
          <a:p>
            <a:pPr algn="just"/>
            <a:r>
              <a:rPr lang="en-US" dirty="0"/>
              <a:t>many factors that are keeping organizations away. </a:t>
            </a:r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organization </a:t>
            </a:r>
            <a:r>
              <a:rPr lang="en-US" dirty="0" smtClean="0"/>
              <a:t>must evaluate </a:t>
            </a:r>
            <a:r>
              <a:rPr lang="en-US" dirty="0"/>
              <a:t>cloud offerings for itself to see what best fits its needs.</a:t>
            </a:r>
          </a:p>
        </p:txBody>
      </p:sp>
    </p:spTree>
    <p:extLst>
      <p:ext uri="{BB962C8B-B14F-4D97-AF65-F5344CB8AC3E}">
        <p14:creationId xmlns:p14="http://schemas.microsoft.com/office/powerpoint/2010/main" val="170208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4792</Words>
  <Application>Microsoft Office PowerPoint</Application>
  <PresentationFormat>Widescreen</PresentationFormat>
  <Paragraphs>357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Calibri</vt:lpstr>
      <vt:lpstr>Calibri Light</vt:lpstr>
      <vt:lpstr>Times New Roman</vt:lpstr>
      <vt:lpstr>Wingdings</vt:lpstr>
      <vt:lpstr>Office Theme</vt:lpstr>
      <vt:lpstr>DevOps for Cloud Computing Course Code: CSC-418</vt:lpstr>
      <vt:lpstr>Subject Information</vt:lpstr>
      <vt:lpstr>Main Objectives of the Course</vt:lpstr>
      <vt:lpstr>Topics to be Covered</vt:lpstr>
      <vt:lpstr>Chapter 1 </vt:lpstr>
      <vt:lpstr>Contents</vt:lpstr>
      <vt:lpstr>What is Cloud?</vt:lpstr>
      <vt:lpstr>NIST Cloud definition</vt:lpstr>
      <vt:lpstr>Why Cloud Computing?</vt:lpstr>
      <vt:lpstr>Three main components in Cloud</vt:lpstr>
      <vt:lpstr>Five key cloud characteristics </vt:lpstr>
      <vt:lpstr>PowerPoint Presentation</vt:lpstr>
      <vt:lpstr>PowerPoint Presentation</vt:lpstr>
      <vt:lpstr>PowerPoint Presentation</vt:lpstr>
      <vt:lpstr>PowerPoint Presentation</vt:lpstr>
      <vt:lpstr>Cloud Deployment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Cloud Service Models</vt:lpstr>
      <vt:lpstr>PowerPoint Presentation</vt:lpstr>
      <vt:lpstr>PowerPoint Presentation</vt:lpstr>
      <vt:lpstr>PowerPoint Presentation</vt:lpstr>
      <vt:lpstr>PowerPoint Presentation</vt:lpstr>
      <vt:lpstr>CLOUD BENEFITS (Cloud Drivers (in book))</vt:lpstr>
      <vt:lpstr>1. System Benefits</vt:lpstr>
      <vt:lpstr>i. Agility</vt:lpstr>
      <vt:lpstr>ii. Reliability</vt:lpstr>
      <vt:lpstr>iii. Scalability and Elasticity</vt:lpstr>
      <vt:lpstr>iv. Performance</vt:lpstr>
      <vt:lpstr>v. Ease of Maintenance</vt:lpstr>
      <vt:lpstr>vi. Security and Compliance</vt:lpstr>
      <vt:lpstr>2. Business Benefits</vt:lpstr>
      <vt:lpstr>i. Cost</vt:lpstr>
      <vt:lpstr>ii. Consumerism</vt:lpstr>
      <vt:lpstr>iii. Technology is Catching Up</vt:lpstr>
      <vt:lpstr>iv. Virtualization</vt:lpstr>
      <vt:lpstr>v. Application Architecture</vt:lpstr>
      <vt:lpstr>v. Application Architecture (continue..)</vt:lpstr>
      <vt:lpstr>vi. Bandwidth Increases</vt:lpstr>
      <vt:lpstr>3. Benefits for Cloud Providers</vt:lpstr>
      <vt:lpstr>i. Economies of Scale</vt:lpstr>
      <vt:lpstr>ii. Recurring Revenue </vt:lpstr>
      <vt:lpstr>Issues in Cloud</vt:lpstr>
      <vt:lpstr>i. Ambiguity</vt:lpstr>
      <vt:lpstr>ii. Concerns Over Maturity</vt:lpstr>
      <vt:lpstr>iii. Services aren’t Robust Enough Yet</vt:lpstr>
      <vt:lpstr>iv. Integration</vt:lpstr>
      <vt:lpstr>i. Data Integration</vt:lpstr>
      <vt:lpstr>ii. Application/Service Integration</vt:lpstr>
      <vt:lpstr>v. Security</vt:lpstr>
      <vt:lpstr>i. Ownership of Data</vt:lpstr>
      <vt:lpstr>ii. Auditing</vt:lpstr>
      <vt:lpstr>iii. Privacy, Legal, and standard Issues</vt:lpstr>
      <vt:lpstr>vi. Technology Challenges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Muhammad Hanif</dc:creator>
  <cp:lastModifiedBy>Ahmad</cp:lastModifiedBy>
  <cp:revision>130</cp:revision>
  <dcterms:created xsi:type="dcterms:W3CDTF">2017-02-21T04:58:17Z</dcterms:created>
  <dcterms:modified xsi:type="dcterms:W3CDTF">2023-07-11T04:35:58Z</dcterms:modified>
</cp:coreProperties>
</file>