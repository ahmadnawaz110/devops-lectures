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314" r:id="rId2"/>
    <p:sldId id="380" r:id="rId3"/>
    <p:sldId id="356" r:id="rId4"/>
    <p:sldId id="381" r:id="rId5"/>
    <p:sldId id="382" r:id="rId6"/>
    <p:sldId id="372" r:id="rId7"/>
    <p:sldId id="383" r:id="rId8"/>
    <p:sldId id="384" r:id="rId9"/>
    <p:sldId id="385" r:id="rId10"/>
    <p:sldId id="386" r:id="rId11"/>
    <p:sldId id="387" r:id="rId12"/>
    <p:sldId id="388" r:id="rId13"/>
    <p:sldId id="394" r:id="rId14"/>
    <p:sldId id="389" r:id="rId15"/>
    <p:sldId id="390" r:id="rId16"/>
    <p:sldId id="391" r:id="rId17"/>
    <p:sldId id="392" r:id="rId18"/>
    <p:sldId id="393" r:id="rId19"/>
    <p:sldId id="30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61" autoAdjust="0"/>
    <p:restoredTop sz="94660"/>
  </p:normalViewPr>
  <p:slideViewPr>
    <p:cSldViewPr snapToGrid="0">
      <p:cViewPr varScale="1">
        <p:scale>
          <a:sx n="73" d="100"/>
          <a:sy n="73" d="100"/>
        </p:scale>
        <p:origin x="62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38C529-43AD-492C-BD00-7663F000CDBF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45CC1E-72FA-4E57-BA7F-FC1221F77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550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3ABFB-0481-4CC5-ABF9-2C4CE9D12409}" type="datetime1">
              <a:rPr lang="en-US" smtClean="0"/>
              <a:t>3/16/2022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215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1DBEC-91FA-447A-8AB9-A8DB16DAAB17}" type="datetime1">
              <a:rPr lang="en-US" smtClean="0"/>
              <a:t>3/16/2022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744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943D-2555-4A57-B8EB-75C7F91B71C6}" type="datetime1">
              <a:rPr lang="en-US" smtClean="0"/>
              <a:t>3/16/2022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21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08C4-1FBA-4FE5-8D28-8C27B7466E79}" type="datetime1">
              <a:rPr lang="en-US" smtClean="0"/>
              <a:t>3/16/2022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750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682A9-2A64-4335-8BB6-EA1B5FE288A5}" type="datetime1">
              <a:rPr lang="en-US" smtClean="0"/>
              <a:t>3/16/2022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466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C89B2-6DED-445A-9AF5-74F690F84E78}" type="datetime1">
              <a:rPr lang="en-US" smtClean="0"/>
              <a:t>3/16/2022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225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E7014-808B-4A34-9722-060A0C8B943A}" type="datetime1">
              <a:rPr lang="en-US" smtClean="0"/>
              <a:t>3/16/2022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681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58D58-A862-414E-9423-46150B41CA14}" type="datetime1">
              <a:rPr lang="en-US" smtClean="0"/>
              <a:t>3/16/2022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109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76D00-FA0D-4D29-83D4-DD5A6DDF16E7}" type="datetime1">
              <a:rPr lang="en-US" smtClean="0"/>
              <a:t>3/16/2022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779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A5918-257A-4095-BDEB-73BDDEB4A29E}" type="datetime1">
              <a:rPr lang="en-US" smtClean="0"/>
              <a:t>3/16/2022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771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10D01-121F-4BE4-9A0D-9D74E07BA582}" type="datetime1">
              <a:rPr lang="en-US" smtClean="0"/>
              <a:t>3/16/2022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786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3012F9-413F-48FB-8539-50B5C9E7D155}" type="datetime1">
              <a:rPr lang="en-US" smtClean="0"/>
              <a:t>3/16/2022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021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-scm.com/downloads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mailto:sharif.netroots@gmail.com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harifturi/BCS-A-DevOps.git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20388" y="2913651"/>
            <a:ext cx="9144000" cy="962706"/>
          </a:xfrm>
        </p:spPr>
        <p:txBody>
          <a:bodyPr>
            <a:normAutofit/>
          </a:bodyPr>
          <a:lstStyle/>
          <a:p>
            <a:r>
              <a:rPr lang="en-US" dirty="0" smtClean="0"/>
              <a:t>Lecture-08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697" y="3876357"/>
            <a:ext cx="9144000" cy="1655762"/>
          </a:xfrm>
        </p:spPr>
        <p:txBody>
          <a:bodyPr/>
          <a:lstStyle/>
          <a:p>
            <a:r>
              <a:rPr lang="en-US" i="1" dirty="0" smtClean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87971" y="6153150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z="1600" smtClean="0"/>
              <a:t>1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434583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7314" y="403907"/>
            <a:ext cx="10787742" cy="719500"/>
          </a:xfrm>
        </p:spPr>
        <p:txBody>
          <a:bodyPr>
            <a:normAutofit/>
          </a:bodyPr>
          <a:lstStyle/>
          <a:p>
            <a:pPr algn="l"/>
            <a:r>
              <a:rPr lang="en-US" sz="4000" b="1" i="1" dirty="0"/>
              <a:t>Contents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7314" y="1435415"/>
            <a:ext cx="10787741" cy="5017317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Install Git on Windows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GitHub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Create a GitHub </a:t>
            </a:r>
            <a:r>
              <a:rPr lang="en-US" dirty="0"/>
              <a:t>account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Git Commands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71855" y="6087608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197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What </a:t>
            </a:r>
            <a:r>
              <a:rPr lang="en-US" sz="4000" b="1" i="1" dirty="0"/>
              <a:t>is </a:t>
            </a:r>
            <a:r>
              <a:rPr lang="en-US" sz="4000" b="1" i="1" dirty="0" smtClean="0"/>
              <a:t>Git</a:t>
            </a:r>
            <a:endParaRPr lang="en-US" sz="40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766" y="1425620"/>
            <a:ext cx="11025049" cy="510328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 smtClean="0"/>
              <a:t>Git</a:t>
            </a:r>
            <a:r>
              <a:rPr lang="en-US" dirty="0"/>
              <a:t> is an </a:t>
            </a:r>
            <a:r>
              <a:rPr lang="en-US" b="1" dirty="0"/>
              <a:t>open-source distributed version control </a:t>
            </a:r>
            <a:r>
              <a:rPr lang="en-US" b="1" dirty="0" smtClean="0"/>
              <a:t>system</a:t>
            </a:r>
            <a:r>
              <a:rPr lang="en-US" dirty="0" smtClean="0"/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smtClean="0"/>
              <a:t>It </a:t>
            </a:r>
            <a:r>
              <a:rPr lang="en-US" dirty="0"/>
              <a:t>is designed to handle minor to major projects with high speed and </a:t>
            </a:r>
            <a:r>
              <a:rPr lang="en-US" dirty="0" smtClean="0"/>
              <a:t>efficiency.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smtClean="0"/>
              <a:t>It </a:t>
            </a:r>
            <a:r>
              <a:rPr lang="en-US" dirty="0"/>
              <a:t>is developed to co-ordinate the work among the </a:t>
            </a:r>
            <a:r>
              <a:rPr lang="en-US" dirty="0" smtClean="0"/>
              <a:t>developers.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smtClean="0"/>
              <a:t>Version </a:t>
            </a:r>
            <a:r>
              <a:rPr lang="en-US" dirty="0"/>
              <a:t>control allows </a:t>
            </a:r>
            <a:r>
              <a:rPr lang="en-US" dirty="0" smtClean="0"/>
              <a:t>developers </a:t>
            </a:r>
            <a:r>
              <a:rPr lang="en-US" dirty="0"/>
              <a:t>to track and work together </a:t>
            </a:r>
            <a:r>
              <a:rPr lang="en-US" dirty="0" smtClean="0"/>
              <a:t>with </a:t>
            </a:r>
            <a:r>
              <a:rPr lang="en-US" dirty="0"/>
              <a:t>team members at the same workspace</a:t>
            </a:r>
            <a:r>
              <a:rPr lang="en-US" dirty="0" smtClean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83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Install </a:t>
            </a:r>
            <a:r>
              <a:rPr lang="en-US" sz="4000" b="1" i="1" dirty="0"/>
              <a:t>Git on </a:t>
            </a:r>
            <a:r>
              <a:rPr lang="en-US" sz="4000" b="1" i="1" dirty="0" smtClean="0"/>
              <a:t>Windows</a:t>
            </a:r>
            <a:endParaRPr lang="en-US" sz="40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766" y="1425620"/>
            <a:ext cx="11025049" cy="510328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smtClean="0"/>
              <a:t>To </a:t>
            </a:r>
            <a:r>
              <a:rPr lang="en-US" dirty="0"/>
              <a:t>download the Git installer, visit the </a:t>
            </a:r>
            <a:r>
              <a:rPr lang="en-US" dirty="0" err="1"/>
              <a:t>Git's</a:t>
            </a:r>
            <a:r>
              <a:rPr lang="en-US" dirty="0"/>
              <a:t> official site and go to download </a:t>
            </a:r>
            <a:r>
              <a:rPr lang="en-US" dirty="0" smtClean="0"/>
              <a:t>page.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smtClean="0"/>
              <a:t>The </a:t>
            </a:r>
            <a:r>
              <a:rPr lang="en-US" dirty="0"/>
              <a:t>link for the download page is </a:t>
            </a: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git-scm.com/downloads</a:t>
            </a:r>
            <a:endParaRPr 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smtClean="0"/>
              <a:t>Follow all </a:t>
            </a:r>
            <a:r>
              <a:rPr lang="en-US" b="1" dirty="0" smtClean="0"/>
              <a:t>Steps </a:t>
            </a:r>
            <a:r>
              <a:rPr lang="en-US" dirty="0"/>
              <a:t>to install </a:t>
            </a:r>
            <a:r>
              <a:rPr lang="en-US" dirty="0" smtClean="0"/>
              <a:t>Git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1257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Git </a:t>
            </a:r>
            <a:r>
              <a:rPr lang="en-US" sz="4000" b="1" i="1" dirty="0"/>
              <a:t>facilitates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766" y="1425620"/>
            <a:ext cx="11025049" cy="510328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It </a:t>
            </a:r>
            <a:r>
              <a:rPr lang="en-US" dirty="0"/>
              <a:t>facilitates with three features.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Create New Repository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Clone Existing Repository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Open Existing </a:t>
            </a:r>
            <a:r>
              <a:rPr lang="en-US" dirty="0" smtClean="0"/>
              <a:t>Repository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3770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GitHub</a:t>
            </a:r>
            <a:endParaRPr lang="en-US" sz="40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765" y="1268863"/>
            <a:ext cx="11025049" cy="546840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GitHub is </a:t>
            </a:r>
            <a:r>
              <a:rPr lang="en-US" dirty="0"/>
              <a:t>a Git repository hosting service. GitHub also facilitates with many of its features, such as access control and collaboration. It provides a Web-based graphical </a:t>
            </a:r>
            <a:r>
              <a:rPr lang="en-US" dirty="0" smtClean="0"/>
              <a:t>interface.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It </a:t>
            </a:r>
            <a:r>
              <a:rPr lang="en-US" dirty="0"/>
              <a:t>offers both </a:t>
            </a:r>
            <a:r>
              <a:rPr lang="en-US" b="1" dirty="0"/>
              <a:t>distributed version control and source code management (SCM)</a:t>
            </a:r>
            <a:r>
              <a:rPr lang="en-US" dirty="0"/>
              <a:t> functionality of </a:t>
            </a:r>
            <a:r>
              <a:rPr lang="en-US" dirty="0" smtClean="0"/>
              <a:t>Git.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142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Create </a:t>
            </a:r>
            <a:r>
              <a:rPr lang="en-US" sz="4000" b="1" i="1" dirty="0"/>
              <a:t>a GitHub account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765" y="1268863"/>
            <a:ext cx="11025049" cy="546840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Go </a:t>
            </a:r>
            <a:r>
              <a:rPr lang="en-US" dirty="0"/>
              <a:t>to the link: </a:t>
            </a:r>
            <a:r>
              <a:rPr lang="en-US" dirty="0">
                <a:hlinkClick r:id="rId2"/>
              </a:rPr>
              <a:t>https://github.com/</a:t>
            </a:r>
            <a:r>
              <a:rPr lang="en-US" dirty="0"/>
              <a:t> . Fill the sign up form and click on “Sign up for </a:t>
            </a:r>
            <a:r>
              <a:rPr lang="en-US" dirty="0" err="1"/>
              <a:t>Github</a:t>
            </a:r>
            <a:r>
              <a:rPr lang="en-US" dirty="0"/>
              <a:t>”.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572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Repository</a:t>
            </a:r>
            <a:endParaRPr lang="en-US" sz="40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765" y="1268863"/>
            <a:ext cx="11025049" cy="546840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A </a:t>
            </a:r>
            <a:r>
              <a:rPr lang="en-US" dirty="0"/>
              <a:t>repository is a storage space where your project </a:t>
            </a:r>
            <a:r>
              <a:rPr lang="en-US" dirty="0" smtClean="0"/>
              <a:t>lives.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It </a:t>
            </a:r>
            <a:r>
              <a:rPr lang="en-US" dirty="0"/>
              <a:t>can be local to a folder on your computer, or it can be a storage space on GitHub  or another online </a:t>
            </a:r>
            <a:r>
              <a:rPr lang="en-US" dirty="0" smtClean="0"/>
              <a:t>host.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You can keep </a:t>
            </a:r>
            <a:r>
              <a:rPr lang="en-US" dirty="0"/>
              <a:t>code files, text files, images or any kind of a file in a repository. You need a GitHub repository when you have done some changes and are ready to be </a:t>
            </a:r>
            <a:r>
              <a:rPr lang="en-US" dirty="0" smtClean="0"/>
              <a:t>uploaded.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This </a:t>
            </a:r>
            <a:r>
              <a:rPr lang="en-US" dirty="0"/>
              <a:t>GitHub repository acts as your remote repository</a:t>
            </a:r>
            <a:r>
              <a:rPr lang="en-US" dirty="0" smtClean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2788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5" y="195308"/>
            <a:ext cx="11025050" cy="1112745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Create GitHub </a:t>
            </a:r>
            <a:r>
              <a:rPr lang="en-US" sz="4000" b="1" i="1" dirty="0"/>
              <a:t>Repository?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765" y="1268863"/>
            <a:ext cx="11025049" cy="546840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Now</a:t>
            </a:r>
            <a:r>
              <a:rPr lang="en-US" dirty="0"/>
              <a:t>, if you noticed by default a GitHub repository is public which means that anyone can view the contents of this repository whereas in a private repository, you can choose who can view the content. Also, private repository is a paid </a:t>
            </a:r>
            <a:r>
              <a:rPr lang="en-US" dirty="0" smtClean="0"/>
              <a:t>version.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Also</a:t>
            </a:r>
            <a:r>
              <a:rPr lang="en-US" dirty="0"/>
              <a:t>, if you refer </a:t>
            </a:r>
            <a:r>
              <a:rPr lang="en-US" dirty="0" smtClean="0"/>
              <a:t>to </a:t>
            </a:r>
            <a:r>
              <a:rPr lang="en-US" dirty="0"/>
              <a:t>initialize the repository with a README file. This file contains the description of the file and once you check this box, this will be the first file inside your repository.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7797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570" y="195308"/>
            <a:ext cx="11469189" cy="1097915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Git Commands</a:t>
            </a:r>
            <a:endParaRPr lang="en-US" sz="40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570" y="1099044"/>
            <a:ext cx="11469189" cy="563822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smtClean="0"/>
              <a:t>List </a:t>
            </a:r>
            <a:r>
              <a:rPr lang="en-US" dirty="0"/>
              <a:t>of most essential Git commands that are used </a:t>
            </a:r>
            <a:r>
              <a:rPr lang="en-US" dirty="0" smtClean="0"/>
              <a:t>daily.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000" b="1" dirty="0" smtClean="0"/>
              <a:t>Git </a:t>
            </a:r>
            <a:r>
              <a:rPr lang="en-US" sz="2000" b="1" dirty="0"/>
              <a:t>config </a:t>
            </a:r>
            <a:endParaRPr lang="en-US" sz="2000" b="1" dirty="0" smtClean="0"/>
          </a:p>
          <a:p>
            <a:pPr lvl="2">
              <a:lnSpc>
                <a:spcPct val="150000"/>
              </a:lnSpc>
            </a:pPr>
            <a:r>
              <a:rPr lang="en-US" dirty="0" smtClean="0"/>
              <a:t>The </a:t>
            </a:r>
            <a:r>
              <a:rPr lang="en-US" dirty="0"/>
              <a:t>Git config command is the first and necessary command used on the Git command line. This command sets the author name and email address to be used with your commits</a:t>
            </a:r>
            <a:r>
              <a:rPr lang="en-US" dirty="0" smtClean="0"/>
              <a:t>.</a:t>
            </a:r>
          </a:p>
          <a:p>
            <a:pPr lvl="2">
              <a:lnSpc>
                <a:spcPct val="150000"/>
              </a:lnSpc>
            </a:pPr>
            <a:r>
              <a:rPr lang="en-US" sz="1800" b="1" dirty="0" smtClean="0"/>
              <a:t>Syntax</a:t>
            </a:r>
            <a:endParaRPr lang="en-US" b="1" dirty="0" smtClean="0"/>
          </a:p>
          <a:p>
            <a:pPr lvl="2">
              <a:lnSpc>
                <a:spcPct val="15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338938" y="3991479"/>
            <a:ext cx="9019906" cy="800219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 git config --global 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user.email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  <a:hlinkClick r:id="rId2"/>
              </a:rPr>
              <a:t>sharif.netroots@gmail.com</a:t>
            </a:r>
            <a:endParaRPr lang="en-US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$ git config --global user.name 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sharifturi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4745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570" y="195308"/>
            <a:ext cx="11469189" cy="1097915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Git </a:t>
            </a:r>
            <a:r>
              <a:rPr lang="en-US" sz="4000" b="1" i="1" dirty="0" smtClean="0"/>
              <a:t>Commands (Cont.)</a:t>
            </a:r>
            <a:endParaRPr lang="en-US" sz="40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570" y="1099044"/>
            <a:ext cx="11469189" cy="5638227"/>
          </a:xfrm>
        </p:spPr>
        <p:txBody>
          <a:bodyPr>
            <a:normAutofit/>
          </a:bodyPr>
          <a:lstStyle/>
          <a:p>
            <a:pPr marL="571500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1800" b="1" dirty="0" smtClean="0"/>
              <a:t>Git </a:t>
            </a:r>
            <a:r>
              <a:rPr lang="en-US" sz="1800" b="1" dirty="0" err="1"/>
              <a:t>Init</a:t>
            </a:r>
            <a:r>
              <a:rPr lang="en-US" sz="1800" b="1" dirty="0"/>
              <a:t> command</a:t>
            </a:r>
          </a:p>
          <a:p>
            <a:pPr lvl="2">
              <a:lnSpc>
                <a:spcPct val="150000"/>
              </a:lnSpc>
            </a:pPr>
            <a:r>
              <a:rPr lang="en-US" sz="1800" dirty="0" smtClean="0"/>
              <a:t>The </a:t>
            </a:r>
            <a:r>
              <a:rPr lang="en-US" sz="1800" dirty="0"/>
              <a:t>git </a:t>
            </a:r>
            <a:r>
              <a:rPr lang="en-US" sz="1800" dirty="0" err="1"/>
              <a:t>init</a:t>
            </a:r>
            <a:r>
              <a:rPr lang="en-US" sz="1800" dirty="0"/>
              <a:t> command creates a new Git repository. It can be used to convert an existing, </a:t>
            </a:r>
            <a:r>
              <a:rPr lang="en-US" sz="1800" dirty="0" err="1"/>
              <a:t>unversioned</a:t>
            </a:r>
            <a:r>
              <a:rPr lang="en-US" sz="1800" dirty="0"/>
              <a:t> project to a Git repository or initialize a new, empty repository. Most other Git commands are not available outside of an initialized repository, so this is usually the first command you'll run in a new project</a:t>
            </a:r>
            <a:r>
              <a:rPr lang="en-US" sz="1800" dirty="0" smtClean="0"/>
              <a:t>.</a:t>
            </a:r>
          </a:p>
          <a:p>
            <a:pPr lvl="2">
              <a:lnSpc>
                <a:spcPct val="150000"/>
              </a:lnSpc>
            </a:pPr>
            <a:r>
              <a:rPr lang="en-US" sz="1600" b="1" dirty="0" smtClean="0"/>
              <a:t>Syntax</a:t>
            </a:r>
            <a:endParaRPr lang="en-US" sz="1800" b="1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338938" y="3507416"/>
            <a:ext cx="9019906" cy="338554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 git 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bcs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-a-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devops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3197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570" y="195308"/>
            <a:ext cx="11469189" cy="1097915"/>
          </a:xfrm>
        </p:spPr>
        <p:txBody>
          <a:bodyPr>
            <a:noAutofit/>
          </a:bodyPr>
          <a:lstStyle/>
          <a:p>
            <a:r>
              <a:rPr lang="en-US" sz="4000" b="1" i="1" dirty="0"/>
              <a:t>Git Commands (Cont.)</a:t>
            </a:r>
            <a:endParaRPr lang="en-US" sz="40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570" y="1099044"/>
            <a:ext cx="11469189" cy="5638227"/>
          </a:xfrm>
        </p:spPr>
        <p:txBody>
          <a:bodyPr>
            <a:normAutofit/>
          </a:bodyPr>
          <a:lstStyle/>
          <a:p>
            <a:r>
              <a:rPr lang="en-US" sz="1800" b="1" dirty="0" smtClean="0"/>
              <a:t>Git </a:t>
            </a:r>
            <a:r>
              <a:rPr lang="en-US" sz="1800" b="1" dirty="0"/>
              <a:t>Clone </a:t>
            </a:r>
            <a:r>
              <a:rPr lang="en-US" sz="1800" b="1" dirty="0" smtClean="0"/>
              <a:t>Command</a:t>
            </a:r>
            <a:r>
              <a:rPr lang="en-US" dirty="0" smtClean="0"/>
              <a:t> </a:t>
            </a:r>
          </a:p>
          <a:p>
            <a:pPr lvl="2">
              <a:lnSpc>
                <a:spcPct val="150000"/>
              </a:lnSpc>
            </a:pPr>
            <a:r>
              <a:rPr lang="en-US" dirty="0" smtClean="0"/>
              <a:t>The</a:t>
            </a:r>
            <a:r>
              <a:rPr lang="en-US" dirty="0"/>
              <a:t> </a:t>
            </a:r>
            <a:r>
              <a:rPr lang="en-US" b="1" dirty="0"/>
              <a:t>git clone</a:t>
            </a:r>
            <a:r>
              <a:rPr lang="en-US" dirty="0"/>
              <a:t> is a command-line utility which is used to make a local copy of a remote repository. It accesses the repository through a remote URL</a:t>
            </a:r>
            <a:r>
              <a:rPr lang="en-US" dirty="0" smtClean="0"/>
              <a:t>.</a:t>
            </a:r>
            <a:endParaRPr lang="en-US" sz="1800" dirty="0" smtClean="0"/>
          </a:p>
          <a:p>
            <a:pPr lvl="2">
              <a:lnSpc>
                <a:spcPct val="150000"/>
              </a:lnSpc>
            </a:pPr>
            <a:r>
              <a:rPr lang="en-US" sz="1600" b="1" dirty="0" smtClean="0"/>
              <a:t>Syntax</a:t>
            </a:r>
            <a:endParaRPr lang="en-US" sz="1800" b="1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51211" y="3699981"/>
            <a:ext cx="9019906" cy="156966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 git clone &lt;</a:t>
            </a:r>
            <a:r>
              <a:rPr lang="en-US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repository URL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 </a:t>
            </a:r>
            <a:endParaRPr lang="en-US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git clone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  <a:hlinkClick r:id="rId2"/>
              </a:rPr>
              <a:t>https://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  <a:hlinkClick r:id="rId2"/>
              </a:rPr>
              <a:t>github.com/sharifturi/BCS-A-DevOps.git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547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570" y="195308"/>
            <a:ext cx="11469189" cy="1097915"/>
          </a:xfrm>
        </p:spPr>
        <p:txBody>
          <a:bodyPr>
            <a:noAutofit/>
          </a:bodyPr>
          <a:lstStyle/>
          <a:p>
            <a:r>
              <a:rPr lang="en-US" sz="4000" b="1" i="1" dirty="0"/>
              <a:t>Git Commands (Cont.)</a:t>
            </a:r>
            <a:endParaRPr lang="en-US" sz="40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570" y="1099044"/>
            <a:ext cx="11469189" cy="5638227"/>
          </a:xfrm>
        </p:spPr>
        <p:txBody>
          <a:bodyPr>
            <a:normAutofit/>
          </a:bodyPr>
          <a:lstStyle/>
          <a:p>
            <a:r>
              <a:rPr lang="en-US" sz="1800" b="1" dirty="0" smtClean="0"/>
              <a:t>Git </a:t>
            </a:r>
            <a:r>
              <a:rPr lang="en-US" sz="1800" b="1" dirty="0"/>
              <a:t>status command</a:t>
            </a:r>
          </a:p>
          <a:p>
            <a:pPr lvl="2">
              <a:lnSpc>
                <a:spcPct val="150000"/>
              </a:lnSpc>
            </a:pPr>
            <a:r>
              <a:rPr lang="en-US" dirty="0" smtClean="0"/>
              <a:t>Git </a:t>
            </a:r>
            <a:r>
              <a:rPr lang="en-US" dirty="0"/>
              <a:t>status command is used to display the state of the working directory and the staging area. It allows you to see which changes have been </a:t>
            </a:r>
            <a:r>
              <a:rPr lang="en-US" dirty="0" smtClean="0"/>
              <a:t>staged</a:t>
            </a:r>
            <a:r>
              <a:rPr lang="en-US" dirty="0"/>
              <a:t>.</a:t>
            </a:r>
            <a:endParaRPr lang="en-US" sz="1800" dirty="0" smtClean="0"/>
          </a:p>
          <a:p>
            <a:pPr lvl="2">
              <a:lnSpc>
                <a:spcPct val="150000"/>
              </a:lnSpc>
            </a:pPr>
            <a:r>
              <a:rPr lang="en-US" sz="1600" b="1" dirty="0" smtClean="0"/>
              <a:t>Syntax</a:t>
            </a:r>
            <a:endParaRPr lang="en-US" sz="1800" b="1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13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51211" y="3102467"/>
            <a:ext cx="9019906" cy="338554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 git status </a:t>
            </a:r>
          </a:p>
        </p:txBody>
      </p:sp>
    </p:spTree>
    <p:extLst>
      <p:ext uri="{BB962C8B-B14F-4D97-AF65-F5344CB8AC3E}">
        <p14:creationId xmlns:p14="http://schemas.microsoft.com/office/powerpoint/2010/main" val="1658527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570" y="195308"/>
            <a:ext cx="11469189" cy="1097915"/>
          </a:xfrm>
        </p:spPr>
        <p:txBody>
          <a:bodyPr>
            <a:noAutofit/>
          </a:bodyPr>
          <a:lstStyle/>
          <a:p>
            <a:r>
              <a:rPr lang="en-US" sz="4000" b="1" i="1" dirty="0"/>
              <a:t>Git Commands (Cont.)</a:t>
            </a:r>
            <a:endParaRPr lang="en-US" sz="40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570" y="1099044"/>
            <a:ext cx="11469189" cy="5638227"/>
          </a:xfrm>
        </p:spPr>
        <p:txBody>
          <a:bodyPr>
            <a:normAutofit/>
          </a:bodyPr>
          <a:lstStyle/>
          <a:p>
            <a:r>
              <a:rPr lang="en-US" dirty="0"/>
              <a:t>Git push Command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It is used to upload local repository content to a remote repository. Pushing is an act of transfer commits from your local repository to a remote repository. </a:t>
            </a:r>
            <a:endParaRPr lang="en-US" sz="2000" dirty="0" smtClean="0"/>
          </a:p>
          <a:p>
            <a:pPr lvl="1">
              <a:lnSpc>
                <a:spcPct val="150000"/>
              </a:lnSpc>
            </a:pPr>
            <a:r>
              <a:rPr lang="en-US" sz="1600" b="1" dirty="0" smtClean="0"/>
              <a:t>Syntax</a:t>
            </a:r>
          </a:p>
          <a:p>
            <a:pPr lvl="2">
              <a:lnSpc>
                <a:spcPct val="150000"/>
              </a:lnSpc>
            </a:pPr>
            <a:endParaRPr lang="en-US" sz="1600" b="1" dirty="0"/>
          </a:p>
          <a:p>
            <a:pPr>
              <a:lnSpc>
                <a:spcPct val="150000"/>
              </a:lnSpc>
            </a:pPr>
            <a:r>
              <a:rPr lang="en-US" dirty="0" smtClean="0"/>
              <a:t>Git </a:t>
            </a:r>
            <a:r>
              <a:rPr lang="en-US" dirty="0"/>
              <a:t>push </a:t>
            </a:r>
            <a:r>
              <a:rPr lang="en-US" dirty="0" smtClean="0"/>
              <a:t>–all</a:t>
            </a:r>
          </a:p>
          <a:p>
            <a:pPr lvl="1"/>
            <a:r>
              <a:rPr lang="en-US" sz="2000" dirty="0"/>
              <a:t>This command pushes all the branches to the server </a:t>
            </a:r>
            <a:r>
              <a:rPr lang="en-US" sz="2000" dirty="0" smtClean="0"/>
              <a:t>repository</a:t>
            </a:r>
            <a:endParaRPr lang="en-US" sz="2000" dirty="0"/>
          </a:p>
          <a:p>
            <a:pPr lvl="1"/>
            <a:r>
              <a:rPr lang="en-US" sz="1600" b="1" dirty="0" smtClean="0"/>
              <a:t>Syntax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14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51211" y="3102467"/>
            <a:ext cx="9019906" cy="338554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 push origin  master 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51211" y="5250265"/>
            <a:ext cx="9019906" cy="338554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 push 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--all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6270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570" y="195308"/>
            <a:ext cx="11469189" cy="1097915"/>
          </a:xfrm>
        </p:spPr>
        <p:txBody>
          <a:bodyPr>
            <a:noAutofit/>
          </a:bodyPr>
          <a:lstStyle/>
          <a:p>
            <a:r>
              <a:rPr lang="en-US" sz="4000" b="1" i="1" dirty="0"/>
              <a:t>Git Commands (Cont.)</a:t>
            </a:r>
            <a:endParaRPr lang="en-US" sz="40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569" y="1293223"/>
            <a:ext cx="11469189" cy="5638227"/>
          </a:xfrm>
        </p:spPr>
        <p:txBody>
          <a:bodyPr>
            <a:normAutofit/>
          </a:bodyPr>
          <a:lstStyle/>
          <a:p>
            <a:r>
              <a:rPr lang="en-US" dirty="0" smtClean="0"/>
              <a:t>Git </a:t>
            </a:r>
            <a:r>
              <a:rPr lang="en-US" dirty="0"/>
              <a:t>pull </a:t>
            </a:r>
            <a:r>
              <a:rPr lang="en-US" dirty="0" smtClean="0"/>
              <a:t>command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sz="2000" dirty="0" smtClean="0"/>
              <a:t>Pull </a:t>
            </a:r>
            <a:r>
              <a:rPr lang="en-US" sz="2000" dirty="0"/>
              <a:t>command is used to receive data from GitHub. It fetches and merges changes on the remote server to your working directory.</a:t>
            </a:r>
          </a:p>
          <a:p>
            <a:pPr lvl="1">
              <a:lnSpc>
                <a:spcPct val="150000"/>
              </a:lnSpc>
            </a:pPr>
            <a:r>
              <a:rPr lang="en-US" sz="1600" b="1" dirty="0" smtClean="0"/>
              <a:t>Syntax</a:t>
            </a:r>
          </a:p>
          <a:p>
            <a:pPr lvl="2">
              <a:lnSpc>
                <a:spcPct val="150000"/>
              </a:lnSpc>
            </a:pPr>
            <a:endParaRPr lang="en-US" sz="1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15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51211" y="3102467"/>
            <a:ext cx="9019906" cy="338554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pull [URL]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01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570" y="195308"/>
            <a:ext cx="11469189" cy="1097915"/>
          </a:xfrm>
        </p:spPr>
        <p:txBody>
          <a:bodyPr>
            <a:noAutofit/>
          </a:bodyPr>
          <a:lstStyle/>
          <a:p>
            <a:r>
              <a:rPr lang="en-US" sz="4000" b="1" i="1" dirty="0"/>
              <a:t>Git Commands (Cont.)</a:t>
            </a:r>
            <a:endParaRPr lang="en-US" sz="40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569" y="1293223"/>
            <a:ext cx="11469189" cy="5638227"/>
          </a:xfrm>
        </p:spPr>
        <p:txBody>
          <a:bodyPr>
            <a:normAutofit/>
          </a:bodyPr>
          <a:lstStyle/>
          <a:p>
            <a:r>
              <a:rPr lang="en-US" dirty="0" smtClean="0"/>
              <a:t>Git remote </a:t>
            </a:r>
            <a:r>
              <a:rPr lang="en-US" dirty="0"/>
              <a:t>Command</a:t>
            </a:r>
          </a:p>
          <a:p>
            <a:pPr lvl="1">
              <a:lnSpc>
                <a:spcPct val="150000"/>
              </a:lnSpc>
            </a:pPr>
            <a:r>
              <a:rPr lang="en-US" sz="2000" dirty="0" smtClean="0"/>
              <a:t>Git </a:t>
            </a:r>
            <a:r>
              <a:rPr lang="en-US" sz="2000" dirty="0"/>
              <a:t>Remote command is used to connect your local repository to the remote server.</a:t>
            </a:r>
          </a:p>
          <a:p>
            <a:pPr lvl="1">
              <a:lnSpc>
                <a:spcPct val="150000"/>
              </a:lnSpc>
            </a:pPr>
            <a:r>
              <a:rPr lang="en-US" sz="1600" b="1" dirty="0" smtClean="0"/>
              <a:t>Syntax</a:t>
            </a:r>
          </a:p>
          <a:p>
            <a:pPr lvl="2">
              <a:lnSpc>
                <a:spcPct val="150000"/>
              </a:lnSpc>
            </a:pPr>
            <a:endParaRPr lang="en-US" sz="1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16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51211" y="3102467"/>
            <a:ext cx="9019906" cy="338554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remote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4443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570" y="195308"/>
            <a:ext cx="11469189" cy="1097915"/>
          </a:xfrm>
        </p:spPr>
        <p:txBody>
          <a:bodyPr>
            <a:noAutofit/>
          </a:bodyPr>
          <a:lstStyle/>
          <a:p>
            <a:r>
              <a:rPr lang="en-US" sz="4000" b="1" i="1" dirty="0"/>
              <a:t>Git Commands (Cont.)</a:t>
            </a:r>
            <a:endParaRPr lang="en-US" sz="40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569" y="1293223"/>
            <a:ext cx="11469189" cy="5638227"/>
          </a:xfrm>
        </p:spPr>
        <p:txBody>
          <a:bodyPr>
            <a:normAutofit/>
          </a:bodyPr>
          <a:lstStyle/>
          <a:p>
            <a:r>
              <a:rPr lang="en-US" dirty="0" smtClean="0"/>
              <a:t>Git Checkout Command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smtClean="0"/>
              <a:t>The</a:t>
            </a:r>
            <a:r>
              <a:rPr lang="en-US" dirty="0"/>
              <a:t> </a:t>
            </a:r>
            <a:r>
              <a:rPr lang="en-US" b="1" dirty="0"/>
              <a:t>git checkout</a:t>
            </a:r>
            <a:r>
              <a:rPr lang="en-US" dirty="0"/>
              <a:t> command is used to switch between branches in a repository. </a:t>
            </a:r>
            <a:endParaRPr lang="en-US" sz="2000" dirty="0"/>
          </a:p>
          <a:p>
            <a:pPr lvl="1">
              <a:lnSpc>
                <a:spcPct val="150000"/>
              </a:lnSpc>
            </a:pPr>
            <a:r>
              <a:rPr lang="en-US" sz="1600" b="1" dirty="0" smtClean="0"/>
              <a:t>Syntax</a:t>
            </a:r>
          </a:p>
          <a:p>
            <a:pPr marL="914400" lvl="2" indent="0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17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51210" y="3170965"/>
            <a:ext cx="9019906" cy="1323439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git 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branch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$ git checkout &lt;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branchname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endParaRPr lang="en-US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$ git switch master</a:t>
            </a:r>
          </a:p>
        </p:txBody>
      </p:sp>
    </p:spTree>
    <p:extLst>
      <p:ext uri="{BB962C8B-B14F-4D97-AF65-F5344CB8AC3E}">
        <p14:creationId xmlns:p14="http://schemas.microsoft.com/office/powerpoint/2010/main" val="1760178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570" y="195308"/>
            <a:ext cx="11469189" cy="1097915"/>
          </a:xfrm>
        </p:spPr>
        <p:txBody>
          <a:bodyPr>
            <a:noAutofit/>
          </a:bodyPr>
          <a:lstStyle/>
          <a:p>
            <a:r>
              <a:rPr lang="en-US" sz="4000" b="1" i="1" dirty="0"/>
              <a:t>Git Commands (Cont.)</a:t>
            </a:r>
            <a:endParaRPr lang="en-US" sz="40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569" y="1293223"/>
            <a:ext cx="11469189" cy="5638227"/>
          </a:xfrm>
        </p:spPr>
        <p:txBody>
          <a:bodyPr>
            <a:normAutofit/>
          </a:bodyPr>
          <a:lstStyle/>
          <a:p>
            <a:r>
              <a:rPr lang="en-US" dirty="0" smtClean="0"/>
              <a:t>Git Stash</a:t>
            </a:r>
          </a:p>
          <a:p>
            <a:pPr lvl="1"/>
            <a:r>
              <a:rPr lang="en-US" sz="2000" dirty="0"/>
              <a:t>The git stash command enables you to switch branches without committing the current branch.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Sometimes you want to switch the branches, but you are working on an incomplete part of your current project. You don't want to make a commit of half-done work. Git stashing allows you to do so.</a:t>
            </a:r>
          </a:p>
          <a:p>
            <a:pPr lvl="1">
              <a:lnSpc>
                <a:spcPct val="150000"/>
              </a:lnSpc>
            </a:pPr>
            <a:r>
              <a:rPr lang="en-US" sz="1600" b="1" dirty="0" smtClean="0"/>
              <a:t>Syntax</a:t>
            </a:r>
          </a:p>
          <a:p>
            <a:pPr lvl="2">
              <a:lnSpc>
                <a:spcPct val="150000"/>
              </a:lnSpc>
            </a:pPr>
            <a:endParaRPr lang="en-US" sz="1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6616" y="6372146"/>
            <a:ext cx="2743200" cy="365125"/>
          </a:xfrm>
        </p:spPr>
        <p:txBody>
          <a:bodyPr/>
          <a:lstStyle/>
          <a:p>
            <a:fld id="{18925C6B-C1FE-4297-863E-68E85899D6B2}" type="slidenum">
              <a:rPr lang="en-US" smtClean="0"/>
              <a:t>18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911130" y="3943059"/>
            <a:ext cx="9019906" cy="338554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$ git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stash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2511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8000" b="1" i="1" dirty="0"/>
              <a:t>Thanks</a:t>
            </a:r>
            <a:endParaRPr lang="en-US" sz="36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3900" dirty="0" smtClean="0"/>
              <a:t>…?</a:t>
            </a:r>
            <a:endParaRPr lang="en-US" sz="239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088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6791</TotalTime>
  <Words>543</Words>
  <Application>Microsoft Office PowerPoint</Application>
  <PresentationFormat>Widescreen</PresentationFormat>
  <Paragraphs>116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Courier New</vt:lpstr>
      <vt:lpstr>Wingdings</vt:lpstr>
      <vt:lpstr>Office Theme</vt:lpstr>
      <vt:lpstr>Lecture-08</vt:lpstr>
      <vt:lpstr>Contents</vt:lpstr>
      <vt:lpstr>What is Git</vt:lpstr>
      <vt:lpstr>Install Git on Windows</vt:lpstr>
      <vt:lpstr>Git facilitates</vt:lpstr>
      <vt:lpstr>GitHub</vt:lpstr>
      <vt:lpstr>Create a GitHub account</vt:lpstr>
      <vt:lpstr>Repository</vt:lpstr>
      <vt:lpstr>Create GitHub Repository?</vt:lpstr>
      <vt:lpstr>Git Commands</vt:lpstr>
      <vt:lpstr>Git Commands (Cont.)</vt:lpstr>
      <vt:lpstr>Git Commands (Cont.)</vt:lpstr>
      <vt:lpstr>Git Commands (Cont.)</vt:lpstr>
      <vt:lpstr>Git Commands (Cont.)</vt:lpstr>
      <vt:lpstr>Git Commands (Cont.)</vt:lpstr>
      <vt:lpstr>Git Commands (Cont.)</vt:lpstr>
      <vt:lpstr>Git Commands (Cont.)</vt:lpstr>
      <vt:lpstr>Git Commands (Cont.)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Muhammad Hanif</dc:creator>
  <cp:lastModifiedBy>Windows User</cp:lastModifiedBy>
  <cp:revision>868</cp:revision>
  <dcterms:created xsi:type="dcterms:W3CDTF">2017-02-21T04:58:17Z</dcterms:created>
  <dcterms:modified xsi:type="dcterms:W3CDTF">2022-03-16T05:18:47Z</dcterms:modified>
</cp:coreProperties>
</file>